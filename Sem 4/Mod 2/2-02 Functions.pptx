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734233F6-0CE3-47B6-AA94-29D52A6C2AD3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1pPr>
    <a:lvl2pPr indent="2286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2pPr>
    <a:lvl3pPr indent="4572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3pPr>
    <a:lvl4pPr indent="6858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4pPr>
    <a:lvl5pPr indent="9144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5pPr>
    <a:lvl6pPr indent="11430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6pPr>
    <a:lvl7pPr indent="13716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7pPr>
    <a:lvl8pPr indent="16002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8pPr>
    <a:lvl9pPr indent="18288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t>Because most programs don't just run linear code, we need functions.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Shape 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tieMyShoes()</a:t>
            </a:r>
            <a:r>
              <a:rPr sz="2900"/>
              <a:t>—</a:t>
            </a:r>
            <a:r>
              <a:t>No parameters required; shoes are always tied the same way.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makeBreakfast(food: "scrambled eggs", drink: "orange juice")</a:t>
            </a:r>
            <a:r>
              <a:t>—Use parameters when you want to do the work differently at different times.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the syntax for defining a function.</a:t>
            </a:r>
          </a:p>
          <a:p>
            <a:pPr marL="228600" indent="-228600">
              <a:buSzPct val="100000"/>
              <a:buChar char="•"/>
            </a:pPr>
            <a:r>
              <a:t>It also shows an implementation and call of a function with no arguments and no return.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an implementation and call of function with a parameter.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This slide shows using more than one argument.</a:t>
            </a:r>
          </a:p>
          <a:p>
            <a:pPr marL="228600" indent="-228600">
              <a:buSzPct val="100000"/>
              <a:buChar char="•"/>
            </a:pPr>
            <a:r>
              <a:t>Properly named arguments help document the function ("self-documenting code").</a:t>
            </a:r>
          </a:p>
          <a:p>
            <a:pPr marL="228600" indent="-228600">
              <a:buSzPct val="100000"/>
              <a:buChar char="•"/>
            </a:pPr>
            <a:r>
              <a:t>Note that named arguments must be passed in name order.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</a:t>
            </a:r>
          </a:p>
          <a:p>
            <a:pPr marL="228600" indent="-228600">
              <a:buSzPct val="100000"/>
              <a:buChar char="•"/>
            </a:pPr>
            <a:r>
              <a:t>Talk about functions returning a result.</a:t>
            </a:r>
          </a:p>
          <a:p>
            <a:pPr marL="228600" indent="-228600">
              <a:buSzPct val="100000"/>
              <a:buChar char="•"/>
            </a:pPr>
            <a:r>
              <a:t>Click to highlight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-&gt; Int</a:t>
            </a:r>
            <a:r>
              <a:t> to show the return type.</a:t>
            </a:r>
          </a:p>
          <a:p>
            <a:pPr marL="228600" indent="-228600">
              <a:buSzPct val="100000"/>
              <a:buChar char="•"/>
            </a:pPr>
            <a:r>
              <a:t>Click to highlight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return result</a:t>
            </a:r>
            <a:r>
              <a:t> to show how the function returns the result.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</a:t>
            </a:r>
          </a:p>
          <a:p>
            <a:pPr marL="228600" indent="-228600">
              <a:buSzPct val="100000"/>
              <a:buChar char="•"/>
            </a:pPr>
            <a:r>
              <a:t>Click to display capturing the return value, then printing it.</a:t>
            </a:r>
          </a:p>
          <a:p>
            <a:pPr marL="228600" indent="-228600">
              <a:buSzPct val="100000"/>
              <a:buChar char="•"/>
            </a:pPr>
            <a:r>
              <a:t>Click again to display calling the function in String interpolation.</a:t>
            </a:r>
          </a:p>
          <a:p>
            <a:pPr marL="228600" indent="-228600">
              <a:buSzPct val="100000"/>
              <a:buChar char="•"/>
            </a:pPr>
            <a:r>
              <a:t>Click again to show how `return` can be omitted for single line functions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Commonly use the same label internally and externally.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Sometimes having the same names inside and when calling isn't so good.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It may be better to have different descriptive names for calling and implementing.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First is example of a function students have used that omitted the label.</a:t>
            </a:r>
          </a:p>
          <a:p>
            <a:pPr marL="228600" indent="-228600">
              <a:buSzPct val="100000"/>
              <a:buChar char="•"/>
            </a:pPr>
            <a:r>
              <a:t>The second example defines a function that omits the label for the first parameter.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Functions can have default values for parameters, and if so, you don't need to pass them.</a:t>
            </a:r>
          </a:p>
          <a:p>
            <a:pPr marL="228600" indent="-228600">
              <a:buSzPct val="100000"/>
              <a:buChar char="•"/>
            </a:pPr>
            <a:r>
              <a:t>Note that functions can have more than one parameter with a default value.</a:t>
            </a:r>
          </a:p>
          <a:p>
            <a:pPr marL="228600" indent="-228600">
              <a:buSzPct val="100000"/>
              <a:buChar char="•"/>
            </a:pPr>
            <a:r>
              <a:t>This is a complex language feature; go to the documentation to see the full details of working with functions.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Shape 1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 sz="2600"/>
            </a:pPr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2—Lesson 2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2:</a:t>
            </a:r>
          </a:p>
          <a:p>
            <a:pPr/>
            <a:r>
              <a:t>Functions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3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4" name="Rectangle"/>
          <p:cNvSpPr/>
          <p:nvPr/>
        </p:nvSpPr>
        <p:spPr>
          <a:xfrm>
            <a:off x="761517" y="3898900"/>
            <a:ext cx="22860968" cy="82092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75" name="Rectangle"/>
          <p:cNvSpPr/>
          <p:nvPr/>
        </p:nvSpPr>
        <p:spPr>
          <a:xfrm>
            <a:off x="761517" y="5216626"/>
            <a:ext cx="22860968" cy="82093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76" name="Func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Functions</a:t>
            </a:r>
          </a:p>
        </p:txBody>
      </p:sp>
      <p:sp>
        <p:nvSpPr>
          <p:cNvPr id="77" name="tieMyShoes()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tieMyShoes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makeBreakfast</a:t>
            </a:r>
            <a:r>
              <a:t>(food: </a:t>
            </a:r>
            <a:r>
              <a:rPr>
                <a:solidFill>
                  <a:srgbClr val="F95B57"/>
                </a:solidFill>
              </a:rPr>
              <a:t>"scrambled eggs"</a:t>
            </a:r>
            <a:r>
              <a:t>, drink: </a:t>
            </a:r>
            <a:r>
              <a:rPr>
                <a:solidFill>
                  <a:srgbClr val="F95B57"/>
                </a:solidFill>
              </a:rPr>
              <a:t>"orange juice"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2" name="Defining a function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Defining a function</a:t>
            </a:r>
          </a:p>
        </p:txBody>
      </p:sp>
      <p:sp>
        <p:nvSpPr>
          <p:cNvPr id="83" name="Rectangle"/>
          <p:cNvSpPr/>
          <p:nvPr/>
        </p:nvSpPr>
        <p:spPr>
          <a:xfrm>
            <a:off x="761517" y="10345316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4" name="Rectangle"/>
          <p:cNvSpPr/>
          <p:nvPr/>
        </p:nvSpPr>
        <p:spPr>
          <a:xfrm>
            <a:off x="761517" y="6461676"/>
            <a:ext cx="22860968" cy="359221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5" name="Rectangle"/>
          <p:cNvSpPr/>
          <p:nvPr/>
        </p:nvSpPr>
        <p:spPr>
          <a:xfrm>
            <a:off x="761516" y="3898900"/>
            <a:ext cx="22860968" cy="226279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6" name="Func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Functions</a:t>
            </a:r>
          </a:p>
        </p:txBody>
      </p:sp>
      <p:sp>
        <p:nvSpPr>
          <p:cNvPr id="87" name="func functionName (parameters) -&gt; ReturnTyp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</a:t>
            </a:r>
            <a:r>
              <a:rPr i="1"/>
              <a:t>functionName</a:t>
            </a:r>
            <a:r>
              <a:t> (</a:t>
            </a:r>
            <a:r>
              <a:rPr i="1"/>
              <a:t>parameters</a:t>
            </a:r>
            <a:r>
              <a:t>) -&gt; </a:t>
            </a:r>
            <a:r>
              <a:rPr i="1"/>
              <a:t>ReturnType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979BB2"/>
                </a:solidFill>
              </a:rPr>
              <a:t>// Body of the function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displayPi()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"3.1415926535"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displayPi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3.1415926535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3" name="Rectangle"/>
          <p:cNvSpPr/>
          <p:nvPr/>
        </p:nvSpPr>
        <p:spPr>
          <a:xfrm>
            <a:off x="761517" y="8388832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4" name="Paramet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Parameters</a:t>
            </a:r>
          </a:p>
        </p:txBody>
      </p:sp>
      <p:sp>
        <p:nvSpPr>
          <p:cNvPr id="95" name="Rectangle"/>
          <p:cNvSpPr/>
          <p:nvPr/>
        </p:nvSpPr>
        <p:spPr>
          <a:xfrm>
            <a:off x="761516" y="3898900"/>
            <a:ext cx="22860968" cy="41428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6" name="func triple(value: Int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triple(value: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result = value * 3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"If you multiply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value</a:t>
            </a:r>
            <a:r>
              <a:rPr>
                <a:solidFill>
                  <a:srgbClr val="F95B57"/>
                </a:solidFill>
              </a:rPr>
              <a:t>) by 3, you'll get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result</a:t>
            </a:r>
            <a:r>
              <a:rPr>
                <a:solidFill>
                  <a:srgbClr val="F95B57"/>
                </a:solidFill>
              </a:rPr>
              <a:t>)."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triple</a:t>
            </a:r>
            <a:r>
              <a:t>(value: 10)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If you multiply 10 by 3, you'll get 30.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1" name="Multiple paramet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Multiple parameters</a:t>
            </a:r>
          </a:p>
        </p:txBody>
      </p:sp>
      <p:sp>
        <p:nvSpPr>
          <p:cNvPr id="102" name="Rectangle"/>
          <p:cNvSpPr/>
          <p:nvPr/>
        </p:nvSpPr>
        <p:spPr>
          <a:xfrm>
            <a:off x="761517" y="8421723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3" name="Paramet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Parameters</a:t>
            </a:r>
          </a:p>
        </p:txBody>
      </p:sp>
      <p:sp>
        <p:nvSpPr>
          <p:cNvPr id="104" name="Rectangle"/>
          <p:cNvSpPr/>
          <p:nvPr/>
        </p:nvSpPr>
        <p:spPr>
          <a:xfrm>
            <a:off x="761516" y="3898900"/>
            <a:ext cx="22860968" cy="416923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5" name="func multiply(firstNumber: Int, secondNumber: Int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multiply(firstNumber: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, secondNumber: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result = firstNumber * secondNumber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result is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result</a:t>
            </a:r>
            <a:r>
              <a:rPr>
                <a:solidFill>
                  <a:srgbClr val="F95B57"/>
                </a:solidFill>
              </a:rPr>
              <a:t>)."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multiply</a:t>
            </a:r>
            <a:r>
              <a:t>(firstNumber: 10, secondNumber: 5)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The result is 50.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1" name="Return valu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Return values</a:t>
            </a:r>
          </a:p>
        </p:txBody>
      </p:sp>
      <p:sp>
        <p:nvSpPr>
          <p:cNvPr id="112" name="Rectangle"/>
          <p:cNvSpPr/>
          <p:nvPr/>
        </p:nvSpPr>
        <p:spPr>
          <a:xfrm>
            <a:off x="761516" y="3898900"/>
            <a:ext cx="22860968" cy="299267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3" name="Rectangle"/>
          <p:cNvSpPr/>
          <p:nvPr/>
        </p:nvSpPr>
        <p:spPr>
          <a:xfrm>
            <a:off x="12741607" y="4119378"/>
            <a:ext cx="1604012" cy="468821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4" name="Rectangle"/>
          <p:cNvSpPr/>
          <p:nvPr/>
        </p:nvSpPr>
        <p:spPr>
          <a:xfrm>
            <a:off x="1580670" y="5399715"/>
            <a:ext cx="3126461" cy="468821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5" name="func multiply(firstNumber: Int, secondNumber: Int) -&gt; Int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multiply(firstNumber: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, secondNumber: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-&gt;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result = </a:t>
            </a:r>
            <a:r>
              <a:rPr>
                <a:solidFill>
                  <a:srgbClr val="6CCE66"/>
                </a:solidFill>
              </a:rPr>
              <a:t>firstNumber</a:t>
            </a:r>
            <a:r>
              <a:t> * </a:t>
            </a:r>
            <a:r>
              <a:rPr>
                <a:solidFill>
                  <a:srgbClr val="6CCE66"/>
                </a:solidFill>
              </a:rPr>
              <a:t>secondNumber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return result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3" grpId="2"/>
      <p:bldP build="whole" bldLvl="1" animBg="1" rev="0" advAuto="0" spid="114" grpId="3"/>
      <p:bldP build="whole" bldLvl="1" animBg="1" rev="0" advAuto="0" spid="1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1" name="Rectangle"/>
          <p:cNvSpPr/>
          <p:nvPr/>
        </p:nvSpPr>
        <p:spPr>
          <a:xfrm>
            <a:off x="693108" y="8923353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2" name="Rectangle"/>
          <p:cNvSpPr/>
          <p:nvPr/>
        </p:nvSpPr>
        <p:spPr>
          <a:xfrm>
            <a:off x="728625" y="6753630"/>
            <a:ext cx="22926751" cy="15240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3" name="Return valu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Return values</a:t>
            </a:r>
          </a:p>
        </p:txBody>
      </p:sp>
      <p:sp>
        <p:nvSpPr>
          <p:cNvPr id="124" name="Rectangle"/>
          <p:cNvSpPr/>
          <p:nvPr/>
        </p:nvSpPr>
        <p:spPr>
          <a:xfrm>
            <a:off x="761516" y="3898900"/>
            <a:ext cx="22860968" cy="222548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5" name="func multiply(firstNumber: Int, secondNumber: Int) -&gt; Int {…"/>
          <p:cNvSpPr/>
          <p:nvPr>
            <p:ph type="body" sz="quarter" idx="1"/>
          </p:nvPr>
        </p:nvSpPr>
        <p:spPr>
          <a:xfrm>
            <a:off x="1143000" y="3911600"/>
            <a:ext cx="22098000" cy="2200086"/>
          </a:xfrm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multiply(firstNumber: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, secondNumber: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-&gt;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  <a:r>
              <a:rPr>
                <a:solidFill>
                  <a:srgbClr val="3DCCCC"/>
                </a:solidFill>
              </a:rPr>
              <a:t>return</a:t>
            </a:r>
            <a:r>
              <a:t> </a:t>
            </a:r>
            <a:r>
              <a:rPr>
                <a:solidFill>
                  <a:srgbClr val="6CCE66"/>
                </a:solidFill>
              </a:rPr>
              <a:t>firstNumber</a:t>
            </a:r>
            <a:r>
              <a:t> * </a:t>
            </a:r>
            <a:r>
              <a:rPr>
                <a:solidFill>
                  <a:srgbClr val="6CCE66"/>
                </a:solidFill>
              </a:rPr>
              <a:t>secondNumber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126" name="let myResult = multiply(firstNumber: 10, secondNumber: 5)…"/>
          <p:cNvSpPr txBox="1"/>
          <p:nvPr/>
        </p:nvSpPr>
        <p:spPr>
          <a:xfrm>
            <a:off x="1142999" y="6712522"/>
            <a:ext cx="16255752" cy="147921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/>
          <a:lstStyle/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myResult = </a:t>
            </a:r>
            <a:r>
              <a:rPr>
                <a:solidFill>
                  <a:srgbClr val="6CCE66"/>
                </a:solidFill>
              </a:rPr>
              <a:t>multiply</a:t>
            </a:r>
            <a:r>
              <a:t>(firstNumber: 10, secondNumber: 5)</a:t>
            </a: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"10 * 5 is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myResult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</p:txBody>
      </p:sp>
      <p:sp>
        <p:nvSpPr>
          <p:cNvPr id="127" name="print(&quot;10 * 5 is \(multiply(firstNumber: 10, secondNumber: 5))&quot;)"/>
          <p:cNvSpPr txBox="1"/>
          <p:nvPr/>
        </p:nvSpPr>
        <p:spPr>
          <a:xfrm>
            <a:off x="1143000" y="8851048"/>
            <a:ext cx="21767800" cy="80010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/>
          <a:lstStyle/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"10 * 5 is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7FC36F"/>
                </a:solidFill>
              </a:rPr>
              <a:t>multiply</a:t>
            </a:r>
            <a:r>
              <a:t>(firstNumber: 10, secondNumber: 5)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</p:txBody>
      </p:sp>
      <p:sp>
        <p:nvSpPr>
          <p:cNvPr id="128" name="Rectangle"/>
          <p:cNvSpPr/>
          <p:nvPr/>
        </p:nvSpPr>
        <p:spPr>
          <a:xfrm>
            <a:off x="596417" y="10369177"/>
            <a:ext cx="22860968" cy="222548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9" name="func multiply(firstNumber: Int, secondNumber: Int) -&gt; Int {…"/>
          <p:cNvSpPr/>
          <p:nvPr/>
        </p:nvSpPr>
        <p:spPr>
          <a:xfrm>
            <a:off x="1040601" y="10371154"/>
            <a:ext cx="22165980" cy="2074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multiply(firstNumber: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, secondNumber: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-&gt;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  <a:r>
              <a:rPr>
                <a:solidFill>
                  <a:srgbClr val="6CCE66"/>
                </a:solidFill>
              </a:rPr>
              <a:t>firstNumber</a:t>
            </a:r>
            <a:r>
              <a:t> * </a:t>
            </a:r>
            <a:r>
              <a:rPr>
                <a:solidFill>
                  <a:srgbClr val="6CCE66"/>
                </a:solidFill>
              </a:rPr>
              <a:t>secondNumber</a:t>
            </a: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1" grpId="4"/>
      <p:bldP build="whole" bldLvl="1" animBg="1" rev="0" advAuto="0" spid="127" grpId="3"/>
      <p:bldP build="whole" bldLvl="1" animBg="1" rev="0" advAuto="0" spid="128" grpId="5"/>
      <p:bldP build="whole" bldLvl="1" animBg="1" rev="0" advAuto="0" spid="122" grpId="2"/>
      <p:bldP build="whole" bldLvl="1" animBg="1" rev="0" advAuto="0" spid="126" grpId="1"/>
      <p:bldP build="whole" bldLvl="1" animBg="1" rev="0" advAuto="0" spid="129" grpId="6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5" name="Argument labe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Argument labels</a:t>
            </a:r>
          </a:p>
        </p:txBody>
      </p:sp>
      <p:sp>
        <p:nvSpPr>
          <p:cNvPr id="136" name="Rectangle"/>
          <p:cNvSpPr/>
          <p:nvPr/>
        </p:nvSpPr>
        <p:spPr>
          <a:xfrm>
            <a:off x="761516" y="3898900"/>
            <a:ext cx="22860968" cy="367725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7" name="Rectangle"/>
          <p:cNvSpPr/>
          <p:nvPr/>
        </p:nvSpPr>
        <p:spPr>
          <a:xfrm>
            <a:off x="5318642" y="4762204"/>
            <a:ext cx="2115881" cy="454285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8" name="Rectangle"/>
          <p:cNvSpPr/>
          <p:nvPr/>
        </p:nvSpPr>
        <p:spPr>
          <a:xfrm>
            <a:off x="3235804" y="6668090"/>
            <a:ext cx="2115881" cy="454285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9" name="func sayHello(firstName: String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sayHello(firstName: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"Hello,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firstName</a:t>
            </a:r>
            <a:r>
              <a:rPr>
                <a:solidFill>
                  <a:srgbClr val="F95B57"/>
                </a:solidFill>
              </a:rPr>
              <a:t>)!"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sayHello</a:t>
            </a:r>
            <a:r>
              <a:t>(firstName: </a:t>
            </a:r>
            <a:r>
              <a:rPr>
                <a:solidFill>
                  <a:srgbClr val="F95B57"/>
                </a:solidFill>
              </a:rPr>
              <a:t>"Amy"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228600" indent="-228600" defTabSz="457200">
              <a:spcBef>
                <a:spcPts val="1200"/>
              </a:spcBef>
              <a:buSzPct val="100000"/>
              <a:defRPr spc="0" sz="4000">
                <a:solidFill>
                  <a:srgbClr val="00FDFF"/>
                </a:solidFill>
              </a:defRPr>
            </a:pPr>
            <a:r>
              <a:t>Commonly use the same label internally and externally.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5" name="Argument labe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Argument labels</a:t>
            </a:r>
          </a:p>
        </p:txBody>
      </p:sp>
      <p:sp>
        <p:nvSpPr>
          <p:cNvPr id="146" name="Rectangle"/>
          <p:cNvSpPr/>
          <p:nvPr/>
        </p:nvSpPr>
        <p:spPr>
          <a:xfrm>
            <a:off x="761516" y="3898900"/>
            <a:ext cx="22860968" cy="353120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7" name="func sayHello(to: String, and: String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sayHello(to: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, and: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to</a:t>
            </a:r>
            <a:r>
              <a:rPr>
                <a:solidFill>
                  <a:srgbClr val="F95B57"/>
                </a:solidFill>
              </a:rPr>
              <a:t>) and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and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sayHello</a:t>
            </a:r>
            <a:r>
              <a:t>(to: </a:t>
            </a:r>
            <a:r>
              <a:rPr>
                <a:solidFill>
                  <a:srgbClr val="F95B57"/>
                </a:solidFill>
              </a:rPr>
              <a:t>"Luke"</a:t>
            </a:r>
            <a:r>
              <a:t>, and: </a:t>
            </a:r>
            <a:r>
              <a:rPr>
                <a:solidFill>
                  <a:srgbClr val="F95B57"/>
                </a:solidFill>
              </a:rPr>
              <a:t>"Dave"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228600" indent="-228600" defTabSz="457200">
              <a:spcBef>
                <a:spcPts val="1200"/>
              </a:spcBef>
              <a:buSzPct val="100000"/>
              <a:defRPr spc="0" sz="4000">
                <a:solidFill>
                  <a:srgbClr val="00FDFF"/>
                </a:solidFill>
              </a:defRPr>
            </a:pPr>
            <a:r>
              <a:t>Sometimes having the same names inside and when calling isn't so good.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2" name="External name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External names</a:t>
            </a:r>
          </a:p>
        </p:txBody>
      </p:sp>
      <p:sp>
        <p:nvSpPr>
          <p:cNvPr id="153" name="Argument labe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Argument labels</a:t>
            </a:r>
          </a:p>
        </p:txBody>
      </p:sp>
      <p:sp>
        <p:nvSpPr>
          <p:cNvPr id="154" name="Rectangle"/>
          <p:cNvSpPr/>
          <p:nvPr/>
        </p:nvSpPr>
        <p:spPr>
          <a:xfrm>
            <a:off x="761516" y="3898900"/>
            <a:ext cx="22860968" cy="355851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5" name="func sayHello(to person: String, and anotherPerson: String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sayHello(to person: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, and anotherPerson: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person</a:t>
            </a:r>
            <a:r>
              <a:rPr>
                <a:solidFill>
                  <a:srgbClr val="F95B57"/>
                </a:solidFill>
              </a:rPr>
              <a:t>) and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anotherPerson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sayHello</a:t>
            </a:r>
            <a:r>
              <a:t>(to: </a:t>
            </a:r>
            <a:r>
              <a:rPr>
                <a:solidFill>
                  <a:srgbClr val="F95B57"/>
                </a:solidFill>
              </a:rPr>
              <a:t>"Luke"</a:t>
            </a:r>
            <a:r>
              <a:t>, and: </a:t>
            </a:r>
            <a:r>
              <a:rPr>
                <a:solidFill>
                  <a:srgbClr val="F95B57"/>
                </a:solidFill>
              </a:rPr>
              <a:t>"Dave"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228600" indent="-228600" defTabSz="457200">
              <a:spcBef>
                <a:spcPts val="1200"/>
              </a:spcBef>
              <a:buSzPct val="100000"/>
              <a:defRPr spc="0" sz="4000">
                <a:solidFill>
                  <a:srgbClr val="00FDFF"/>
                </a:solidFill>
              </a:defRPr>
            </a:pPr>
            <a:r>
              <a:t>It may be better to have different descriptive names for calling and implementing.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0" name="Omitting label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Omitting labels</a:t>
            </a:r>
          </a:p>
        </p:txBody>
      </p:sp>
      <p:sp>
        <p:nvSpPr>
          <p:cNvPr id="161" name="Argument label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Argument labels</a:t>
            </a:r>
          </a:p>
        </p:txBody>
      </p:sp>
      <p:sp>
        <p:nvSpPr>
          <p:cNvPr id="162" name="Rectangle"/>
          <p:cNvSpPr/>
          <p:nvPr/>
        </p:nvSpPr>
        <p:spPr>
          <a:xfrm>
            <a:off x="761516" y="3898900"/>
            <a:ext cx="22860968" cy="89776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63" name="Rectangle"/>
          <p:cNvSpPr/>
          <p:nvPr/>
        </p:nvSpPr>
        <p:spPr>
          <a:xfrm>
            <a:off x="761517" y="5674258"/>
            <a:ext cx="22860968" cy="371333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64" name="Rectangle"/>
          <p:cNvSpPr/>
          <p:nvPr/>
        </p:nvSpPr>
        <p:spPr>
          <a:xfrm>
            <a:off x="3186004" y="5957305"/>
            <a:ext cx="362164" cy="581066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5" name="print(&quot;Hello, world!&quot;)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"Hello, world!"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add(_ firstNumber: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, to secondNumber: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) -&gt;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firstNumber + secondNumber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total = </a:t>
            </a:r>
            <a:r>
              <a:rPr>
                <a:solidFill>
                  <a:srgbClr val="6CCE66"/>
                </a:solidFill>
              </a:rPr>
              <a:t>add</a:t>
            </a:r>
            <a:r>
              <a:t>(14, to: 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7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71" name="Rectangle"/>
          <p:cNvSpPr/>
          <p:nvPr/>
        </p:nvSpPr>
        <p:spPr>
          <a:xfrm>
            <a:off x="761517" y="8450031"/>
            <a:ext cx="22860968" cy="139612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72" name="Rectangle"/>
          <p:cNvSpPr/>
          <p:nvPr/>
        </p:nvSpPr>
        <p:spPr>
          <a:xfrm>
            <a:off x="761516" y="3898900"/>
            <a:ext cx="22860968" cy="4228705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73" name="Rectangle"/>
          <p:cNvSpPr/>
          <p:nvPr/>
        </p:nvSpPr>
        <p:spPr>
          <a:xfrm>
            <a:off x="10749453" y="4011713"/>
            <a:ext cx="812447" cy="658913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74" name="Default parameter valu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Default parameter values</a:t>
            </a:r>
          </a:p>
        </p:txBody>
      </p:sp>
      <p:sp>
        <p:nvSpPr>
          <p:cNvPr id="175" name="func display(teamName: String, score: Int = 0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display(teamName: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, score: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= 0)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</a:t>
            </a:r>
            <a:r>
              <a:t>\</a:t>
            </a:r>
            <a:r>
              <a:rPr>
                <a:solidFill>
                  <a:srgbClr val="F95B57"/>
                </a:solidFill>
              </a:rPr>
              <a:t>(teamName): </a:t>
            </a:r>
            <a:r>
              <a:t>\</a:t>
            </a:r>
            <a:r>
              <a:rPr>
                <a:solidFill>
                  <a:srgbClr val="F95B57"/>
                </a:solidFill>
              </a:rPr>
              <a:t>(score)"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display(teamName: </a:t>
            </a:r>
            <a:r>
              <a:rPr>
                <a:solidFill>
                  <a:srgbClr val="F95B57"/>
                </a:solidFill>
              </a:rPr>
              <a:t>"Wombats"</a:t>
            </a:r>
            <a:r>
              <a:t>, score: 100)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display(teamName: </a:t>
            </a:r>
            <a:r>
              <a:rPr>
                <a:solidFill>
                  <a:srgbClr val="F95B57"/>
                </a:solidFill>
              </a:rPr>
              <a:t>"Wombats"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Wombats: 100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Wombats: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80" name="Lab: Function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Functions</a:t>
            </a:r>
          </a:p>
        </p:txBody>
      </p:sp>
      <p:sp>
        <p:nvSpPr>
          <p:cNvPr id="181" name="Unit 2—Lesson 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2</a:t>
            </a:r>
          </a:p>
        </p:txBody>
      </p:sp>
      <p:sp>
        <p:nvSpPr>
          <p:cNvPr id="182" name="Open and complete the exercises in Lab - Functions.playground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Functions.playground</a:t>
            </a:r>
          </a:p>
        </p:txBody>
      </p:sp>
      <p:grpSp>
        <p:nvGrpSpPr>
          <p:cNvPr id="185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83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8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