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Ref idx="minor">
          <a:srgbClr val="FFFFFF"/>
        </a:fontRef>
        <a:srgbClr val="FFFFFF"/>
      </a:tcTxStyle>
      <a:tcStyle>
        <a:tcBdr>
          <a:left>
            <a:ln w="12700" cap="flat">
              <a:solidFill>
                <a:srgbClr val="FFFFFF"/>
              </a:solidFill>
              <a:prstDash val="solid"/>
              <a:miter lim="400000"/>
            </a:ln>
          </a:left>
          <a:right>
            <a:ln w="381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381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Row>
  </a:tblStyle>
  <a:tblStyle styleId="{C7B018BB-80A7-4F77-B60F-C8B233D01FF8}" styleName="">
    <a:tblBg/>
    <a:wholeTbl>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wholeTbl>
    <a:band2H>
      <a:tcTxStyle b="def" i="def"/>
      <a:tcStyle>
        <a:tcBdr/>
        <a:fill>
          <a:solidFill>
            <a:srgbClr val="747676">
              <a:alpha val="64000"/>
            </a:srgbClr>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25400" cap="flat">
              <a:solidFill>
                <a:srgbClr val="FFFFFF"/>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firstCol>
    <a:lastRow>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1">
                  <a:lumOff val="13543"/>
                </a:schemeClr>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solidFill>
            <a:srgbClr val="014D80"/>
          </a:solidFill>
        </a:fill>
      </a:tcStyle>
    </a:firstRow>
  </a:tblStyle>
  <a:tblStyle styleId="{EEE7283C-3CF3-47DC-8721-378D4A62B228}"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b="def" i="def"/>
      <a:tcStyle>
        <a:tcBdr/>
        <a:fill>
          <a:solidFill>
            <a:srgbClr val="747676">
              <a:alpha val="63790"/>
            </a:srgbClr>
          </a:solidFill>
        </a:fill>
      </a:tcStyle>
    </a:band2H>
    <a:firstCol>
      <a:tcTxStyle b="off" i="off">
        <a:font>
          <a:latin typeface="Helvetica Neue Medium"/>
          <a:ea typeface="Helvetica Neue Medium"/>
          <a:cs typeface="Helvetica Neue Medium"/>
        </a:font>
        <a:srgbClr val="FFFFFF"/>
      </a:tcTxStyle>
      <a:tcStyle>
        <a:tcBdr>
          <a:left>
            <a:ln w="12700" cap="flat">
              <a:solidFill>
                <a:srgbClr val="A9A9A9"/>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009D00"/>
          </a:solidFill>
        </a:fill>
      </a:tcStyle>
    </a:firstCol>
    <a:lastRow>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61D836"/>
              </a:solidFill>
              <a:prstDash val="solid"/>
              <a:miter lim="400000"/>
            </a:ln>
          </a:top>
          <a:bottom>
            <a:ln w="127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ff" i="off">
        <a:font>
          <a:latin typeface="Helvetica Neue Medium"/>
          <a:ea typeface="Helvetica Neue Medium"/>
          <a:cs typeface="Helvetica Neue Medium"/>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027002"/>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wholeTbl>
    <a:band2H>
      <a:tcTxStyle b="def" i="def"/>
      <a:tcStyle>
        <a:tcBdr/>
        <a:fill>
          <a:solidFill>
            <a:srgbClr val="747676">
              <a:alpha val="63790"/>
            </a:srgb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E3E5E8"/>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chemeClr val="accent4">
              <a:hueOff val="-613784"/>
              <a:lumOff val="1275"/>
            </a:schemeClr>
          </a:solidFill>
        </a:fill>
      </a:tcStyle>
    </a:firstCol>
    <a:la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4">
                  <a:hueOff val="-613784"/>
                  <a:lumOff val="1275"/>
                </a:schemeClr>
              </a:solidFill>
              <a:prstDash val="solid"/>
              <a:miter lim="400000"/>
            </a:ln>
          </a:top>
          <a:bottom>
            <a:ln w="12700" cap="flat">
              <a:solidFill>
                <a:srgbClr val="E3E5E8"/>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E3E5E8"/>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FF5300"/>
          </a:solidFill>
        </a:fill>
      </a:tcStyle>
    </a:firstRow>
  </a:tblStyle>
  <a:tblStyle styleId="{33BA23B1-9221-436E-865A-0063620EA4FD}" styleName="">
    <a:tblBg/>
    <a:wholeTbl>
      <a:tcTxStyle b="off"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Ref idx="minor">
          <a:srgbClr val="FFFFFF"/>
        </a:fontRef>
        <a:srgbClr val="FFFFFF"/>
      </a:tcTxStyle>
      <a:tcStyle>
        <a:tcBdr>
          <a:left>
            <a:ln w="12700" cap="flat">
              <a:solidFill>
                <a:srgbClr val="A6AAA9"/>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98195F"/>
          </a:solidFill>
        </a:fill>
      </a:tcStyle>
    </a:firstCol>
    <a:la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6"/>
              </a:solidFill>
              <a:prstDash val="solid"/>
              <a:miter lim="400000"/>
            </a:ln>
          </a:top>
          <a:bottom>
            <a:ln w="12700" cap="flat">
              <a:solidFill>
                <a:srgbClr val="A6AA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A6AAA9"/>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650E48"/>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b="def" i="def"/>
      <a:tcStyle>
        <a:tcBdr/>
        <a:fill>
          <a:solidFill>
            <a:srgbClr val="747676">
              <a:alpha val="64000"/>
            </a:srgbClr>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381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262727"/>
          </a:solid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FFFFFF"/>
              </a:solidFill>
              <a:prstDash val="solid"/>
              <a:miter lim="400000"/>
            </a:ln>
          </a:top>
          <a:bottom>
            <a:ln w="127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381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42424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6498" y="11839048"/>
            <a:ext cx="21971003" cy="636979"/>
          </a:xfrm>
          <a:prstGeom prst="rect">
            <a:avLst/>
          </a:prstGeom>
        </p:spPr>
        <p:txBody>
          <a:bodyPr lIns="45719" tIns="45719" rIns="45719" bIns="45719" anchor="b"/>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6500" y="7196865"/>
            <a:ext cx="21971000"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xfrm>
            <a:off x="12007748" y="13080999"/>
            <a:ext cx="368504"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Green, hilly landscape"/>
          <p:cNvSpPr/>
          <p:nvPr>
            <p:ph type="pic" idx="21"/>
          </p:nvPr>
        </p:nvSpPr>
        <p:spPr>
          <a:xfrm>
            <a:off x="-431800" y="-4038600"/>
            <a:ext cx="29464000" cy="18034000"/>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44688"/>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 </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3" name="Body Level One…"/>
          <p:cNvSpPr txBox="1"/>
          <p:nvPr>
            <p:ph type="body" sz="quarter" idx="1" hasCustomPrompt="1"/>
          </p:nvPr>
        </p:nvSpPr>
        <p:spPr>
          <a:xfrm>
            <a:off x="1206500" y="7060576"/>
            <a:ext cx="9779000" cy="5382403"/>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4" name="Moss-covered rocks"/>
          <p:cNvSpPr/>
          <p:nvPr>
            <p:ph type="pic" sz="half" idx="21"/>
          </p:nvPr>
        </p:nvSpPr>
        <p:spPr>
          <a:xfrm>
            <a:off x="12052303" y="1270000"/>
            <a:ext cx="11188406" cy="11209889"/>
          </a:xfrm>
          <a:prstGeom prst="rect">
            <a:avLst/>
          </a:prstGeom>
        </p:spPr>
        <p:txBody>
          <a:bodyPr lIns="91439" tIns="45719" rIns="91439" bIns="45719">
            <a:noAutofit/>
          </a:bodyPr>
          <a:lstStyle/>
          <a:p>
            <a:pP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61" name="Slide Subtitle"/>
          <p:cNvSpPr txBox="1"/>
          <p:nvPr>
            <p:ph type="body" sz="quarter" idx="21" hasCustomPrompt="1"/>
          </p:nvPr>
        </p:nvSpPr>
        <p:spPr>
          <a:xfrm>
            <a:off x="1206500" y="2245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2"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63" name="Large rock formation under dark clouds with a dirt road in the foreground"/>
          <p:cNvSpPr/>
          <p:nvPr>
            <p:ph type="pic" idx="22"/>
          </p:nvPr>
        </p:nvSpPr>
        <p:spPr>
          <a:xfrm>
            <a:off x="6380200" y="1263848"/>
            <a:ext cx="22529801" cy="11193471"/>
          </a:xfrm>
          <a:prstGeom prst="rect">
            <a:avLst/>
          </a:prstGeom>
        </p:spPr>
        <p:txBody>
          <a:bodyPr lIns="91439" tIns="45719" rIns="91439" bIns="45719">
            <a:noAutofit/>
          </a:bodyPr>
          <a:lstStyle/>
          <a:p>
            <a:pP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72" name="Slide Subtitle"/>
          <p:cNvSpPr txBox="1"/>
          <p:nvPr>
            <p:ph type="body" sz="quarter" idx="21" hasCustomPrompt="1"/>
          </p:nvPr>
        </p:nvSpPr>
        <p:spPr>
          <a:xfrm>
            <a:off x="1206500" y="2245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82" name="Slide Subtitle"/>
          <p:cNvSpPr txBox="1"/>
          <p:nvPr>
            <p:ph type="body" sz="quarter" idx="21" hasCustomPrompt="1"/>
          </p:nvPr>
        </p:nvSpPr>
        <p:spPr>
          <a:xfrm>
            <a:off x="1206500" y="2245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952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952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7" name="Body Level One…"/>
          <p:cNvSpPr txBox="1"/>
          <p:nvPr>
            <p:ph type="body" idx="1" hasCustomPrompt="1"/>
          </p:nvPr>
        </p:nvSpPr>
        <p:spPr>
          <a:xfrm>
            <a:off x="1206500" y="935258"/>
            <a:ext cx="21971000" cy="7359063"/>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80825" y="10675453"/>
            <a:ext cx="201492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nchor="ct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Close-up of wild plants growing between rocks"/>
          <p:cNvSpPr/>
          <p:nvPr>
            <p:ph type="pic" sz="quarter" idx="21"/>
          </p:nvPr>
        </p:nvSpPr>
        <p:spPr>
          <a:xfrm>
            <a:off x="15430500" y="7085409"/>
            <a:ext cx="8128000" cy="5410201"/>
          </a:xfrm>
          <a:prstGeom prst="rect">
            <a:avLst/>
          </a:prstGeom>
        </p:spPr>
        <p:txBody>
          <a:bodyPr lIns="91439" tIns="45719" rIns="91439" bIns="45719">
            <a:noAutofit/>
          </a:bodyPr>
          <a:lstStyle/>
          <a:p>
            <a:pPr/>
          </a:p>
        </p:txBody>
      </p:sp>
      <p:sp>
        <p:nvSpPr>
          <p:cNvPr id="145" name="Large rock formation under dark clouds with a dirt road in the foreground"/>
          <p:cNvSpPr/>
          <p:nvPr>
            <p:ph type="pic" idx="22"/>
          </p:nvPr>
        </p:nvSpPr>
        <p:spPr>
          <a:xfrm>
            <a:off x="-2933700" y="1270000"/>
            <a:ext cx="22699133" cy="11277600"/>
          </a:xfrm>
          <a:prstGeom prst="rect">
            <a:avLst/>
          </a:prstGeom>
        </p:spPr>
        <p:txBody>
          <a:bodyPr lIns="91439" tIns="45719" rIns="91439" bIns="45719">
            <a:noAutofit/>
          </a:bodyPr>
          <a:lstStyle/>
          <a:p>
            <a:pPr/>
          </a:p>
        </p:txBody>
      </p:sp>
      <p:sp>
        <p:nvSpPr>
          <p:cNvPr id="146" name="Close-up of a wild plant growing between lava rocks"/>
          <p:cNvSpPr/>
          <p:nvPr>
            <p:ph type="pic" sz="quarter" idx="23"/>
          </p:nvPr>
        </p:nvSpPr>
        <p:spPr>
          <a:xfrm>
            <a:off x="15430500" y="1270000"/>
            <a:ext cx="8128000" cy="54102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waterfall surrounded by a green rocky landscape"/>
          <p:cNvSpPr/>
          <p:nvPr>
            <p:ph type="pic" idx="21"/>
          </p:nvPr>
        </p:nvSpPr>
        <p:spPr>
          <a:xfrm>
            <a:off x="-1511300" y="-3721100"/>
            <a:ext cx="28511500" cy="19030242"/>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000000"/>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952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Subscripts"/>
          <p:cNvSpPr txBox="1"/>
          <p:nvPr>
            <p:ph type="ctrTitle"/>
          </p:nvPr>
        </p:nvSpPr>
        <p:spPr>
          <a:prstGeom prst="rect">
            <a:avLst/>
          </a:prstGeom>
        </p:spPr>
        <p:txBody>
          <a:bodyPr/>
          <a:lstStyle/>
          <a:p>
            <a:pPr/>
            <a:r>
              <a:t>Subscripts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Introduction"/>
          <p:cNvSpPr txBox="1"/>
          <p:nvPr>
            <p:ph type="title"/>
          </p:nvPr>
        </p:nvSpPr>
        <p:spPr>
          <a:xfrm>
            <a:off x="1206500" y="952500"/>
            <a:ext cx="21971000" cy="1281911"/>
          </a:xfrm>
          <a:prstGeom prst="rect">
            <a:avLst/>
          </a:prstGeom>
        </p:spPr>
        <p:txBody>
          <a:bodyPr/>
          <a:lstStyle>
            <a:lvl1pPr defTabSz="2243271">
              <a:defRPr spc="-156" sz="7820"/>
            </a:lvl1pPr>
          </a:lstStyle>
          <a:p>
            <a:pPr/>
            <a:r>
              <a:t>Introduction</a:t>
            </a:r>
          </a:p>
        </p:txBody>
      </p:sp>
      <p:sp>
        <p:nvSpPr>
          <p:cNvPr id="174" name="Classes, structures and enumeration can define subscripts which are shortcuts for accessing the member elements of a collection, list or sequence.…"/>
          <p:cNvSpPr txBox="1"/>
          <p:nvPr>
            <p:ph type="body" idx="1"/>
          </p:nvPr>
        </p:nvSpPr>
        <p:spPr>
          <a:xfrm>
            <a:off x="1206500" y="2670259"/>
            <a:ext cx="22669964" cy="9834257"/>
          </a:xfrm>
          <a:prstGeom prst="rect">
            <a:avLst/>
          </a:prstGeom>
        </p:spPr>
        <p:txBody>
          <a:bodyPr/>
          <a:lstStyle/>
          <a:p>
            <a:pPr/>
            <a:r>
              <a:t>Classes, structures and enumeration can define subscripts which are </a:t>
            </a:r>
            <a:r>
              <a:rPr>
                <a:solidFill>
                  <a:schemeClr val="accent4">
                    <a:hueOff val="475731"/>
                    <a:satOff val="-4338"/>
                    <a:lumOff val="10182"/>
                  </a:schemeClr>
                </a:solidFill>
              </a:rPr>
              <a:t>shortcuts for accessing the member elements of a collection, list or sequence</a:t>
            </a:r>
            <a:r>
              <a:t>.</a:t>
            </a:r>
          </a:p>
          <a:p>
            <a:pPr/>
            <a:r>
              <a:t>You use subscripts to </a:t>
            </a:r>
            <a:r>
              <a:rPr>
                <a:solidFill>
                  <a:schemeClr val="accent4">
                    <a:hueOff val="475731"/>
                    <a:satOff val="-4338"/>
                    <a:lumOff val="10182"/>
                  </a:schemeClr>
                </a:solidFill>
              </a:rPr>
              <a:t>set and retrieve values by index</a:t>
            </a:r>
            <a:r>
              <a:t> without needing separate methods for setting and retrieval.</a:t>
            </a:r>
          </a:p>
          <a:p>
            <a:pPr/>
            <a:r>
              <a:t>For example, you access elements in an Array instance as </a:t>
            </a:r>
            <a:r>
              <a:rPr>
                <a:solidFill>
                  <a:schemeClr val="accent2">
                    <a:hueOff val="-206910"/>
                    <a:satOff val="-12829"/>
                    <a:lumOff val="16238"/>
                  </a:schemeClr>
                </a:solidFill>
                <a:latin typeface="Menlo Regular"/>
                <a:ea typeface="Menlo Regular"/>
                <a:cs typeface="Menlo Regular"/>
                <a:sym typeface="Menlo Regular"/>
              </a:rPr>
              <a:t>someArray[index]</a:t>
            </a:r>
            <a:r>
              <a:rPr>
                <a:latin typeface="Menlo Regular"/>
                <a:ea typeface="Menlo Regular"/>
                <a:cs typeface="Menlo Regular"/>
                <a:sym typeface="Menlo Regular"/>
              </a:rPr>
              <a:t> </a:t>
            </a:r>
            <a:r>
              <a:t>and elements in a Dictionary instance as </a:t>
            </a:r>
            <a:r>
              <a:rPr>
                <a:solidFill>
                  <a:schemeClr val="accent2">
                    <a:hueOff val="-206910"/>
                    <a:satOff val="-12829"/>
                    <a:lumOff val="16238"/>
                  </a:schemeClr>
                </a:solidFill>
                <a:latin typeface="Menlo Regular"/>
                <a:ea typeface="Menlo Regular"/>
                <a:cs typeface="Menlo Regular"/>
                <a:sym typeface="Menlo Regular"/>
              </a:rPr>
              <a:t>someDictionary[key]</a:t>
            </a:r>
            <a:r>
              <a:t>.</a:t>
            </a:r>
          </a:p>
          <a:p>
            <a:pPr/>
            <a:r>
              <a:t>You can d</a:t>
            </a:r>
            <a:r>
              <a:rPr>
                <a:solidFill>
                  <a:schemeClr val="accent4">
                    <a:hueOff val="475731"/>
                    <a:satOff val="-4338"/>
                    <a:lumOff val="10182"/>
                  </a:schemeClr>
                </a:solidFill>
              </a:rPr>
              <a:t>efine multiple subscripts for a single type</a:t>
            </a:r>
            <a:r>
              <a:t> and the appropriate </a:t>
            </a:r>
            <a:r>
              <a:rPr>
                <a:solidFill>
                  <a:schemeClr val="accent4">
                    <a:hueOff val="475731"/>
                    <a:satOff val="-4338"/>
                    <a:lumOff val="10182"/>
                  </a:schemeClr>
                </a:solidFill>
              </a:rPr>
              <a:t>subscript</a:t>
            </a:r>
            <a:r>
              <a:t> </a:t>
            </a:r>
            <a:r>
              <a:rPr>
                <a:solidFill>
                  <a:schemeClr val="accent4">
                    <a:hueOff val="475731"/>
                    <a:satOff val="-4338"/>
                    <a:lumOff val="10182"/>
                  </a:schemeClr>
                </a:solidFill>
              </a:rPr>
              <a:t>overload</a:t>
            </a:r>
            <a:r>
              <a:t> to use selected based on the type of index value you pass to the subscript.</a:t>
            </a:r>
          </a:p>
          <a:p>
            <a:pPr/>
            <a:r>
              <a:t>Subscripts aren’t limited to a single dimension and you can define subscripts with multiple input parameters to suite your custom type’s needs.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Subscripts Syntax"/>
          <p:cNvSpPr txBox="1"/>
          <p:nvPr>
            <p:ph type="title"/>
          </p:nvPr>
        </p:nvSpPr>
        <p:spPr>
          <a:prstGeom prst="rect">
            <a:avLst/>
          </a:prstGeom>
        </p:spPr>
        <p:txBody>
          <a:bodyPr/>
          <a:lstStyle/>
          <a:p>
            <a:pPr/>
            <a:r>
              <a:t>Subscripts Syntax</a:t>
            </a:r>
          </a:p>
        </p:txBody>
      </p:sp>
      <p:sp>
        <p:nvSpPr>
          <p:cNvPr id="177" name="Subscripts enable you to query instances of a type by writing one or more values in square brackets after the instance name.…"/>
          <p:cNvSpPr txBox="1"/>
          <p:nvPr>
            <p:ph type="body" idx="1"/>
          </p:nvPr>
        </p:nvSpPr>
        <p:spPr>
          <a:xfrm>
            <a:off x="1206500" y="3140401"/>
            <a:ext cx="21971000" cy="7435198"/>
          </a:xfrm>
          <a:prstGeom prst="rect">
            <a:avLst/>
          </a:prstGeom>
        </p:spPr>
        <p:txBody>
          <a:bodyPr/>
          <a:lstStyle/>
          <a:p>
            <a:pPr/>
            <a:r>
              <a:t>Subscripts enable you to </a:t>
            </a:r>
            <a:r>
              <a:rPr>
                <a:solidFill>
                  <a:schemeClr val="accent4">
                    <a:hueOff val="475731"/>
                    <a:satOff val="-4338"/>
                    <a:lumOff val="10182"/>
                  </a:schemeClr>
                </a:solidFill>
              </a:rPr>
              <a:t>query instances of a type</a:t>
            </a:r>
            <a:r>
              <a:t> by writing one or more values in square brackets after the instance name.</a:t>
            </a:r>
          </a:p>
          <a:p>
            <a:pPr/>
            <a:r>
              <a:t>Their syntax is similar to both instance method syntax and computed property syntax.</a:t>
            </a:r>
          </a:p>
          <a:p>
            <a:pPr/>
            <a:r>
              <a:t>You write subscript definitions with the </a:t>
            </a:r>
            <a:r>
              <a:rPr>
                <a:solidFill>
                  <a:schemeClr val="accent4">
                    <a:hueOff val="475731"/>
                    <a:satOff val="-4338"/>
                    <a:lumOff val="10182"/>
                  </a:schemeClr>
                </a:solidFill>
              </a:rPr>
              <a:t>subscript keyword</a:t>
            </a:r>
            <a:r>
              <a:t> and specify one or more input parameters and return type in the same way as instance methods.</a:t>
            </a:r>
          </a:p>
          <a:p>
            <a:pPr/>
            <a:r>
              <a:t>Unlike instance methods, subscripts can be </a:t>
            </a:r>
            <a:r>
              <a:rPr>
                <a:solidFill>
                  <a:srgbClr val="FFFB00"/>
                </a:solidFill>
              </a:rPr>
              <a:t>read-write</a:t>
            </a:r>
            <a:r>
              <a:t> and </a:t>
            </a:r>
            <a:r>
              <a:rPr>
                <a:solidFill>
                  <a:srgbClr val="FFFB00"/>
                </a:solidFill>
              </a:rPr>
              <a:t>read-only</a:t>
            </a:r>
            <a:r>
              <a: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Subscript Syntax"/>
          <p:cNvSpPr txBox="1"/>
          <p:nvPr>
            <p:ph type="title"/>
          </p:nvPr>
        </p:nvSpPr>
        <p:spPr>
          <a:prstGeom prst="rect">
            <a:avLst/>
          </a:prstGeom>
        </p:spPr>
        <p:txBody>
          <a:bodyPr/>
          <a:lstStyle/>
          <a:p>
            <a:pPr/>
            <a:r>
              <a:t>Subscript Syntax</a:t>
            </a:r>
          </a:p>
        </p:txBody>
      </p:sp>
      <p:sp>
        <p:nvSpPr>
          <p:cNvPr id="180" name="subscript(index: Int) -&gt; Int {…"/>
          <p:cNvSpPr txBox="1"/>
          <p:nvPr>
            <p:ph type="body" idx="1"/>
          </p:nvPr>
        </p:nvSpPr>
        <p:spPr>
          <a:xfrm>
            <a:off x="1206500" y="3233707"/>
            <a:ext cx="21971000" cy="9270809"/>
          </a:xfrm>
          <a:prstGeom prst="rect">
            <a:avLst/>
          </a:prstGeom>
        </p:spPr>
        <p:txBody>
          <a:bodyPr/>
          <a:lstStyle/>
          <a:p>
            <a:pPr lvl="1" marL="0" indent="411479" defTabSz="2194505">
              <a:spcBef>
                <a:spcPts val="4000"/>
              </a:spcBef>
              <a:buSzTx/>
              <a:buNone/>
              <a:defRPr sz="3600">
                <a:latin typeface="Menlo Regular"/>
                <a:ea typeface="Menlo Regular"/>
                <a:cs typeface="Menlo Regular"/>
                <a:sym typeface="Menlo Regular"/>
              </a:defRPr>
            </a:pPr>
            <a:r>
              <a:rPr>
                <a:solidFill>
                  <a:schemeClr val="accent6">
                    <a:satOff val="15236"/>
                    <a:lumOff val="17673"/>
                  </a:schemeClr>
                </a:solidFill>
              </a:rPr>
              <a:t>subscript</a:t>
            </a:r>
            <a:r>
              <a:t>(</a:t>
            </a:r>
            <a:r>
              <a:rPr>
                <a:solidFill>
                  <a:schemeClr val="accent4">
                    <a:hueOff val="475731"/>
                    <a:satOff val="-4338"/>
                    <a:lumOff val="10182"/>
                  </a:schemeClr>
                </a:solidFill>
              </a:rPr>
              <a:t>index: Int</a:t>
            </a:r>
            <a:r>
              <a:t>) -&gt; </a:t>
            </a:r>
            <a:r>
              <a:rPr>
                <a:solidFill>
                  <a:schemeClr val="accent4">
                    <a:hueOff val="475731"/>
                    <a:satOff val="-4338"/>
                    <a:lumOff val="10182"/>
                  </a:schemeClr>
                </a:solidFill>
              </a:rPr>
              <a:t>Int</a:t>
            </a:r>
            <a:r>
              <a:t> </a:t>
            </a:r>
            <a:r>
              <a:rPr>
                <a:solidFill>
                  <a:schemeClr val="accent2">
                    <a:hueOff val="-206910"/>
                    <a:satOff val="-12829"/>
                    <a:lumOff val="16238"/>
                  </a:schemeClr>
                </a:solidFill>
              </a:rPr>
              <a:t>{</a:t>
            </a:r>
          </a:p>
          <a:p>
            <a:pPr lvl="3" marL="0" indent="1234439" defTabSz="2194505">
              <a:spcBef>
                <a:spcPts val="4000"/>
              </a:spcBef>
              <a:buSzTx/>
              <a:buNone/>
              <a:defRPr sz="3600">
                <a:latin typeface="Menlo Regular"/>
                <a:ea typeface="Menlo Regular"/>
                <a:cs typeface="Menlo Regular"/>
                <a:sym typeface="Menlo Regular"/>
              </a:defRPr>
            </a:pPr>
            <a:r>
              <a:rPr>
                <a:solidFill>
                  <a:schemeClr val="accent6">
                    <a:satOff val="15236"/>
                    <a:lumOff val="17673"/>
                  </a:schemeClr>
                </a:solidFill>
              </a:rPr>
              <a:t>get</a:t>
            </a:r>
            <a:r>
              <a:rPr>
                <a:solidFill>
                  <a:schemeClr val="accent2">
                    <a:hueOff val="-206910"/>
                    <a:satOff val="-12829"/>
                    <a:lumOff val="16238"/>
                  </a:schemeClr>
                </a:solidFill>
              </a:rPr>
              <a:t>{</a:t>
            </a:r>
          </a:p>
          <a:p>
            <a:pPr lvl="7" marL="0" indent="2880359" defTabSz="2194505">
              <a:spcBef>
                <a:spcPts val="4000"/>
              </a:spcBef>
              <a:buSzTx/>
              <a:buNone/>
              <a:defRPr sz="3600">
                <a:solidFill>
                  <a:schemeClr val="accent2">
                    <a:hueOff val="-206910"/>
                    <a:satOff val="-12829"/>
                    <a:lumOff val="16238"/>
                  </a:schemeClr>
                </a:solidFill>
                <a:latin typeface="Menlo Regular"/>
                <a:ea typeface="Menlo Regular"/>
                <a:cs typeface="Menlo Regular"/>
                <a:sym typeface="Menlo Regular"/>
              </a:defRPr>
            </a:pPr>
            <a:r>
              <a:t>//Return an appropriate subscript value here.</a:t>
            </a:r>
          </a:p>
          <a:p>
            <a:pPr lvl="6" marL="0" indent="2468879" defTabSz="2194505">
              <a:spcBef>
                <a:spcPts val="4000"/>
              </a:spcBef>
              <a:buSzTx/>
              <a:buNone/>
              <a:defRPr sz="3600">
                <a:solidFill>
                  <a:schemeClr val="accent2">
                    <a:hueOff val="-206910"/>
                    <a:satOff val="-12829"/>
                    <a:lumOff val="16238"/>
                  </a:schemeClr>
                </a:solidFill>
                <a:latin typeface="Menlo Regular"/>
                <a:ea typeface="Menlo Regular"/>
                <a:cs typeface="Menlo Regular"/>
                <a:sym typeface="Menlo Regular"/>
              </a:defRPr>
            </a:pPr>
            <a:r>
              <a:t>}</a:t>
            </a:r>
          </a:p>
          <a:p>
            <a:pPr lvl="3" marL="0" indent="1234439" defTabSz="2194505">
              <a:spcBef>
                <a:spcPts val="4000"/>
              </a:spcBef>
              <a:buSzTx/>
              <a:buNone/>
              <a:defRPr sz="3600">
                <a:latin typeface="Menlo Regular"/>
                <a:ea typeface="Menlo Regular"/>
                <a:cs typeface="Menlo Regular"/>
                <a:sym typeface="Menlo Regular"/>
              </a:defRPr>
            </a:pPr>
            <a:r>
              <a:rPr>
                <a:solidFill>
                  <a:schemeClr val="accent6">
                    <a:satOff val="15236"/>
                    <a:lumOff val="17673"/>
                  </a:schemeClr>
                </a:solidFill>
              </a:rPr>
              <a:t>set</a:t>
            </a:r>
            <a:r>
              <a:t>(</a:t>
            </a:r>
            <a:r>
              <a:rPr>
                <a:solidFill>
                  <a:schemeClr val="accent4">
                    <a:hueOff val="475731"/>
                    <a:satOff val="-4338"/>
                    <a:lumOff val="10182"/>
                  </a:schemeClr>
                </a:solidFill>
              </a:rPr>
              <a:t>newValue</a:t>
            </a:r>
            <a:r>
              <a:t>) {</a:t>
            </a:r>
          </a:p>
          <a:p>
            <a:pPr lvl="7" marL="0" indent="2880359" defTabSz="2194505">
              <a:spcBef>
                <a:spcPts val="4000"/>
              </a:spcBef>
              <a:buSzTx/>
              <a:buNone/>
              <a:defRPr sz="3600">
                <a:solidFill>
                  <a:schemeClr val="accent2">
                    <a:hueOff val="-206910"/>
                    <a:satOff val="-12829"/>
                    <a:lumOff val="16238"/>
                  </a:schemeClr>
                </a:solidFill>
                <a:latin typeface="Menlo Regular"/>
                <a:ea typeface="Menlo Regular"/>
                <a:cs typeface="Menlo Regular"/>
                <a:sym typeface="Menlo Regular"/>
              </a:defRPr>
            </a:pPr>
            <a:r>
              <a:t>//Perform a suitable setting action here.</a:t>
            </a:r>
          </a:p>
          <a:p>
            <a:pPr lvl="6" marL="0" indent="2468879" defTabSz="2194505">
              <a:spcBef>
                <a:spcPts val="4000"/>
              </a:spcBef>
              <a:buSzTx/>
              <a:buNone/>
              <a:defRPr sz="3600">
                <a:solidFill>
                  <a:schemeClr val="accent2">
                    <a:hueOff val="-206910"/>
                    <a:satOff val="-12829"/>
                    <a:lumOff val="16238"/>
                  </a:schemeClr>
                </a:solidFill>
                <a:latin typeface="Menlo Regular"/>
                <a:ea typeface="Menlo Regular"/>
                <a:cs typeface="Menlo Regular"/>
                <a:sym typeface="Menlo Regular"/>
              </a:defRPr>
            </a:pPr>
            <a:r>
              <a:t>}</a:t>
            </a:r>
          </a:p>
          <a:p>
            <a:pPr lvl="4" marL="0" indent="1645919" defTabSz="2194505">
              <a:spcBef>
                <a:spcPts val="4000"/>
              </a:spcBef>
              <a:buSzTx/>
              <a:buNone/>
              <a:defRPr sz="3600">
                <a:solidFill>
                  <a:schemeClr val="accent2">
                    <a:hueOff val="-206910"/>
                    <a:satOff val="-12829"/>
                    <a:lumOff val="16238"/>
                  </a:schemeClr>
                </a:solidFill>
                <a:latin typeface="Menlo Regular"/>
                <a:ea typeface="Menlo Regular"/>
                <a:cs typeface="Menlo Regular"/>
                <a:sym typeface="Menlo Regular"/>
              </a:defRPr>
            </a:pPr>
            <a:r>
              <a:t>}</a:t>
            </a:r>
          </a:p>
          <a:p>
            <a:pPr lvl="4" marL="0" indent="1645919" defTabSz="2194505">
              <a:spcBef>
                <a:spcPts val="4000"/>
              </a:spcBef>
              <a:buSzTx/>
              <a:buNone/>
              <a:defRPr sz="3600">
                <a:solidFill>
                  <a:schemeClr val="accent2">
                    <a:hueOff val="-206910"/>
                    <a:satOff val="-12829"/>
                    <a:lumOff val="16238"/>
                  </a:schemeClr>
                </a:solidFill>
                <a:latin typeface="Menlo Regular"/>
                <a:ea typeface="Menlo Regular"/>
                <a:cs typeface="Menlo Regular"/>
                <a:sym typeface="Menlo Regular"/>
              </a:defRPr>
            </a:pPr>
          </a:p>
          <a:p>
            <a:pPr marL="609320" indent="-457200" defTabSz="2194505">
              <a:spcBef>
                <a:spcPts val="0"/>
              </a:spcBef>
              <a:defRPr spc="-82" sz="4140">
                <a:latin typeface="Helvetica Neue Medium"/>
                <a:ea typeface="Helvetica Neue Medium"/>
                <a:cs typeface="Helvetica Neue Medium"/>
                <a:sym typeface="Helvetica Neue Medium"/>
              </a:defRPr>
            </a:pPr>
            <a:r>
              <a:t>The type of </a:t>
            </a:r>
            <a:r>
              <a:rPr>
                <a:solidFill>
                  <a:schemeClr val="accent2">
                    <a:hueOff val="-206910"/>
                    <a:satOff val="-12829"/>
                    <a:lumOff val="16238"/>
                  </a:schemeClr>
                </a:solidFill>
              </a:rPr>
              <a:t>newValue</a:t>
            </a:r>
            <a:r>
              <a:t> is the same as the return value of the subscript. </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Example"/>
          <p:cNvSpPr txBox="1"/>
          <p:nvPr>
            <p:ph type="title"/>
          </p:nvPr>
        </p:nvSpPr>
        <p:spPr>
          <a:prstGeom prst="rect">
            <a:avLst/>
          </a:prstGeom>
        </p:spPr>
        <p:txBody>
          <a:bodyPr/>
          <a:lstStyle/>
          <a:p>
            <a:pPr/>
            <a:r>
              <a:t>Example</a:t>
            </a:r>
          </a:p>
        </p:txBody>
      </p:sp>
      <p:sp>
        <p:nvSpPr>
          <p:cNvPr id="183" name="An example of a read-only subscript implementation, which defines a TimesTable structure to represent an n-times-table of integers"/>
          <p:cNvSpPr txBox="1"/>
          <p:nvPr>
            <p:ph type="body" sz="quarter" idx="1"/>
          </p:nvPr>
        </p:nvSpPr>
        <p:spPr>
          <a:xfrm>
            <a:off x="1206500" y="2542335"/>
            <a:ext cx="21971000" cy="2638206"/>
          </a:xfrm>
          <a:prstGeom prst="rect">
            <a:avLst/>
          </a:prstGeom>
        </p:spPr>
        <p:txBody>
          <a:bodyPr anchor="ctr"/>
          <a:lstStyle/>
          <a:p>
            <a:pPr/>
            <a:r>
              <a:t>An example of a read-only subscript implementation, which defines a TimesTable structure to represent an n-times-table of integers</a:t>
            </a:r>
          </a:p>
        </p:txBody>
      </p:sp>
      <p:pic>
        <p:nvPicPr>
          <p:cNvPr id="184" name="pasted-movie.png" descr="pasted-movie.png"/>
          <p:cNvPicPr>
            <a:picLocks noChangeAspect="1"/>
          </p:cNvPicPr>
          <p:nvPr/>
        </p:nvPicPr>
        <p:blipFill>
          <a:blip r:embed="rId2">
            <a:extLst/>
          </a:blip>
          <a:stretch>
            <a:fillRect/>
          </a:stretch>
        </p:blipFill>
        <p:spPr>
          <a:xfrm>
            <a:off x="2837283" y="5067337"/>
            <a:ext cx="10083801" cy="7467601"/>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Example"/>
          <p:cNvSpPr txBox="1"/>
          <p:nvPr>
            <p:ph type="title"/>
          </p:nvPr>
        </p:nvSpPr>
        <p:spPr>
          <a:prstGeom prst="rect">
            <a:avLst/>
          </a:prstGeom>
        </p:spPr>
        <p:txBody>
          <a:bodyPr/>
          <a:lstStyle/>
          <a:p>
            <a:pPr/>
            <a:r>
              <a:t>Example</a:t>
            </a:r>
          </a:p>
        </p:txBody>
      </p:sp>
      <p:pic>
        <p:nvPicPr>
          <p:cNvPr id="187" name="pasted-movie.png" descr="pasted-movie.png"/>
          <p:cNvPicPr>
            <a:picLocks noChangeAspect="1"/>
          </p:cNvPicPr>
          <p:nvPr/>
        </p:nvPicPr>
        <p:blipFill>
          <a:blip r:embed="rId2">
            <a:extLst/>
          </a:blip>
          <a:stretch>
            <a:fillRect/>
          </a:stretch>
        </p:blipFill>
        <p:spPr>
          <a:xfrm>
            <a:off x="8232857" y="1247254"/>
            <a:ext cx="10650908" cy="11221492"/>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Subscript Options"/>
          <p:cNvSpPr txBox="1"/>
          <p:nvPr>
            <p:ph type="title"/>
          </p:nvPr>
        </p:nvSpPr>
        <p:spPr>
          <a:prstGeom prst="rect">
            <a:avLst/>
          </a:prstGeom>
        </p:spPr>
        <p:txBody>
          <a:bodyPr/>
          <a:lstStyle/>
          <a:p>
            <a:pPr/>
            <a:r>
              <a:t>Subscript Options</a:t>
            </a:r>
          </a:p>
        </p:txBody>
      </p:sp>
      <p:sp>
        <p:nvSpPr>
          <p:cNvPr id="190" name="Subscripts can take any number of input parameters, and these input parameters can be of any type. Subscripts can also return a value of any type.…"/>
          <p:cNvSpPr txBox="1"/>
          <p:nvPr>
            <p:ph type="body" idx="1"/>
          </p:nvPr>
        </p:nvSpPr>
        <p:spPr>
          <a:xfrm>
            <a:off x="1206500" y="2699419"/>
            <a:ext cx="21971000" cy="9805097"/>
          </a:xfrm>
          <a:prstGeom prst="rect">
            <a:avLst/>
          </a:prstGeom>
        </p:spPr>
        <p:txBody>
          <a:bodyPr/>
          <a:lstStyle/>
          <a:p>
            <a:pPr/>
            <a:r>
              <a:t>Subscripts can take </a:t>
            </a:r>
            <a:r>
              <a:rPr>
                <a:solidFill>
                  <a:schemeClr val="accent4">
                    <a:hueOff val="475731"/>
                    <a:satOff val="-4338"/>
                    <a:lumOff val="10182"/>
                  </a:schemeClr>
                </a:solidFill>
              </a:rPr>
              <a:t>any number of input parameters</a:t>
            </a:r>
            <a:r>
              <a:t>, and these </a:t>
            </a:r>
            <a:r>
              <a:rPr>
                <a:solidFill>
                  <a:schemeClr val="accent4">
                    <a:hueOff val="475731"/>
                    <a:satOff val="-4338"/>
                    <a:lumOff val="10182"/>
                  </a:schemeClr>
                </a:solidFill>
              </a:rPr>
              <a:t>input parameters can be of any type</a:t>
            </a:r>
            <a:r>
              <a:t>. Subscripts can also </a:t>
            </a:r>
            <a:r>
              <a:rPr>
                <a:solidFill>
                  <a:schemeClr val="accent4">
                    <a:hueOff val="475731"/>
                    <a:satOff val="-4338"/>
                    <a:lumOff val="10182"/>
                  </a:schemeClr>
                </a:solidFill>
              </a:rPr>
              <a:t>return a value of any type.</a:t>
            </a:r>
            <a:r>
              <a:t> </a:t>
            </a:r>
          </a:p>
          <a:p>
            <a:pPr/>
            <a:r>
              <a:t>Like functions, subscripts can take a varying number of parameters and provide default values for their parameters. </a:t>
            </a:r>
          </a:p>
          <a:p>
            <a:pPr/>
            <a:r>
              <a:t>A class or structure can provide as many subscript implementations as it needs, and the appropriate subscript to be used will be inferred based on the types of the value or values that are contained within the subscript brackets at the point that the subscript is used. This definition of multiple subscripts is known as </a:t>
            </a:r>
            <a:r>
              <a:rPr i="1">
                <a:solidFill>
                  <a:schemeClr val="accent3">
                    <a:hueOff val="-385756"/>
                    <a:satOff val="-32155"/>
                    <a:lumOff val="17967"/>
                  </a:schemeClr>
                </a:solidFill>
              </a:rPr>
              <a:t>subscript overloading</a:t>
            </a:r>
            <a:r>
              <a:t>.</a:t>
            </a:r>
          </a:p>
          <a:p>
            <a:pPr/>
            <a:r>
              <a:t>It’s most common for a subscript to take a single parameter, you can also define a subscript with multiple parameters if it’s appropriate for your type.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0_BasicBlack">
  <a:themeElements>
    <a:clrScheme name="20_BasicBlack">
      <a:dk1>
        <a:srgbClr val="000000"/>
      </a:dk1>
      <a:lt1>
        <a:srgbClr val="FFFFFF"/>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0_BasicBlack">
      <a:majorFont>
        <a:latin typeface="Helvetica Neue"/>
        <a:ea typeface="Helvetica Neue"/>
        <a:cs typeface="Helvetica Neue"/>
      </a:majorFont>
      <a:minorFont>
        <a:latin typeface="Helvetica Neue"/>
        <a:ea typeface="Helvetica Neue"/>
        <a:cs typeface="Helvetica Neue"/>
      </a:minorFont>
    </a:fontScheme>
    <a:fmtScheme name="20_Basic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0_BasicBlack">
  <a:themeElements>
    <a:clrScheme name="20_BasicBlack">
      <a:dk1>
        <a:srgbClr val="000000"/>
      </a:dk1>
      <a:lt1>
        <a:srgbClr val="FFFFFF"/>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0_BasicBlack">
      <a:majorFont>
        <a:latin typeface="Helvetica Neue"/>
        <a:ea typeface="Helvetica Neue"/>
        <a:cs typeface="Helvetica Neue"/>
      </a:majorFont>
      <a:minorFont>
        <a:latin typeface="Helvetica Neue"/>
        <a:ea typeface="Helvetica Neue"/>
        <a:cs typeface="Helvetica Neue"/>
      </a:minorFont>
    </a:fontScheme>
    <a:fmtScheme name="20_Basic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