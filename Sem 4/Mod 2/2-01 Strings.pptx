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1pPr>
    <a:lvl2pPr marL="0" marR="0" indent="3429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2pPr>
    <a:lvl3pPr marL="0" marR="0" indent="6858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3pPr>
    <a:lvl4pPr marL="0" marR="0" indent="10287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4pPr>
    <a:lvl5pPr marL="0" marR="0" indent="13716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5pPr>
    <a:lvl6pPr marL="0" marR="0" indent="17145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6pPr>
    <a:lvl7pPr marL="0" marR="0" indent="20574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7pPr>
    <a:lvl8pPr marL="0" marR="0" indent="24003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8pPr>
    <a:lvl9pPr marL="0" marR="0" indent="27432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F588A230-0A83-4CEE-A58F-09D1D2841EB9}" styleName="">
    <a:tblBg/>
    <a:wholeTbl>
      <a:tcTxStyle b="off" i="off">
        <a:fontRef idx="minor">
          <a:srgbClr val="FFFFFF"/>
        </a:fontRef>
        <a:srgbClr val="FFFFFF"/>
      </a:tcTxStyle>
      <a:tcStyle>
        <a:tcBdr>
          <a:left>
            <a:ln w="12700" cap="flat">
              <a:solidFill>
                <a:srgbClr val="454D52"/>
              </a:solidFill>
              <a:prstDash val="solid"/>
              <a:miter lim="400000"/>
            </a:ln>
          </a:left>
          <a:right>
            <a:ln w="12700" cap="flat">
              <a:solidFill>
                <a:srgbClr val="454D52"/>
              </a:solidFill>
              <a:prstDash val="solid"/>
              <a:miter lim="400000"/>
            </a:ln>
          </a:right>
          <a:top>
            <a:ln w="12700" cap="flat">
              <a:solidFill>
                <a:srgbClr val="6F7980"/>
              </a:solidFill>
              <a:prstDash val="solid"/>
              <a:miter lim="400000"/>
            </a:ln>
          </a:top>
          <a:bottom>
            <a:ln w="12700" cap="flat">
              <a:solidFill>
                <a:srgbClr val="6F7980"/>
              </a:solidFill>
              <a:prstDash val="solid"/>
              <a:miter lim="400000"/>
            </a:ln>
          </a:bottom>
          <a:insideH>
            <a:ln w="12700" cap="flat">
              <a:solidFill>
                <a:srgbClr val="6F7980"/>
              </a:solidFill>
              <a:prstDash val="solid"/>
              <a:miter lim="400000"/>
            </a:ln>
          </a:insideH>
          <a:insideV>
            <a:ln w="12700" cap="flat">
              <a:solidFill>
                <a:srgbClr val="454D52"/>
              </a:solidFill>
              <a:prstDash val="solid"/>
              <a:miter lim="400000"/>
            </a:ln>
          </a:insideV>
        </a:tcBdr>
        <a:fill>
          <a:solidFill>
            <a:srgbClr val="D1DADE">
              <a:alpha val="25000"/>
            </a:srgbClr>
          </a:solidFill>
        </a:fill>
      </a:tcStyle>
    </a:wholeTbl>
    <a:band2H>
      <a:tcTxStyle b="def" i="def"/>
      <a:tcStyle>
        <a:tcBdr/>
        <a:fill>
          <a:solidFill>
            <a:srgbClr val="EFF1F3"/>
          </a:solidFill>
        </a:fill>
      </a:tcStyle>
    </a:band2H>
    <a:firstCol>
      <a:tcTxStyle b="off" i="off">
        <a:fontRef idx="minor">
          <a:srgbClr val="FFFFFF"/>
        </a:fontRef>
        <a:srgbClr val="FFFFFF"/>
      </a:tcTxStyle>
      <a:tcStyle>
        <a:tcBdr>
          <a:left>
            <a:ln w="12700" cap="flat">
              <a:noFill/>
              <a:miter lim="400000"/>
            </a:ln>
          </a:left>
          <a:right>
            <a:ln w="25400" cap="flat">
              <a:solidFill>
                <a:srgbClr val="6F7980"/>
              </a:solidFill>
              <a:prstDash val="solid"/>
              <a:miter lim="400000"/>
            </a:ln>
          </a:right>
          <a:top>
            <a:ln w="12700" cap="flat">
              <a:solidFill>
                <a:srgbClr val="6F7980"/>
              </a:solidFill>
              <a:prstDash val="solid"/>
              <a:miter lim="400000"/>
            </a:ln>
          </a:top>
          <a:bottom>
            <a:ln w="12700" cap="flat">
              <a:solidFill>
                <a:srgbClr val="6F7980"/>
              </a:solidFill>
              <a:prstDash val="solid"/>
              <a:miter lim="400000"/>
            </a:ln>
          </a:bottom>
          <a:insideH>
            <a:ln w="12700" cap="flat">
              <a:solidFill>
                <a:srgbClr val="6F7980"/>
              </a:solidFill>
              <a:prstDash val="solid"/>
              <a:miter lim="400000"/>
            </a:ln>
          </a:insideH>
          <a:insideV>
            <a:ln w="12700" cap="flat">
              <a:solidFill>
                <a:srgbClr val="A3BCCC"/>
              </a:solidFill>
              <a:prstDash val="solid"/>
              <a:miter lim="400000"/>
            </a:ln>
          </a:insideV>
        </a:tcBdr>
        <a:fill>
          <a:noFill/>
        </a:fill>
      </a:tcStyle>
    </a:firstCol>
    <a:lastRow>
      <a:tcTxStyle b="off" i="off">
        <a:fontRef idx="minor">
          <a:srgbClr val="FFFFFF"/>
        </a:fontRef>
        <a:srgbClr val="FFFFFF"/>
      </a:tcTxStyle>
      <a:tcStyle>
        <a:tcBdr>
          <a:left>
            <a:ln w="12700" cap="flat">
              <a:solidFill>
                <a:srgbClr val="A3BCCC"/>
              </a:solidFill>
              <a:prstDash val="solid"/>
              <a:miter lim="400000"/>
            </a:ln>
          </a:left>
          <a:right>
            <a:ln w="12700" cap="flat">
              <a:solidFill>
                <a:srgbClr val="A3BCCC"/>
              </a:solidFill>
              <a:prstDash val="solid"/>
              <a:miter lim="400000"/>
            </a:ln>
          </a:right>
          <a:top>
            <a:ln w="25400" cap="flat">
              <a:solidFill>
                <a:srgbClr val="6F7980"/>
              </a:solidFill>
              <a:prstDash val="solid"/>
              <a:miter lim="400000"/>
            </a:ln>
          </a:top>
          <a:bottom>
            <a:ln w="12700" cap="flat">
              <a:noFill/>
              <a:miter lim="400000"/>
            </a:ln>
          </a:bottom>
          <a:insideH>
            <a:ln w="12700" cap="flat">
              <a:solidFill>
                <a:srgbClr val="A3BCCC"/>
              </a:solidFill>
              <a:prstDash val="solid"/>
              <a:miter lim="400000"/>
            </a:ln>
          </a:insideH>
          <a:insideV>
            <a:ln w="12700" cap="flat">
              <a:solidFill>
                <a:srgbClr val="A3BCCC"/>
              </a:solidFill>
              <a:prstDash val="solid"/>
              <a:miter lim="400000"/>
            </a:ln>
          </a:insideV>
        </a:tcBdr>
        <a:fill>
          <a:noFill/>
        </a:fill>
      </a:tcStyle>
    </a:lastRow>
    <a:firstRow>
      <a:tcTxStyle b="off" i="off">
        <a:fontRef idx="minor">
          <a:srgbClr val="FFFFFF"/>
        </a:fontRef>
        <a:srgbClr val="FFFFFF"/>
      </a:tcTxStyle>
      <a:tcStyle>
        <a:tcBdr>
          <a:left>
            <a:ln w="12700" cap="flat">
              <a:solidFill>
                <a:srgbClr val="6F7980"/>
              </a:solidFill>
              <a:prstDash val="solid"/>
              <a:miter lim="400000"/>
            </a:ln>
          </a:left>
          <a:right>
            <a:ln w="12700" cap="flat">
              <a:solidFill>
                <a:srgbClr val="6F7980"/>
              </a:solidFill>
              <a:prstDash val="solid"/>
              <a:miter lim="400000"/>
            </a:ln>
          </a:right>
          <a:top>
            <a:ln w="12700" cap="flat">
              <a:noFill/>
              <a:miter lim="400000"/>
            </a:ln>
          </a:top>
          <a:bottom>
            <a:ln w="25400" cap="flat">
              <a:solidFill>
                <a:srgbClr val="6F7980"/>
              </a:solidFill>
              <a:prstDash val="solid"/>
              <a:miter lim="400000"/>
            </a:ln>
          </a:bottom>
          <a:insideH>
            <a:ln w="12700" cap="flat">
              <a:solidFill>
                <a:srgbClr val="A3BCCC"/>
              </a:solidFill>
              <a:prstDash val="solid"/>
              <a:miter lim="400000"/>
            </a:ln>
          </a:insideH>
          <a:insideV>
            <a:ln w="12700" cap="flat">
              <a:solidFill>
                <a:srgbClr val="6F7980"/>
              </a:solidFill>
              <a:prstDash val="solid"/>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64" name="Shape 64"/>
          <p:cNvSpPr/>
          <p:nvPr>
            <p:ph type="sldImg"/>
          </p:nvPr>
        </p:nvSpPr>
        <p:spPr>
          <a:xfrm>
            <a:off x="1143000" y="685800"/>
            <a:ext cx="4572000" cy="3429000"/>
          </a:xfrm>
          <a:prstGeom prst="rect">
            <a:avLst/>
          </a:prstGeom>
        </p:spPr>
        <p:txBody>
          <a:bodyPr/>
          <a:lstStyle/>
          <a:p>
            <a:pPr/>
          </a:p>
        </p:txBody>
      </p:sp>
      <p:sp>
        <p:nvSpPr>
          <p:cNvPr id="65" name="Shape 6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spcBef>
        <a:spcPts val="1200"/>
      </a:spcBef>
      <a:defRPr sz="3000">
        <a:latin typeface="+mn-lt"/>
        <a:ea typeface="+mn-ea"/>
        <a:cs typeface="+mn-cs"/>
        <a:sym typeface="Helvetica Neue"/>
      </a:defRPr>
    </a:lvl1pPr>
    <a:lvl2pPr indent="228600" defTabSz="457200" latinLnBrk="0">
      <a:spcBef>
        <a:spcPts val="1200"/>
      </a:spcBef>
      <a:defRPr sz="3000">
        <a:latin typeface="+mn-lt"/>
        <a:ea typeface="+mn-ea"/>
        <a:cs typeface="+mn-cs"/>
        <a:sym typeface="Helvetica Neue"/>
      </a:defRPr>
    </a:lvl2pPr>
    <a:lvl3pPr indent="457200" defTabSz="457200" latinLnBrk="0">
      <a:spcBef>
        <a:spcPts val="1200"/>
      </a:spcBef>
      <a:defRPr sz="3000">
        <a:latin typeface="+mn-lt"/>
        <a:ea typeface="+mn-ea"/>
        <a:cs typeface="+mn-cs"/>
        <a:sym typeface="Helvetica Neue"/>
      </a:defRPr>
    </a:lvl3pPr>
    <a:lvl4pPr indent="685800" defTabSz="457200" latinLnBrk="0">
      <a:spcBef>
        <a:spcPts val="1200"/>
      </a:spcBef>
      <a:defRPr sz="3000">
        <a:latin typeface="+mn-lt"/>
        <a:ea typeface="+mn-ea"/>
        <a:cs typeface="+mn-cs"/>
        <a:sym typeface="Helvetica Neue"/>
      </a:defRPr>
    </a:lvl4pPr>
    <a:lvl5pPr indent="914400" defTabSz="457200" latinLnBrk="0">
      <a:spcBef>
        <a:spcPts val="1200"/>
      </a:spcBef>
      <a:defRPr sz="3000">
        <a:latin typeface="+mn-lt"/>
        <a:ea typeface="+mn-ea"/>
        <a:cs typeface="+mn-cs"/>
        <a:sym typeface="Helvetica Neue"/>
      </a:defRPr>
    </a:lvl5pPr>
    <a:lvl6pPr indent="1143000" defTabSz="457200" latinLnBrk="0">
      <a:spcBef>
        <a:spcPts val="1200"/>
      </a:spcBef>
      <a:defRPr sz="3000">
        <a:latin typeface="+mn-lt"/>
        <a:ea typeface="+mn-ea"/>
        <a:cs typeface="+mn-cs"/>
        <a:sym typeface="Helvetica Neue"/>
      </a:defRPr>
    </a:lvl6pPr>
    <a:lvl7pPr indent="1371600" defTabSz="457200" latinLnBrk="0">
      <a:spcBef>
        <a:spcPts val="1200"/>
      </a:spcBef>
      <a:defRPr sz="3000">
        <a:latin typeface="+mn-lt"/>
        <a:ea typeface="+mn-ea"/>
        <a:cs typeface="+mn-cs"/>
        <a:sym typeface="Helvetica Neue"/>
      </a:defRPr>
    </a:lvl7pPr>
    <a:lvl8pPr indent="1600200" defTabSz="457200" latinLnBrk="0">
      <a:spcBef>
        <a:spcPts val="1200"/>
      </a:spcBef>
      <a:defRPr sz="3000">
        <a:latin typeface="+mn-lt"/>
        <a:ea typeface="+mn-ea"/>
        <a:cs typeface="+mn-cs"/>
        <a:sym typeface="Helvetica Neue"/>
      </a:defRPr>
    </a:lvl8pPr>
    <a:lvl9pPr indent="1828800" defTabSz="457200" latinLnBrk="0">
      <a:spcBef>
        <a:spcPts val="1200"/>
      </a:spcBef>
      <a:defRPr sz="30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 Id="rId3" Type="http://schemas.openxmlformats.org/officeDocument/2006/relationships/hyperlink" Target="https://creativecommons.org/licenses/by-nc-sa/4.0/legalcode"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Say</a:t>
            </a:r>
          </a:p>
          <a:p>
            <a:pPr marL="228600" indent="-228600">
              <a:buSzPct val="100000"/>
              <a:buChar char="•"/>
            </a:pPr>
            <a:r>
              <a:t>Because Swift needs to be used for things that other languages are used for, we need a String type.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8" name="Shape 78"/>
          <p:cNvSpPr/>
          <p:nvPr>
            <p:ph type="sldImg"/>
          </p:nvPr>
        </p:nvSpPr>
        <p:spPr>
          <a:prstGeom prst="rect">
            <a:avLst/>
          </a:prstGeom>
        </p:spPr>
        <p:txBody>
          <a:bodyPr/>
          <a:lstStyle/>
          <a:p>
            <a:pPr/>
          </a:p>
        </p:txBody>
      </p:sp>
      <p:sp>
        <p:nvSpPr>
          <p:cNvPr id="79" name="Shape 79"/>
          <p:cNvSpPr/>
          <p:nvPr>
            <p:ph type="body" sz="quarter" idx="1"/>
          </p:nvPr>
        </p:nvSpPr>
        <p:spPr>
          <a:prstGeom prst="rect">
            <a:avLst/>
          </a:prstGeom>
        </p:spPr>
        <p:txBody>
          <a:bodyPr/>
          <a:lstStyle/>
          <a:p>
            <a:pPr/>
            <a:r>
              <a:t>Say</a:t>
            </a:r>
          </a:p>
          <a:p>
            <a:pPr marL="228600" indent="-228600">
              <a:buSzPct val="100000"/>
              <a:buChar char="•"/>
            </a:pPr>
            <a:r>
              <a:t>String instances can be created with the "" literal.</a:t>
            </a:r>
          </a:p>
          <a:p>
            <a:pPr marL="228600" indent="-228600">
              <a:buSzPct val="100000"/>
              <a:buChar char="•"/>
            </a:pPr>
            <a:r>
              <a:rPr>
                <a:latin typeface="Menlo Regular"/>
                <a:ea typeface="Menlo Regular"/>
                <a:cs typeface="Menlo Regular"/>
                <a:sym typeface="Menlo Regular"/>
              </a:rPr>
              <a:t>let</a:t>
            </a:r>
            <a:r>
              <a:t> strings can't be changed.</a:t>
            </a:r>
          </a:p>
          <a:p>
            <a:pPr marL="228600" indent="-228600">
              <a:buSzPct val="100000"/>
              <a:buChar char="•"/>
            </a:pPr>
            <a:r>
              <a:rPr>
                <a:latin typeface="Menlo Regular"/>
                <a:ea typeface="Menlo Regular"/>
                <a:cs typeface="Menlo Regular"/>
                <a:sym typeface="Menlo Regular"/>
              </a:rPr>
              <a:t>var</a:t>
            </a:r>
            <a:r>
              <a:t> strings can be changed.</a:t>
            </a:r>
          </a:p>
          <a:p>
            <a:pPr marL="228600" indent="-228600">
              <a:buSzPct val="100000"/>
              <a:buChar char="•"/>
            </a:pPr>
            <a:r>
              <a:t>Unicode is supported.</a:t>
            </a:r>
          </a:p>
          <a:p>
            <a:pPr marL="228600" indent="-228600">
              <a:buSzPct val="100000"/>
              <a:buChar char="•"/>
            </a:pPr>
            <a:r>
              <a:t>If your string literal needs to be multiple lines, simply surround your set of characters with three double quotation marks `"""`. In its multiline form, the string literal includes all of the lines between its opening and closing quotes. The string begins on the first line after the opening quotes and ends on the line before the closing quotes.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9" name="Shape 89"/>
          <p:cNvSpPr/>
          <p:nvPr>
            <p:ph type="sldImg"/>
          </p:nvPr>
        </p:nvSpPr>
        <p:spPr>
          <a:prstGeom prst="rect">
            <a:avLst/>
          </a:prstGeom>
        </p:spPr>
        <p:txBody>
          <a:bodyPr/>
          <a:lstStyle/>
          <a:p>
            <a:pPr/>
          </a:p>
        </p:txBody>
      </p:sp>
      <p:sp>
        <p:nvSpPr>
          <p:cNvPr id="90" name="Shape 90"/>
          <p:cNvSpPr/>
          <p:nvPr>
            <p:ph type="body" sz="quarter" idx="1"/>
          </p:nvPr>
        </p:nvSpPr>
        <p:spPr>
          <a:prstGeom prst="rect">
            <a:avLst/>
          </a:prstGeom>
        </p:spPr>
        <p:txBody>
          <a:bodyPr/>
          <a:lstStyle/>
          <a:p>
            <a:pPr/>
            <a:r>
              <a:t>Do</a:t>
            </a:r>
          </a:p>
          <a:p>
            <a:pPr marL="228600" indent="-228600">
              <a:buSzPct val="100000"/>
              <a:buChar char="•"/>
            </a:pPr>
            <a:r>
              <a:t>Click to display the escape quotes.</a:t>
            </a:r>
          </a:p>
          <a:p>
            <a:pPr/>
            <a:r>
              <a:t>Say</a:t>
            </a:r>
          </a:p>
          <a:p>
            <a:pPr marL="228600" indent="-228600">
              <a:buSzPct val="100000"/>
              <a:buChar char="•"/>
            </a:pPr>
            <a:r>
              <a:t>If the string will include double quotes, you'll need to use the backslash (\), known in Swift as the escape character.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4" name="Shape 104"/>
          <p:cNvSpPr/>
          <p:nvPr>
            <p:ph type="sldImg"/>
          </p:nvPr>
        </p:nvSpPr>
        <p:spPr>
          <a:prstGeom prst="rect">
            <a:avLst/>
          </a:prstGeom>
        </p:spPr>
        <p:txBody>
          <a:bodyPr/>
          <a:lstStyle/>
          <a:p>
            <a:pPr/>
          </a:p>
        </p:txBody>
      </p:sp>
      <p:sp>
        <p:nvSpPr>
          <p:cNvPr id="105" name="Shape 105"/>
          <p:cNvSpPr/>
          <p:nvPr>
            <p:ph type="body" sz="quarter" idx="1"/>
          </p:nvPr>
        </p:nvSpPr>
        <p:spPr>
          <a:prstGeom prst="rect">
            <a:avLst/>
          </a:prstGeom>
        </p:spPr>
        <p:txBody>
          <a:bodyPr/>
          <a:lstStyle/>
          <a:p>
            <a:pPr/>
            <a:r>
              <a:t>Say</a:t>
            </a:r>
          </a:p>
          <a:p>
            <a:pPr marL="228600" indent="-228600">
              <a:buSzPct val="100000"/>
              <a:buChar char="•"/>
            </a:pPr>
            <a:r>
              <a:t>If you need a Character instance, you can still use "", but you need to specify the Character type.</a:t>
            </a:r>
          </a:p>
          <a:p>
            <a:pPr marL="228600" indent="-228600">
              <a:buSzPct val="100000"/>
              <a:buChar char="•"/>
            </a:pPr>
            <a:r>
              <a:t>Swift strings are a collection of characters</a:t>
            </a:r>
          </a:p>
          <a:p>
            <a:pPr marL="228600" indent="-228600">
              <a:buSzPct val="100000"/>
              <a:buChar char="•"/>
            </a:pPr>
            <a:r>
              <a:t>Show String under swiftdoc.org and point out the "extended grapheme clusters." </a:t>
            </a:r>
          </a:p>
          <a:p>
            <a:pPr marL="228600" indent="-228600">
              <a:buSzPct val="100000"/>
              <a:buChar char="•"/>
            </a:pPr>
            <a:r>
              <a:t>Explain that if you need all the details of how String is built and stored, you can find it.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2" name="Shape 112"/>
          <p:cNvSpPr/>
          <p:nvPr>
            <p:ph type="sldImg"/>
          </p:nvPr>
        </p:nvSpPr>
        <p:spPr>
          <a:prstGeom prst="rect">
            <a:avLst/>
          </a:prstGeom>
        </p:spPr>
        <p:txBody>
          <a:bodyPr/>
          <a:lstStyle/>
          <a:p>
            <a:pPr/>
          </a:p>
        </p:txBody>
      </p:sp>
      <p:sp>
        <p:nvSpPr>
          <p:cNvPr id="113" name="Shape 113"/>
          <p:cNvSpPr/>
          <p:nvPr>
            <p:ph type="body" sz="quarter" idx="1"/>
          </p:nvPr>
        </p:nvSpPr>
        <p:spPr>
          <a:prstGeom prst="rect">
            <a:avLst/>
          </a:prstGeom>
        </p:spPr>
        <p:txBody>
          <a:bodyPr/>
          <a:lstStyle/>
          <a:p>
            <a:pPr/>
            <a:r>
              <a:t>Say</a:t>
            </a:r>
          </a:p>
          <a:p>
            <a:pPr marL="228600" indent="-228600">
              <a:buSzPct val="100000"/>
              <a:buChar char="•"/>
            </a:pPr>
            <a:r>
              <a:t>If you have two constant strings, you can use + to combine them into a new string.</a:t>
            </a:r>
          </a:p>
          <a:p>
            <a:pPr marL="228600" indent="-228600">
              <a:buSzPct val="100000"/>
              <a:buChar char="•"/>
            </a:pPr>
            <a:r>
              <a:t>If you have a variable string, you can use += to append to it.</a:t>
            </a:r>
          </a:p>
          <a:p>
            <a:pPr marL="228600" indent="-228600">
              <a:buSzPct val="100000"/>
              <a:buChar char="•"/>
            </a:pPr>
            <a:r>
              <a:t>As strings grow in complexity, the use of the + operator can make code tricky to handle. In the code above, for example, you might forget to add a space before "Hello!"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Shape 120"/>
          <p:cNvSpPr/>
          <p:nvPr>
            <p:ph type="sldImg"/>
          </p:nvPr>
        </p:nvSpPr>
        <p:spPr>
          <a:prstGeom prst="rect">
            <a:avLst/>
          </a:prstGeom>
        </p:spPr>
        <p:txBody>
          <a:bodyPr/>
          <a:lstStyle/>
          <a:p>
            <a:pPr/>
          </a:p>
        </p:txBody>
      </p:sp>
      <p:sp>
        <p:nvSpPr>
          <p:cNvPr id="121" name="Shape 121"/>
          <p:cNvSpPr/>
          <p:nvPr>
            <p:ph type="body" sz="quarter" idx="1"/>
          </p:nvPr>
        </p:nvSpPr>
        <p:spPr>
          <a:prstGeom prst="rect">
            <a:avLst/>
          </a:prstGeom>
        </p:spPr>
        <p:txBody>
          <a:bodyPr/>
          <a:lstStyle/>
          <a:p>
            <a:pPr/>
            <a:r>
              <a:t>Say</a:t>
            </a:r>
          </a:p>
          <a:p>
            <a:pPr marL="228600" indent="-228600">
              <a:buSzPct val="100000"/>
              <a:buChar char="•"/>
            </a:pPr>
            <a:r>
              <a:t>You can insert the raw value of a constant or variable into a String by preceding the name with a backslash \ and wrapping the name in parentheses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Shape 145"/>
          <p:cNvSpPr/>
          <p:nvPr>
            <p:ph type="sldImg"/>
          </p:nvPr>
        </p:nvSpPr>
        <p:spPr>
          <a:prstGeom prst="rect">
            <a:avLst/>
          </a:prstGeom>
        </p:spPr>
        <p:txBody>
          <a:bodyPr/>
          <a:lstStyle/>
          <a:p>
            <a:pPr/>
          </a:p>
        </p:txBody>
      </p:sp>
      <p:sp>
        <p:nvSpPr>
          <p:cNvPr id="146" name="Shape 146"/>
          <p:cNvSpPr/>
          <p:nvPr>
            <p:ph type="body" sz="quarter" idx="1"/>
          </p:nvPr>
        </p:nvSpPr>
        <p:spPr>
          <a:prstGeom prst="rect">
            <a:avLst/>
          </a:prstGeom>
        </p:spPr>
        <p:txBody>
          <a:bodyPr/>
          <a:lstStyle/>
          <a:p>
            <a:pPr/>
            <a:r>
              <a:t>Say</a:t>
            </a:r>
          </a:p>
          <a:p>
            <a:pPr marL="228600" indent="-228600">
              <a:buSzPct val="100000"/>
              <a:buChar char="•"/>
            </a:pPr>
            <a:r>
              <a:t>You can use the lowercased() method to normalize the two strings, comparing an all-lowercase version of the string with an all-lowercase version of the calling string.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Shape 154"/>
          <p:cNvSpPr/>
          <p:nvPr>
            <p:ph type="sldImg"/>
          </p:nvPr>
        </p:nvSpPr>
        <p:spPr>
          <a:prstGeom prst="rect">
            <a:avLst/>
          </a:prstGeom>
        </p:spPr>
        <p:txBody>
          <a:bodyPr/>
          <a:lstStyle/>
          <a:p>
            <a:pPr/>
          </a:p>
        </p:txBody>
      </p:sp>
      <p:sp>
        <p:nvSpPr>
          <p:cNvPr id="155" name="Shape 155"/>
          <p:cNvSpPr/>
          <p:nvPr>
            <p:ph type="body" sz="quarter" idx="1"/>
          </p:nvPr>
        </p:nvSpPr>
        <p:spPr>
          <a:prstGeom prst="rect">
            <a:avLst/>
          </a:prstGeom>
        </p:spPr>
        <p:txBody>
          <a:bodyPr/>
          <a:lstStyle/>
          <a:p>
            <a:pPr/>
            <a:r>
              <a:t>Say </a:t>
            </a:r>
          </a:p>
          <a:p>
            <a:pPr marL="228600" indent="-228600">
              <a:buSzPct val="100000"/>
              <a:buChar char="•"/>
            </a:pPr>
            <a:r>
              <a:t>Note that they are case sensitive.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Shape 164"/>
          <p:cNvSpPr/>
          <p:nvPr>
            <p:ph type="sldImg"/>
          </p:nvPr>
        </p:nvSpPr>
        <p:spPr>
          <a:prstGeom prst="rect">
            <a:avLst/>
          </a:prstGeom>
        </p:spPr>
        <p:txBody>
          <a:bodyPr/>
          <a:lstStyle/>
          <a:p>
            <a:pPr/>
          </a:p>
        </p:txBody>
      </p:sp>
      <p:sp>
        <p:nvSpPr>
          <p:cNvPr id="165" name="Shape 165"/>
          <p:cNvSpPr/>
          <p:nvPr>
            <p:ph type="body" sz="quarter" idx="1"/>
          </p:nvPr>
        </p:nvSpPr>
        <p:spPr>
          <a:prstGeom prst="rect">
            <a:avLst/>
          </a:prstGeom>
        </p:spPr>
        <p:txBody>
          <a:bodyPr/>
          <a:lstStyle/>
          <a:p>
            <a:pPr/>
            <a:r>
              <a:t>Say</a:t>
            </a:r>
          </a:p>
          <a:p>
            <a:pPr marL="228600" indent="-228600">
              <a:buSzPct val="100000"/>
              <a:buChar char="•"/>
            </a:pPr>
            <a:r>
              <a:t>Use the contains(_:) method to return a Boolean value that indicates whether or not the substring was found.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 name="Shape 174"/>
          <p:cNvSpPr/>
          <p:nvPr>
            <p:ph type="sldImg"/>
          </p:nvPr>
        </p:nvSpPr>
        <p:spPr>
          <a:prstGeom prst="rect">
            <a:avLst/>
          </a:prstGeom>
        </p:spPr>
        <p:txBody>
          <a:bodyPr/>
          <a:lstStyle/>
          <a:p>
            <a:pPr/>
          </a:p>
        </p:txBody>
      </p:sp>
      <p:sp>
        <p:nvSpPr>
          <p:cNvPr id="175" name="Shape 175"/>
          <p:cNvSpPr/>
          <p:nvPr>
            <p:ph type="body" sz="quarter" idx="1"/>
          </p:nvPr>
        </p:nvSpPr>
        <p:spPr>
          <a:prstGeom prst="rect">
            <a:avLst/>
          </a:prstGeom>
        </p:spPr>
        <p:txBody>
          <a:bodyPr/>
          <a:lstStyle/>
          <a:p>
            <a:pPr/>
            <a:r>
              <a:t>Say</a:t>
            </a:r>
          </a:p>
          <a:p>
            <a:pPr marL="228600" indent="-228600">
              <a:buSzPct val="100000"/>
              <a:buChar char="•"/>
            </a:pPr>
            <a:r>
              <a:t>You can use the count property to determine the number of characters.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Shape 183"/>
          <p:cNvSpPr/>
          <p:nvPr>
            <p:ph type="sldImg"/>
          </p:nvPr>
        </p:nvSpPr>
        <p:spPr>
          <a:prstGeom prst="rect">
            <a:avLst/>
          </a:prstGeom>
        </p:spPr>
        <p:txBody>
          <a:bodyPr/>
          <a:lstStyle/>
          <a:p>
            <a:pPr/>
          </a:p>
        </p:txBody>
      </p:sp>
      <p:sp>
        <p:nvSpPr>
          <p:cNvPr id="184" name="Shape 184"/>
          <p:cNvSpPr/>
          <p:nvPr>
            <p:ph type="body" sz="quarter" idx="1"/>
          </p:nvPr>
        </p:nvSpPr>
        <p:spPr>
          <a:prstGeom prst="rect">
            <a:avLst/>
          </a:prstGeom>
        </p:spPr>
        <p:txBody>
          <a:bodyPr/>
          <a:lstStyle/>
          <a:p>
            <a:pPr/>
            <a:r>
              <a:t>Say</a:t>
            </a:r>
          </a:p>
          <a:p>
            <a:pPr marL="228600" indent="-228600">
              <a:buSzPct val="100000"/>
              <a:buChar char="•"/>
            </a:pPr>
            <a:r>
              <a:t>You can use the switch statement to pattern-match multiple values of strings or characters and respond accordingly.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1" name="Shape 191"/>
          <p:cNvSpPr/>
          <p:nvPr>
            <p:ph type="sldImg"/>
          </p:nvPr>
        </p:nvSpPr>
        <p:spPr>
          <a:prstGeom prst="rect">
            <a:avLst/>
          </a:prstGeom>
        </p:spPr>
        <p:txBody>
          <a:bodyPr/>
          <a:lstStyle/>
          <a:p>
            <a:pPr/>
          </a:p>
        </p:txBody>
      </p:sp>
      <p:sp>
        <p:nvSpPr>
          <p:cNvPr id="192" name="Shape 192"/>
          <p:cNvSpPr/>
          <p:nvPr>
            <p:ph type="body" sz="quarter" idx="1"/>
          </p:nvPr>
        </p:nvSpPr>
        <p:spPr>
          <a:prstGeom prst="rect">
            <a:avLst/>
          </a:prstGeom>
        </p:spPr>
        <p:txBody>
          <a:bodyPr/>
          <a:lstStyle/>
          <a:p>
            <a:pPr/>
            <a:r>
              <a:t>Say</a:t>
            </a:r>
          </a:p>
          <a:p>
            <a:pPr marL="228600" indent="-228600">
              <a:buSzPct val="100000"/>
              <a:buChar char="•"/>
            </a:pPr>
            <a:r>
              <a:t>Note that the size of a string in bytes is not equal to the number of characters.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Shape 202"/>
          <p:cNvSpPr/>
          <p:nvPr>
            <p:ph type="sldImg"/>
          </p:nvPr>
        </p:nvSpPr>
        <p:spPr>
          <a:prstGeom prst="rect">
            <a:avLst/>
          </a:prstGeom>
        </p:spPr>
        <p:txBody>
          <a:bodyPr/>
          <a:lstStyle/>
          <a:p>
            <a:pPr/>
          </a:p>
        </p:txBody>
      </p:sp>
      <p:sp>
        <p:nvSpPr>
          <p:cNvPr id="203" name="Shape 203"/>
          <p:cNvSpPr/>
          <p:nvPr>
            <p:ph type="body" sz="quarter" idx="1"/>
          </p:nvPr>
        </p:nvSpPr>
        <p:spPr>
          <a:prstGeom prst="rect">
            <a:avLst/>
          </a:prstGeom>
        </p:spPr>
        <p:txBody>
          <a:bodyPr/>
          <a:lstStyle/>
          <a:p>
            <a:pPr>
              <a:spcBef>
                <a:spcPts val="0"/>
              </a:spcBef>
              <a:defRPr sz="2600"/>
            </a:pPr>
            <a:r>
              <a:t>L569805A-en_WW App Development with Swift © 2021 Apple Inc. This work is licensed by Apple Inc. under the </a:t>
            </a:r>
            <a:r>
              <a:rPr u="sng">
                <a:hlinkClick r:id="rId3" invalidUrl="" action="" tgtFrame="" tooltip="" history="1" highlightClick="0" endSnd="0"/>
              </a:rPr>
              <a:t>Creative Commons Attribution-NonCommercial-ShareAlike 4.0 International</a:t>
            </a:r>
            <a:r>
              <a:t> license (</a:t>
            </a:r>
            <a:r>
              <a:rPr u="sng">
                <a:hlinkClick r:id="rId3" invalidUrl="" action="" tgtFrame="" tooltip="" history="1" highlightClick="0" endSnd="0"/>
              </a:rPr>
              <a:t>https://creativecommons.org/licenses/by-nc-sa/4.0/legalcode</a:t>
            </a:r>
            <a:r>
              <a:t>).</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nc-sa/4.0/legalcode"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Code">
    <p:spTree>
      <p:nvGrpSpPr>
        <p:cNvPr id="1" name=""/>
        <p:cNvGrpSpPr/>
        <p:nvPr/>
      </p:nvGrpSpPr>
      <p:grpSpPr>
        <a:xfrm>
          <a:off x="0" y="0"/>
          <a:ext cx="0" cy="0"/>
          <a:chOff x="0" y="0"/>
          <a:chExt cx="0" cy="0"/>
        </a:xfrm>
      </p:grpSpPr>
      <p:sp>
        <p:nvSpPr>
          <p:cNvPr id="1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
    <p:bg>
      <p:bgPr>
        <a:solidFill>
          <a:srgbClr val="000000"/>
        </a:solidFill>
      </p:bgPr>
    </p:bg>
    <p:spTree>
      <p:nvGrpSpPr>
        <p:cNvPr id="1" name=""/>
        <p:cNvGrpSpPr/>
        <p:nvPr/>
      </p:nvGrpSpPr>
      <p:grpSpPr>
        <a:xfrm>
          <a:off x="0" y="0"/>
          <a:ext cx="0" cy="0"/>
          <a:chOff x="0" y="0"/>
          <a:chExt cx="0" cy="0"/>
        </a:xfrm>
      </p:grpSpPr>
      <p:sp>
        <p:nvSpPr>
          <p:cNvPr id="19" name="Text"/>
          <p:cNvSpPr/>
          <p:nvPr>
            <p:ph type="body" sz="quarter" idx="21"/>
          </p:nvPr>
        </p:nvSpPr>
        <p:spPr>
          <a:xfrm>
            <a:off x="214165" y="13373100"/>
            <a:ext cx="19291301" cy="228600"/>
          </a:xfrm>
          <a:prstGeom prst="rect">
            <a:avLst/>
          </a:prstGeom>
          <a:ln w="12700"/>
        </p:spPr>
        <p:txBody>
          <a:bodyPr lIns="0" tIns="0" rIns="0" bIns="0" anchor="b">
            <a:spAutoFit/>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0" name="Text"/>
          <p:cNvSpPr/>
          <p:nvPr>
            <p:ph type="body" sz="quarter" idx="22"/>
          </p:nvPr>
        </p:nvSpPr>
        <p:spPr>
          <a:xfrm>
            <a:off x="1143000" y="2057400"/>
            <a:ext cx="22098001" cy="914400"/>
          </a:xfrm>
          <a:prstGeom prst="rect">
            <a:avLst/>
          </a:prstGeom>
          <a:ln w="12700"/>
        </p:spPr>
        <p:txBody>
          <a:bodyPr lIns="50800" tIns="50800" rIns="50800" bIns="50800">
            <a:spAutoFit/>
          </a:bodyPr>
          <a:lstStyle/>
          <a:p>
            <a:pPr defTabSz="825500">
              <a:lnSpc>
                <a:spcPct val="90000"/>
              </a:lnSpc>
              <a:defRPr spc="-136" sz="6800">
                <a:latin typeface="+mn-lt"/>
                <a:ea typeface="+mn-ea"/>
                <a:cs typeface="+mn-cs"/>
                <a:sym typeface="Helvetica Neue"/>
              </a:defRPr>
            </a:pPr>
          </a:p>
        </p:txBody>
      </p:sp>
      <p:sp>
        <p:nvSpPr>
          <p:cNvPr id="21" name="Title Text"/>
          <p:cNvSpPr/>
          <p:nvPr>
            <p:ph type="title"/>
          </p:nvPr>
        </p:nvSpPr>
        <p:spPr>
          <a:xfrm>
            <a:off x="1155700" y="0"/>
            <a:ext cx="22098000" cy="2057400"/>
          </a:xfrm>
          <a:prstGeom prst="rect">
            <a:avLst/>
          </a:prstGeom>
          <a:ln w="12700"/>
        </p:spPr>
        <p:txBody>
          <a:bodyPr lIns="50800" tIns="50800" rIns="50800" bIns="50800" anchor="b"/>
          <a:lstStyle>
            <a:lvl1pPr defTabSz="825500">
              <a:lnSpc>
                <a:spcPts val="7300"/>
              </a:lnSpc>
              <a:spcBef>
                <a:spcPts val="0"/>
              </a:spcBef>
              <a:defRPr b="1" spc="-136" sz="6800">
                <a:latin typeface="+mn-lt"/>
                <a:ea typeface="+mn-ea"/>
                <a:cs typeface="+mn-cs"/>
                <a:sym typeface="Helvetica Neue"/>
              </a:defRPr>
            </a:lvl1pPr>
          </a:lstStyle>
          <a:p>
            <a:pPr/>
            <a:r>
              <a:t>Title Text</a:t>
            </a:r>
          </a:p>
        </p:txBody>
      </p:sp>
      <p:sp>
        <p:nvSpPr>
          <p:cNvPr id="22" name="Body Level One…"/>
          <p:cNvSpPr/>
          <p:nvPr>
            <p:ph type="body" idx="1"/>
          </p:nvPr>
        </p:nvSpPr>
        <p:spPr>
          <a:xfrm>
            <a:off x="1143000" y="3911600"/>
            <a:ext cx="22098000" cy="9118600"/>
          </a:xfrm>
          <a:prstGeom prst="rect">
            <a:avLst/>
          </a:prstGeom>
          <a:ln w="12700"/>
        </p:spPr>
        <p:txBody>
          <a:bodyPr lIns="50800" tIns="50800" rIns="50800" bIns="50800"/>
          <a:lstStyle>
            <a:lvl1pPr marL="317500" indent="-317500" defTabSz="914400">
              <a:lnSpc>
                <a:spcPct val="100000"/>
              </a:lnSpc>
              <a:spcBef>
                <a:spcPts val="2800"/>
              </a:spcBef>
              <a:buSzPct val="90000"/>
              <a:buChar char="•"/>
              <a:defRPr spc="-48" sz="4800">
                <a:latin typeface="+mn-lt"/>
                <a:ea typeface="+mn-ea"/>
                <a:cs typeface="+mn-cs"/>
                <a:sym typeface="Helvetica Neue"/>
              </a:defRPr>
            </a:lvl1pPr>
            <a:lvl2pPr marL="635000" indent="-304800" defTabSz="914400">
              <a:lnSpc>
                <a:spcPct val="100000"/>
              </a:lnSpc>
              <a:spcBef>
                <a:spcPts val="2800"/>
              </a:spcBef>
              <a:buSzPct val="80000"/>
              <a:buChar char="-"/>
              <a:defRPr spc="-48" sz="4800">
                <a:latin typeface="+mn-lt"/>
                <a:ea typeface="+mn-ea"/>
                <a:cs typeface="+mn-cs"/>
                <a:sym typeface="Helvetica Neue"/>
              </a:defRPr>
            </a:lvl2pPr>
            <a:lvl3pPr marL="947419" indent="-299719" defTabSz="914400">
              <a:lnSpc>
                <a:spcPct val="100000"/>
              </a:lnSpc>
              <a:spcBef>
                <a:spcPts val="2800"/>
              </a:spcBef>
              <a:buSzPct val="80000"/>
              <a:buChar char="-"/>
              <a:defRPr spc="-48" sz="4800">
                <a:latin typeface="+mn-lt"/>
                <a:ea typeface="+mn-ea"/>
                <a:cs typeface="+mn-cs"/>
                <a:sym typeface="Helvetica Neue"/>
              </a:defRPr>
            </a:lvl3pPr>
            <a:lvl4pPr marL="1252219" indent="-287019" defTabSz="914400">
              <a:lnSpc>
                <a:spcPct val="100000"/>
              </a:lnSpc>
              <a:spcBef>
                <a:spcPts val="2800"/>
              </a:spcBef>
              <a:buSzPct val="80000"/>
              <a:buChar char="-"/>
              <a:defRPr spc="-48" sz="4800">
                <a:latin typeface="+mn-lt"/>
                <a:ea typeface="+mn-ea"/>
                <a:cs typeface="+mn-cs"/>
                <a:sym typeface="Helvetica Neue"/>
              </a:defRPr>
            </a:lvl4pPr>
            <a:lvl5pPr marL="1550669" indent="-280669" defTabSz="914400">
              <a:lnSpc>
                <a:spcPct val="100000"/>
              </a:lnSpc>
              <a:spcBef>
                <a:spcPts val="2800"/>
              </a:spcBef>
              <a:buSzPct val="80000"/>
              <a:buChar char="-"/>
              <a:defRPr spc="-48" sz="4800">
                <a:latin typeface="+mn-lt"/>
                <a:ea typeface="+mn-ea"/>
                <a:cs typeface="+mn-cs"/>
                <a:sym typeface="Helvetica Neue"/>
              </a:defRPr>
            </a:lvl5pPr>
          </a:lstStyle>
          <a:p>
            <a:pPr/>
            <a:r>
              <a:t>Body Level One</a:t>
            </a:r>
          </a:p>
          <a:p>
            <a:pPr lvl="1"/>
            <a:r>
              <a:t>Body Level Two</a:t>
            </a:r>
          </a:p>
          <a:p>
            <a:pPr lvl="2"/>
            <a:r>
              <a:t>Body Level Three</a:t>
            </a:r>
          </a:p>
          <a:p>
            <a:pPr lvl="3"/>
            <a:r>
              <a:t>Body Level Four</a:t>
            </a:r>
          </a:p>
          <a:p>
            <a:pPr lvl="4"/>
            <a:r>
              <a:t>Body Level Five</a:t>
            </a:r>
          </a:p>
        </p:txBody>
      </p:sp>
      <p:sp>
        <p:nvSpPr>
          <p:cNvPr id="23" name="Slide Number"/>
          <p:cNvSpPr/>
          <p:nvPr>
            <p:ph type="sldNum" sz="quarter" idx="2"/>
          </p:nvPr>
        </p:nvSpPr>
        <p:spPr>
          <a:xfrm>
            <a:off x="23963891" y="13042900"/>
            <a:ext cx="326137" cy="312167"/>
          </a:xfrm>
          <a:prstGeom prst="rect">
            <a:avLst/>
          </a:prstGeom>
          <a:ln w="12700"/>
        </p:spPr>
        <p:txBody>
          <a:bodyPr lIns="50800" tIns="50800" rIns="50800" bIns="50800"/>
          <a:lstStyle>
            <a:lvl1pPr algn="r">
              <a:lnSpc>
                <a:spcPct val="100000"/>
              </a:lnSpc>
              <a:spcBef>
                <a:spcPts val="0"/>
              </a:spcBef>
              <a:tabLst>
                <a:tab pos="914400" algn="l"/>
              </a:tabLst>
              <a:defRPr sz="1500">
                <a:solidFill>
                  <a:srgbClr val="87939D"/>
                </a:solidFill>
                <a:latin typeface="+mn-lt"/>
                <a:ea typeface="+mn-ea"/>
                <a:cs typeface="+mn-cs"/>
                <a:sym typeface="Helvetica Neue"/>
              </a:defRPr>
            </a:lvl1pPr>
          </a:lstStyle>
          <a:p>
            <a:pPr defTabSz="914400"/>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s-Only">
    <p:bg>
      <p:bgPr>
        <a:solidFill>
          <a:srgbClr val="000000"/>
        </a:solidFill>
      </p:bgPr>
    </p:bg>
    <p:spTree>
      <p:nvGrpSpPr>
        <p:cNvPr id="1" name=""/>
        <p:cNvGrpSpPr/>
        <p:nvPr/>
      </p:nvGrpSpPr>
      <p:grpSpPr>
        <a:xfrm>
          <a:off x="0" y="0"/>
          <a:ext cx="0" cy="0"/>
          <a:chOff x="0" y="0"/>
          <a:chExt cx="0" cy="0"/>
        </a:xfrm>
      </p:grpSpPr>
      <p:sp>
        <p:nvSpPr>
          <p:cNvPr id="30" name="Text"/>
          <p:cNvSpPr/>
          <p:nvPr>
            <p:ph type="body" sz="quarter" idx="21"/>
          </p:nvPr>
        </p:nvSpPr>
        <p:spPr>
          <a:xfrm>
            <a:off x="214165" y="13373100"/>
            <a:ext cx="19291301" cy="228600"/>
          </a:xfrm>
          <a:prstGeom prst="rect">
            <a:avLst/>
          </a:prstGeom>
          <a:ln w="12700"/>
        </p:spPr>
        <p:txBody>
          <a:bodyPr lIns="0" tIns="0" rIns="0" bIns="0" anchor="b">
            <a:spAutoFit/>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31" name="Text"/>
          <p:cNvSpPr/>
          <p:nvPr>
            <p:ph type="body" sz="quarter" idx="22"/>
          </p:nvPr>
        </p:nvSpPr>
        <p:spPr>
          <a:xfrm>
            <a:off x="1140172" y="2057400"/>
            <a:ext cx="22098001" cy="914400"/>
          </a:xfrm>
          <a:prstGeom prst="rect">
            <a:avLst/>
          </a:prstGeom>
          <a:ln w="12700"/>
        </p:spPr>
        <p:txBody>
          <a:bodyPr lIns="50800" tIns="50800" rIns="50800" bIns="50800">
            <a:spAutoFit/>
          </a:bodyPr>
          <a:lstStyle/>
          <a:p>
            <a:pPr defTabSz="825500">
              <a:lnSpc>
                <a:spcPct val="90000"/>
              </a:lnSpc>
              <a:defRPr spc="-136" sz="6800">
                <a:latin typeface="+mn-lt"/>
                <a:ea typeface="+mn-ea"/>
                <a:cs typeface="+mn-cs"/>
                <a:sym typeface="Helvetica Neue"/>
              </a:defRPr>
            </a:pPr>
          </a:p>
        </p:txBody>
      </p:sp>
      <p:sp>
        <p:nvSpPr>
          <p:cNvPr id="32" name="Title Text"/>
          <p:cNvSpPr/>
          <p:nvPr>
            <p:ph type="title"/>
          </p:nvPr>
        </p:nvSpPr>
        <p:spPr>
          <a:xfrm>
            <a:off x="1155700" y="0"/>
            <a:ext cx="22098000" cy="2057400"/>
          </a:xfrm>
          <a:prstGeom prst="rect">
            <a:avLst/>
          </a:prstGeom>
          <a:ln w="12700"/>
        </p:spPr>
        <p:txBody>
          <a:bodyPr lIns="50800" tIns="50800" rIns="50800" bIns="50800" anchor="b"/>
          <a:lstStyle>
            <a:lvl1pPr defTabSz="825500">
              <a:lnSpc>
                <a:spcPts val="7300"/>
              </a:lnSpc>
              <a:spcBef>
                <a:spcPts val="0"/>
              </a:spcBef>
              <a:defRPr b="1" spc="-136" sz="6800">
                <a:latin typeface="+mn-lt"/>
                <a:ea typeface="+mn-ea"/>
                <a:cs typeface="+mn-cs"/>
                <a:sym typeface="Helvetica Neue"/>
              </a:defRPr>
            </a:lvl1pPr>
          </a:lstStyle>
          <a:p>
            <a:pPr/>
            <a:r>
              <a:t>Title Text</a:t>
            </a:r>
          </a:p>
        </p:txBody>
      </p:sp>
      <p:sp>
        <p:nvSpPr>
          <p:cNvPr id="33" name="Slide Number"/>
          <p:cNvSpPr/>
          <p:nvPr>
            <p:ph type="sldNum" sz="quarter" idx="2"/>
          </p:nvPr>
        </p:nvSpPr>
        <p:spPr>
          <a:xfrm>
            <a:off x="23963891" y="13042900"/>
            <a:ext cx="326137" cy="312167"/>
          </a:xfrm>
          <a:prstGeom prst="rect">
            <a:avLst/>
          </a:prstGeom>
          <a:ln w="12700"/>
        </p:spPr>
        <p:txBody>
          <a:bodyPr lIns="50800" tIns="50800" rIns="50800" bIns="50800"/>
          <a:lstStyle>
            <a:lvl1pPr algn="r">
              <a:lnSpc>
                <a:spcPct val="100000"/>
              </a:lnSpc>
              <a:spcBef>
                <a:spcPts val="0"/>
              </a:spcBef>
              <a:tabLst>
                <a:tab pos="914400" algn="l"/>
              </a:tabLst>
              <a:defRPr sz="1500">
                <a:solidFill>
                  <a:srgbClr val="87939D"/>
                </a:solidFill>
                <a:latin typeface="+mn-lt"/>
                <a:ea typeface="+mn-ea"/>
                <a:cs typeface="+mn-cs"/>
                <a:sym typeface="Helvetica Neue"/>
              </a:defRPr>
            </a:lvl1pPr>
          </a:lstStyle>
          <a:p>
            <a:pPr defTabSz="914400"/>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bg>
      <p:bgPr>
        <a:solidFill>
          <a:srgbClr val="000000"/>
        </a:solidFill>
      </p:bgPr>
    </p:bg>
    <p:spTree>
      <p:nvGrpSpPr>
        <p:cNvPr id="1" name=""/>
        <p:cNvGrpSpPr/>
        <p:nvPr/>
      </p:nvGrpSpPr>
      <p:grpSpPr>
        <a:xfrm>
          <a:off x="0" y="0"/>
          <a:ext cx="0" cy="0"/>
          <a:chOff x="0" y="0"/>
          <a:chExt cx="0" cy="0"/>
        </a:xfrm>
      </p:grpSpPr>
      <p:sp>
        <p:nvSpPr>
          <p:cNvPr id="40" name="Text"/>
          <p:cNvSpPr/>
          <p:nvPr>
            <p:ph type="body" sz="quarter" idx="21"/>
          </p:nvPr>
        </p:nvSpPr>
        <p:spPr>
          <a:xfrm>
            <a:off x="214165" y="13373100"/>
            <a:ext cx="19291301" cy="228600"/>
          </a:xfrm>
          <a:prstGeom prst="rect">
            <a:avLst/>
          </a:prstGeom>
          <a:ln w="12700"/>
        </p:spPr>
        <p:txBody>
          <a:bodyPr lIns="0" tIns="0" rIns="0" bIns="0" anchor="b">
            <a:spAutoFit/>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41" name="Slide Number"/>
          <p:cNvSpPr/>
          <p:nvPr>
            <p:ph type="sldNum" sz="quarter" idx="2"/>
          </p:nvPr>
        </p:nvSpPr>
        <p:spPr>
          <a:xfrm>
            <a:off x="23963891" y="13042900"/>
            <a:ext cx="326137" cy="312167"/>
          </a:xfrm>
          <a:prstGeom prst="rect">
            <a:avLst/>
          </a:prstGeom>
          <a:ln w="12700"/>
        </p:spPr>
        <p:txBody>
          <a:bodyPr lIns="50800" tIns="50800" rIns="50800" bIns="50800"/>
          <a:lstStyle>
            <a:lvl1pPr algn="r">
              <a:lnSpc>
                <a:spcPct val="100000"/>
              </a:lnSpc>
              <a:spcBef>
                <a:spcPts val="0"/>
              </a:spcBef>
              <a:tabLst>
                <a:tab pos="914400" algn="l"/>
              </a:tabLst>
              <a:defRPr sz="1500">
                <a:solidFill>
                  <a:srgbClr val="87939D"/>
                </a:solidFill>
                <a:latin typeface="+mn-lt"/>
                <a:ea typeface="+mn-ea"/>
                <a:cs typeface="+mn-cs"/>
                <a:sym typeface="Helvetica Neue"/>
              </a:defRPr>
            </a:lvl1pPr>
          </a:lstStyle>
          <a:p>
            <a:pPr defTabSz="914400"/>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ubtopic">
    <p:bg>
      <p:bgPr>
        <a:solidFill>
          <a:srgbClr val="000000"/>
        </a:solidFill>
      </p:bgPr>
    </p:bg>
    <p:spTree>
      <p:nvGrpSpPr>
        <p:cNvPr id="1" name=""/>
        <p:cNvGrpSpPr/>
        <p:nvPr/>
      </p:nvGrpSpPr>
      <p:grpSpPr>
        <a:xfrm>
          <a:off x="0" y="0"/>
          <a:ext cx="0" cy="0"/>
          <a:chOff x="0" y="0"/>
          <a:chExt cx="0" cy="0"/>
        </a:xfrm>
      </p:grpSpPr>
      <p:sp>
        <p:nvSpPr>
          <p:cNvPr id="48" name="Text"/>
          <p:cNvSpPr/>
          <p:nvPr>
            <p:ph type="body" sz="quarter" idx="21"/>
          </p:nvPr>
        </p:nvSpPr>
        <p:spPr>
          <a:xfrm>
            <a:off x="214165" y="13373100"/>
            <a:ext cx="19291301" cy="228600"/>
          </a:xfrm>
          <a:prstGeom prst="rect">
            <a:avLst/>
          </a:prstGeom>
          <a:ln w="12700"/>
        </p:spPr>
        <p:txBody>
          <a:bodyPr lIns="0" tIns="0" rIns="0" bIns="0" anchor="b">
            <a:spAutoFit/>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49" name="Title Text"/>
          <p:cNvSpPr/>
          <p:nvPr>
            <p:ph type="title"/>
          </p:nvPr>
        </p:nvSpPr>
        <p:spPr>
          <a:xfrm>
            <a:off x="1143000" y="2743200"/>
            <a:ext cx="22098000" cy="8229600"/>
          </a:xfrm>
          <a:prstGeom prst="rect">
            <a:avLst/>
          </a:prstGeom>
          <a:ln w="12700"/>
        </p:spPr>
        <p:txBody>
          <a:bodyPr lIns="50800" tIns="50800" rIns="50800" bIns="50800" anchor="ctr"/>
          <a:lstStyle>
            <a:lvl1pPr defTabSz="914400">
              <a:lnSpc>
                <a:spcPts val="11200"/>
              </a:lnSpc>
              <a:spcBef>
                <a:spcPts val="0"/>
              </a:spcBef>
              <a:defRPr b="1" spc="-200" sz="10000">
                <a:latin typeface="+mn-lt"/>
                <a:ea typeface="+mn-ea"/>
                <a:cs typeface="+mn-cs"/>
                <a:sym typeface="Helvetica Neue"/>
              </a:defRPr>
            </a:lvl1pPr>
          </a:lstStyle>
          <a:p>
            <a:pPr/>
            <a:r>
              <a:t>Title Text</a:t>
            </a:r>
          </a:p>
        </p:txBody>
      </p:sp>
      <p:sp>
        <p:nvSpPr>
          <p:cNvPr id="50" name="Slide Number"/>
          <p:cNvSpPr/>
          <p:nvPr>
            <p:ph type="sldNum" sz="quarter" idx="2"/>
          </p:nvPr>
        </p:nvSpPr>
        <p:spPr>
          <a:xfrm>
            <a:off x="23963891" y="13042900"/>
            <a:ext cx="326137" cy="312167"/>
          </a:xfrm>
          <a:prstGeom prst="rect">
            <a:avLst/>
          </a:prstGeom>
          <a:ln w="12700"/>
        </p:spPr>
        <p:txBody>
          <a:bodyPr lIns="50800" tIns="50800" rIns="50800" bIns="50800"/>
          <a:lstStyle>
            <a:lvl1pPr algn="r">
              <a:lnSpc>
                <a:spcPct val="100000"/>
              </a:lnSpc>
              <a:spcBef>
                <a:spcPts val="0"/>
              </a:spcBef>
              <a:tabLst>
                <a:tab pos="914400" algn="l"/>
              </a:tabLst>
              <a:defRPr sz="1500">
                <a:solidFill>
                  <a:srgbClr val="87939D"/>
                </a:solidFill>
                <a:latin typeface="+mn-lt"/>
                <a:ea typeface="+mn-ea"/>
                <a:cs typeface="+mn-cs"/>
                <a:sym typeface="Helvetica Neue"/>
              </a:defRPr>
            </a:lvl1pPr>
          </a:lstStyle>
          <a:p>
            <a:pPr defTabSz="914400"/>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losing">
    <p:bg>
      <p:bgPr>
        <a:solidFill>
          <a:srgbClr val="000000"/>
        </a:solidFill>
      </p:bgPr>
    </p:bg>
    <p:spTree>
      <p:nvGrpSpPr>
        <p:cNvPr id="1" name=""/>
        <p:cNvGrpSpPr/>
        <p:nvPr/>
      </p:nvGrpSpPr>
      <p:grpSpPr>
        <a:xfrm>
          <a:off x="0" y="0"/>
          <a:ext cx="0" cy="0"/>
          <a:chOff x="0" y="0"/>
          <a:chExt cx="0" cy="0"/>
        </a:xfrm>
      </p:grpSpPr>
      <p:sp>
        <p:nvSpPr>
          <p:cNvPr id="57" name="© 2021 Apple Inc.…"/>
          <p:cNvSpPr txBox="1"/>
          <p:nvPr/>
        </p:nvSpPr>
        <p:spPr>
          <a:xfrm>
            <a:off x="6628320" y="12982076"/>
            <a:ext cx="11127360" cy="553467"/>
          </a:xfrm>
          <a:prstGeom prst="rect">
            <a:avLst/>
          </a:prstGeom>
          <a:ln w="25400">
            <a:miter lim="400000"/>
          </a:ln>
          <a:extLst>
            <a:ext uri="{C572A759-6A51-4108-AA02-DFA0A04FC94B}">
              <ma14:wrappingTextBoxFlag xmlns:ma14="http://schemas.microsoft.com/office/mac/drawingml/2011/main" val="1"/>
            </a:ext>
          </a:extLst>
        </p:spPr>
        <p:txBody>
          <a:bodyPr wrap="none" lIns="63500" tIns="63500" rIns="63500" bIns="63500" anchor="ctr">
            <a:spAutoFit/>
          </a:bodyPr>
          <a:lstStyle/>
          <a:p>
            <a:pPr>
              <a:tabLst>
                <a:tab pos="1651000" algn="l"/>
              </a:tabLst>
              <a:defRPr sz="1500"/>
            </a:pPr>
            <a:r>
              <a:t>© 2021 Apple Inc. </a:t>
            </a:r>
          </a:p>
          <a:p>
            <a:pPr>
              <a:tabLst>
                <a:tab pos="1651000" algn="l"/>
              </a:tabLst>
              <a:defRPr sz="1500"/>
            </a:pPr>
            <a:r>
              <a:t>This work is licensed by Apple Inc. under the </a:t>
            </a:r>
            <a:r>
              <a:rPr>
                <a:hlinkClick r:id="rId2" invalidUrl="" action="" tgtFrame="" tooltip="" history="1" highlightClick="0" endSnd="0"/>
              </a:rPr>
              <a:t>Creative Commons Attribution-NonCommercial-ShareAlike 4.0 International</a:t>
            </a:r>
            <a:r>
              <a:t> license.</a:t>
            </a:r>
          </a:p>
        </p:txBody>
      </p:sp>
      <p:sp>
        <p:nvSpPr>
          <p:cNvPr id="58" name="Slide Number"/>
          <p:cNvSpPr/>
          <p:nvPr>
            <p:ph type="sldNum" sz="quarter" idx="2"/>
          </p:nvPr>
        </p:nvSpPr>
        <p:spPr>
          <a:xfrm>
            <a:off x="23963891" y="13335000"/>
            <a:ext cx="326137" cy="312167"/>
          </a:xfrm>
          <a:prstGeom prst="rect">
            <a:avLst/>
          </a:prstGeom>
          <a:ln w="12700"/>
        </p:spPr>
        <p:txBody>
          <a:bodyPr lIns="50800" tIns="50800" rIns="50800" bIns="50800"/>
          <a:lstStyle>
            <a:lvl1pPr algn="r">
              <a:lnSpc>
                <a:spcPct val="100000"/>
              </a:lnSpc>
              <a:spcBef>
                <a:spcPts val="0"/>
              </a:spcBef>
              <a:tabLst>
                <a:tab pos="914400" algn="l"/>
              </a:tabLst>
              <a:defRPr sz="1500">
                <a:solidFill>
                  <a:srgbClr val="87939D"/>
                </a:solidFill>
                <a:latin typeface="+mn-lt"/>
                <a:ea typeface="+mn-ea"/>
                <a:cs typeface="+mn-cs"/>
                <a:sym typeface="Helvetica Neue"/>
              </a:defRPr>
            </a:lvl1pPr>
          </a:lstStyle>
          <a:p>
            <a:pPr defTabSz="914400"/>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292B38"/>
        </a:solidFill>
      </p:bgPr>
    </p:bg>
    <p:spTree>
      <p:nvGrpSpPr>
        <p:cNvPr id="1" name=""/>
        <p:cNvGrpSpPr/>
        <p:nvPr/>
      </p:nvGrpSpPr>
      <p:grpSpPr>
        <a:xfrm>
          <a:off x="0" y="0"/>
          <a:ext cx="0" cy="0"/>
          <a:chOff x="0" y="0"/>
          <a:chExt cx="0" cy="0"/>
        </a:xfrm>
      </p:grpSpPr>
      <p:sp>
        <p:nvSpPr>
          <p:cNvPr id="2" name="Body Level One…"/>
          <p:cNvSpPr txBox="1"/>
          <p:nvPr>
            <p:ph type="body" idx="1"/>
          </p:nvPr>
        </p:nvSpPr>
        <p:spPr>
          <a:xfrm>
            <a:off x="1524000" y="604741"/>
            <a:ext cx="21336000" cy="13914262"/>
          </a:xfrm>
          <a:prstGeom prst="rect">
            <a:avLst/>
          </a:prstGeom>
          <a:ln w="25400">
            <a:miter lim="400000"/>
          </a:ln>
          <a:extLst>
            <a:ext uri="{C572A759-6A51-4108-AA02-DFA0A04FC94B}">
              <ma14:wrappingTextBoxFlag xmlns:ma14="http://schemas.microsoft.com/office/mac/drawingml/2011/main" val="1"/>
            </a:ext>
          </a:extLst>
        </p:spPr>
        <p:txBody>
          <a:bodyPr lIns="57150" tIns="57150" rIns="57150" bIns="57150"/>
          <a:lstStyle/>
          <a:p>
            <a:pPr/>
            <a:r>
              <a:t>Body Level One</a:t>
            </a:r>
          </a:p>
          <a:p>
            <a:pPr lvl="1"/>
            <a:r>
              <a:t>Body Level Two</a:t>
            </a:r>
          </a:p>
          <a:p>
            <a:pPr lvl="2"/>
            <a:r>
              <a:t>Body Level Three</a:t>
            </a:r>
          </a:p>
          <a:p>
            <a:pPr lvl="3"/>
            <a:r>
              <a:t>Body Level Four</a:t>
            </a:r>
          </a:p>
          <a:p>
            <a:pPr lvl="4"/>
            <a:r>
              <a:t>Body Level Five</a:t>
            </a:r>
          </a:p>
        </p:txBody>
      </p:sp>
      <p:sp>
        <p:nvSpPr>
          <p:cNvPr id="3" name="Title Text"/>
          <p:cNvSpPr txBox="1"/>
          <p:nvPr>
            <p:ph type="title"/>
          </p:nvPr>
        </p:nvSpPr>
        <p:spPr>
          <a:xfrm>
            <a:off x="1524000" y="762000"/>
            <a:ext cx="21336000" cy="1409700"/>
          </a:xfrm>
          <a:prstGeom prst="rect">
            <a:avLst/>
          </a:prstGeom>
          <a:ln w="25400">
            <a:miter lim="400000"/>
          </a:ln>
          <a:extLst>
            <a:ext uri="{C572A759-6A51-4108-AA02-DFA0A04FC94B}">
              <ma14:wrappingTextBoxFlag xmlns:ma14="http://schemas.microsoft.com/office/mac/drawingml/2011/main" val="1"/>
            </a:ext>
          </a:extLst>
        </p:spPr>
        <p:txBody>
          <a:bodyPr lIns="0" tIns="0" rIns="0" bIns="0"/>
          <a:lstStyle/>
          <a:p>
            <a:pPr/>
            <a:r>
              <a:t>Title Text</a:t>
            </a:r>
          </a:p>
        </p:txBody>
      </p:sp>
      <p:sp>
        <p:nvSpPr>
          <p:cNvPr id="4" name="Slide Number"/>
          <p:cNvSpPr txBox="1"/>
          <p:nvPr>
            <p:ph type="sldNum" sz="quarter" idx="2"/>
          </p:nvPr>
        </p:nvSpPr>
        <p:spPr>
          <a:xfrm>
            <a:off x="22776924" y="14414500"/>
            <a:ext cx="381204" cy="387070"/>
          </a:xfrm>
          <a:prstGeom prst="rect">
            <a:avLst/>
          </a:prstGeom>
          <a:ln w="25400">
            <a:miter lim="400000"/>
          </a:ln>
        </p:spPr>
        <p:txBody>
          <a:bodyPr wrap="none" lIns="57150" tIns="57150" rIns="57150" bIns="57150">
            <a:spAutoFit/>
          </a:bodyPr>
          <a:lstStyle>
            <a:lvl1pPr algn="l" defTabSz="822960">
              <a:lnSpc>
                <a:spcPct val="120000"/>
              </a:lnSpc>
              <a:spcBef>
                <a:spcPts val="1600"/>
              </a:spcBef>
              <a:defRPr sz="1800">
                <a:solidFill>
                  <a:srgbClr val="A6B0C0"/>
                </a:solidFill>
                <a:latin typeface="Helvetica Neue Thin"/>
                <a:ea typeface="Helvetica Neue Thin"/>
                <a:cs typeface="Helvetica Neue Thin"/>
                <a:sym typeface="Helvetica Neue Thin"/>
              </a:defRPr>
            </a:lvl1pPr>
          </a:lstStyle>
          <a:p>
            <a:pPr/>
            <a:fld id="{86CB4B4D-7CA3-9044-876B-883B54F8677D}" type="slidenum"/>
          </a:p>
        </p:txBody>
      </p:sp>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transition xmlns:p14="http://schemas.microsoft.com/office/powerpoint/2010/main" spd="med" advClick="1"/>
  <p:txStyles>
    <p:titleStyle>
      <a:lvl1pPr marL="0" marR="0" indent="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1pPr>
      <a:lvl2pPr marL="0" marR="0" indent="2286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2pPr>
      <a:lvl3pPr marL="0" marR="0" indent="4572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3pPr>
      <a:lvl4pPr marL="0" marR="0" indent="6858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4pPr>
      <a:lvl5pPr marL="0" marR="0" indent="9144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5pPr>
      <a:lvl6pPr marL="0" marR="0" indent="11430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6pPr>
      <a:lvl7pPr marL="0" marR="0" indent="13716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7pPr>
      <a:lvl8pPr marL="0" marR="0" indent="16002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8pPr>
      <a:lvl9pPr marL="0" marR="0" indent="18288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9pPr>
    </p:titleStyle>
    <p:bodyStyle>
      <a:lvl1pPr marL="0" marR="0" indent="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1pPr>
      <a:lvl2pPr marL="0" marR="0" indent="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2pPr>
      <a:lvl3pPr marL="0" marR="0" indent="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3pPr>
      <a:lvl4pPr marL="0" marR="0" indent="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4pPr>
      <a:lvl5pPr marL="0" marR="0" indent="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5pPr>
      <a:lvl6pPr marL="0" marR="0" indent="114300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6pPr>
      <a:lvl7pPr marL="0" marR="0" indent="137160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7pPr>
      <a:lvl8pPr marL="0" marR="0" indent="160020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8pPr>
      <a:lvl9pPr marL="0" marR="0" indent="182880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9pPr>
    </p:bodyStyle>
    <p:otherStyle>
      <a:lvl1pPr marL="0" marR="0" indent="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1pPr>
      <a:lvl2pPr marL="0" marR="0" indent="2286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2pPr>
      <a:lvl3pPr marL="0" marR="0" indent="4572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3pPr>
      <a:lvl4pPr marL="0" marR="0" indent="6858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4pPr>
      <a:lvl5pPr marL="0" marR="0" indent="9144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5pPr>
      <a:lvl6pPr marL="0" marR="0" indent="11430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6pPr>
      <a:lvl7pPr marL="0" marR="0" indent="13716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7pPr>
      <a:lvl8pPr marL="0" marR="0" indent="16002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8pPr>
      <a:lvl9pPr marL="0" marR="0" indent="18288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68" name="Unit 2—Lesson 1:…"/>
          <p:cNvSpPr/>
          <p:nvPr>
            <p:ph type="title"/>
          </p:nvPr>
        </p:nvSpPr>
        <p:spPr>
          <a:prstGeom prst="rect">
            <a:avLst/>
          </a:prstGeom>
        </p:spPr>
        <p:txBody>
          <a:bodyPr/>
          <a:lstStyle/>
          <a:p>
            <a:pPr/>
            <a:r>
              <a:t>Unit 2—Lesson 1:</a:t>
            </a:r>
          </a:p>
          <a:p>
            <a:pPr/>
            <a:r>
              <a:t>Strings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 name="Rectangle"/>
          <p:cNvSpPr/>
          <p:nvPr/>
        </p:nvSpPr>
        <p:spPr>
          <a:xfrm>
            <a:off x="761517" y="5922019"/>
            <a:ext cx="22860966" cy="3202450"/>
          </a:xfrm>
          <a:prstGeom prst="rect">
            <a:avLst/>
          </a:prstGeom>
          <a:solidFill>
            <a:srgbClr val="292B38"/>
          </a:solidFill>
          <a:ln w="25400">
            <a:miter lim="400000"/>
          </a:ln>
        </p:spPr>
        <p:txBody>
          <a:bodyPr lIns="63500" tIns="63500" rIns="63500" bIns="63500" anchor="ctr"/>
          <a:lstStyle/>
          <a:p>
            <a:pPr/>
          </a:p>
        </p:txBody>
      </p:sp>
      <p:sp>
        <p:nvSpPr>
          <p:cNvPr id="73" name="Rectangle"/>
          <p:cNvSpPr/>
          <p:nvPr/>
        </p:nvSpPr>
        <p:spPr>
          <a:xfrm>
            <a:off x="774217" y="9751441"/>
            <a:ext cx="22860966" cy="1409921"/>
          </a:xfrm>
          <a:prstGeom prst="rect">
            <a:avLst/>
          </a:prstGeom>
          <a:solidFill>
            <a:srgbClr val="292B38"/>
          </a:solidFill>
          <a:ln w="25400">
            <a:miter lim="400000"/>
          </a:ln>
        </p:spPr>
        <p:txBody>
          <a:bodyPr lIns="63500" tIns="63500" rIns="63500" bIns="63500" anchor="ctr"/>
          <a:lstStyle/>
          <a:p>
            <a:pPr/>
          </a:p>
        </p:txBody>
      </p:sp>
      <p:sp>
        <p:nvSpPr>
          <p:cNvPr id="74"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75" name="Rectangle"/>
          <p:cNvSpPr/>
          <p:nvPr/>
        </p:nvSpPr>
        <p:spPr>
          <a:xfrm>
            <a:off x="761517" y="3898900"/>
            <a:ext cx="22860968" cy="1524000"/>
          </a:xfrm>
          <a:prstGeom prst="rect">
            <a:avLst/>
          </a:prstGeom>
          <a:solidFill>
            <a:srgbClr val="292B38"/>
          </a:solidFill>
          <a:ln w="25400">
            <a:miter lim="400000"/>
          </a:ln>
        </p:spPr>
        <p:txBody>
          <a:bodyPr lIns="63500" tIns="63500" rIns="63500" bIns="63500" anchor="ctr"/>
          <a:lstStyle/>
          <a:p>
            <a:pPr/>
          </a:p>
        </p:txBody>
      </p:sp>
      <p:sp>
        <p:nvSpPr>
          <p:cNvPr id="76" name="Strings"/>
          <p:cNvSpPr/>
          <p:nvPr>
            <p:ph type="title"/>
          </p:nvPr>
        </p:nvSpPr>
        <p:spPr>
          <a:prstGeom prst="rect">
            <a:avLst/>
          </a:prstGeom>
        </p:spPr>
        <p:txBody>
          <a:bodyPr/>
          <a:lstStyle/>
          <a:p>
            <a:pPr/>
            <a:r>
              <a:t>Strings</a:t>
            </a:r>
          </a:p>
        </p:txBody>
      </p:sp>
      <p:sp>
        <p:nvSpPr>
          <p:cNvPr id="77" name="let greeting = &quot;Hello&quot;…"/>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greeting = </a:t>
            </a:r>
            <a:r>
              <a:rPr>
                <a:solidFill>
                  <a:srgbClr val="F95B57"/>
                </a:solidFill>
              </a:rPr>
              <a:t>"Hello"</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var</a:t>
            </a:r>
            <a:r>
              <a:t> otherGreeting = </a:t>
            </a:r>
            <a:r>
              <a:rPr>
                <a:solidFill>
                  <a:srgbClr val="F95B57"/>
                </a:solidFill>
              </a:rPr>
              <a:t>"Salutations"</a:t>
            </a:r>
            <a:endParaRPr>
              <a:solidFill>
                <a:srgbClr val="F95B57"/>
              </a:solidFill>
            </a:endParaRPr>
          </a:p>
          <a:p>
            <a:pPr marL="0" indent="0" defTabSz="822960">
              <a:lnSpc>
                <a:spcPts val="5000"/>
              </a:lnSpc>
              <a:spcBef>
                <a:spcPts val="0"/>
              </a:spcBef>
              <a:buSzTx/>
              <a:buNone/>
              <a:defRPr spc="0" sz="3000">
                <a:latin typeface="Menlo Regular"/>
                <a:ea typeface="Menlo Regular"/>
                <a:cs typeface="Menlo Regular"/>
                <a:sym typeface="Menlo Regular"/>
              </a:defRPr>
            </a:pPr>
            <a:endParaRPr>
              <a:solidFill>
                <a:srgbClr val="F95B57"/>
              </a:solidFill>
            </a:endParaR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joke = </a:t>
            </a:r>
            <a:r>
              <a:rPr>
                <a:solidFill>
                  <a:srgbClr val="F95B57"/>
                </a:solidFill>
              </a:rPr>
              <a:t>"""</a:t>
            </a:r>
            <a:endParaRPr>
              <a:solidFill>
                <a:srgbClr val="F95B57"/>
              </a:solidFill>
            </a:endParaR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F95B57"/>
                </a:solidFill>
              </a:rPr>
              <a:t>  Q: Why did the chicken cross the road?</a:t>
            </a:r>
            <a:endParaRPr>
              <a:solidFill>
                <a:srgbClr val="F95B57"/>
              </a:solidFill>
            </a:endParaR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F95B57"/>
                </a:solidFill>
              </a:rPr>
              <a:t>  A: To get to the other side!</a:t>
            </a:r>
            <a:endParaRPr>
              <a:solidFill>
                <a:srgbClr val="F95B57"/>
              </a:solidFill>
            </a:endParaR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F95B57"/>
                </a:solidFill>
              </a:rPr>
              <a:t>  """</a:t>
            </a:r>
          </a:p>
          <a:p>
            <a:pPr marL="0" indent="0" defTabSz="822960">
              <a:lnSpc>
                <a:spcPts val="5000"/>
              </a:lnSpc>
              <a:spcBef>
                <a:spcPts val="0"/>
              </a:spcBef>
              <a:buSzTx/>
              <a:buNone/>
              <a:defRPr spc="0" sz="3000">
                <a:latin typeface="Menlo Regular"/>
                <a:ea typeface="Menlo Regular"/>
                <a:cs typeface="Menlo Regular"/>
                <a:sym typeface="Menlo Regular"/>
              </a:defRPr>
            </a:pPr>
            <a:r>
              <a:t>print(joke)</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Q: Why did the chicken cross the road?</a:t>
            </a:r>
          </a:p>
          <a:p>
            <a:pPr marL="0" indent="0" defTabSz="822960">
              <a:lnSpc>
                <a:spcPts val="5000"/>
              </a:lnSpc>
              <a:spcBef>
                <a:spcPts val="0"/>
              </a:spcBef>
              <a:buSzTx/>
              <a:buNone/>
              <a:defRPr spc="0" sz="3000">
                <a:latin typeface="Menlo Regular"/>
                <a:ea typeface="Menlo Regular"/>
                <a:cs typeface="Menlo Regular"/>
                <a:sym typeface="Menlo Regular"/>
              </a:defRPr>
            </a:pPr>
            <a:r>
              <a:t>A: To get to the other side!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1"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82" name="Escaping"/>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Escaping</a:t>
            </a:r>
          </a:p>
        </p:txBody>
      </p:sp>
      <p:sp>
        <p:nvSpPr>
          <p:cNvPr id="83" name="Rectangle"/>
          <p:cNvSpPr/>
          <p:nvPr/>
        </p:nvSpPr>
        <p:spPr>
          <a:xfrm>
            <a:off x="761517" y="3898900"/>
            <a:ext cx="22860968" cy="800100"/>
          </a:xfrm>
          <a:prstGeom prst="rect">
            <a:avLst/>
          </a:prstGeom>
          <a:solidFill>
            <a:srgbClr val="292B38"/>
          </a:solidFill>
          <a:ln w="25400">
            <a:miter lim="400000"/>
          </a:ln>
        </p:spPr>
        <p:txBody>
          <a:bodyPr lIns="63500" tIns="63500" rIns="63500" bIns="63500" anchor="ctr"/>
          <a:lstStyle/>
          <a:p>
            <a:pPr/>
          </a:p>
        </p:txBody>
      </p:sp>
      <p:sp>
        <p:nvSpPr>
          <p:cNvPr id="84" name="String basics"/>
          <p:cNvSpPr/>
          <p:nvPr>
            <p:ph type="title"/>
          </p:nvPr>
        </p:nvSpPr>
        <p:spPr>
          <a:prstGeom prst="rect">
            <a:avLst/>
          </a:prstGeom>
        </p:spPr>
        <p:txBody>
          <a:bodyPr/>
          <a:lstStyle/>
          <a:p>
            <a:pPr/>
            <a:r>
              <a:t>String basics</a:t>
            </a:r>
          </a:p>
        </p:txBody>
      </p:sp>
      <p:sp>
        <p:nvSpPr>
          <p:cNvPr id="85" name="Rectangle"/>
          <p:cNvSpPr/>
          <p:nvPr/>
        </p:nvSpPr>
        <p:spPr>
          <a:xfrm>
            <a:off x="14482574" y="4009086"/>
            <a:ext cx="452513" cy="613046"/>
          </a:xfrm>
          <a:prstGeom prst="rect">
            <a:avLst/>
          </a:prstGeom>
          <a:solidFill>
            <a:srgbClr val="34435A"/>
          </a:solidFill>
          <a:ln w="12700">
            <a:solidFill>
              <a:srgbClr val="505A7A"/>
            </a:solidFill>
            <a:miter lim="400000"/>
          </a:ln>
          <a:effectLst>
            <a:outerShdw sx="100000" sy="100000" kx="0" ky="0" algn="b" rotWithShape="0" blurRad="63500" dist="25400" dir="5400000">
              <a:srgbClr val="000000">
                <a:alpha val="50000"/>
              </a:srgbClr>
            </a:outerShdw>
          </a:effectLst>
        </p:spPr>
        <p:txBody>
          <a:bodyPr lIns="63500" tIns="63500" rIns="63500" bIns="63500" anchor="ctr"/>
          <a:lstStyle/>
          <a:p>
            <a:pPr/>
          </a:p>
        </p:txBody>
      </p:sp>
      <p:sp>
        <p:nvSpPr>
          <p:cNvPr id="86" name="Rectangle"/>
          <p:cNvSpPr/>
          <p:nvPr/>
        </p:nvSpPr>
        <p:spPr>
          <a:xfrm>
            <a:off x="17920837" y="4009086"/>
            <a:ext cx="452513" cy="613046"/>
          </a:xfrm>
          <a:prstGeom prst="rect">
            <a:avLst/>
          </a:prstGeom>
          <a:solidFill>
            <a:srgbClr val="34435A"/>
          </a:solidFill>
          <a:ln w="12700">
            <a:solidFill>
              <a:srgbClr val="505A7A"/>
            </a:solidFill>
            <a:miter lim="400000"/>
          </a:ln>
          <a:effectLst>
            <a:outerShdw sx="100000" sy="100000" kx="0" ky="0" algn="b" rotWithShape="0" blurRad="63500" dist="25400" dir="5400000">
              <a:srgbClr val="000000">
                <a:alpha val="50000"/>
              </a:srgbClr>
            </a:outerShdw>
          </a:effectLst>
        </p:spPr>
        <p:txBody>
          <a:bodyPr lIns="63500" tIns="63500" rIns="63500" bIns="63500" anchor="ctr"/>
          <a:lstStyle/>
          <a:p>
            <a:pPr/>
          </a:p>
        </p:txBody>
      </p:sp>
      <p:sp>
        <p:nvSpPr>
          <p:cNvPr id="87" name="let greeting = &quot;It is traditional in programming to print \&quot;Hello, world!\&quot;&quot;"/>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greeting = </a:t>
            </a:r>
            <a:r>
              <a:rPr>
                <a:solidFill>
                  <a:srgbClr val="F95B57"/>
                </a:solidFill>
              </a:rPr>
              <a:t>"It is traditional in programming to print </a:t>
            </a:r>
            <a:r>
              <a:t>\</a:t>
            </a:r>
            <a:r>
              <a:rPr>
                <a:solidFill>
                  <a:srgbClr val="F95B57"/>
                </a:solidFill>
              </a:rPr>
              <a:t>"Hello, world!</a:t>
            </a:r>
            <a:r>
              <a:t>\</a:t>
            </a:r>
            <a:r>
              <a:rPr>
                <a:solidFill>
                  <a:srgbClr val="F95B57"/>
                </a:solidFill>
              </a:rPr>
              <a:t>""</a:t>
            </a:r>
          </a:p>
        </p:txBody>
      </p:sp>
      <p:graphicFrame>
        <p:nvGraphicFramePr>
          <p:cNvPr id="88" name="Table 1"/>
          <p:cNvGraphicFramePr/>
          <p:nvPr/>
        </p:nvGraphicFramePr>
        <p:xfrm>
          <a:off x="4267956" y="6295595"/>
          <a:ext cx="17123414" cy="6696640"/>
        </p:xfrm>
        <a:graphic xmlns:a="http://schemas.openxmlformats.org/drawingml/2006/main">
          <a:graphicData uri="http://schemas.openxmlformats.org/drawingml/2006/table">
            <a:tbl>
              <a:tblPr firstCol="0" firstRow="1" lastCol="0" lastRow="0" bandCol="0" bandRow="0" rtl="0">
                <a:tableStyleId>{F588A230-0A83-4CEE-A58F-09D1D2841EB9}</a:tableStyleId>
              </a:tblPr>
              <a:tblGrid>
                <a:gridCol w="3104040"/>
                <a:gridCol w="12744045"/>
              </a:tblGrid>
              <a:tr h="1233749">
                <a:tc>
                  <a:txBody>
                    <a:bodyPr/>
                    <a:lstStyle/>
                    <a:p>
                      <a:pPr defTabSz="914400">
                        <a:lnSpc>
                          <a:spcPts val="3100"/>
                        </a:lnSpc>
                        <a:spcBef>
                          <a:spcPts val="0"/>
                        </a:spcBef>
                        <a:tabLst>
                          <a:tab pos="1651000" algn="l"/>
                        </a:tabLst>
                        <a:defRPr>
                          <a:solidFill>
                            <a:srgbClr val="000000"/>
                          </a:solidFill>
                        </a:defRPr>
                      </a:pPr>
                      <a:r>
                        <a:rPr sz="2600">
                          <a:solidFill>
                            <a:srgbClr val="FFFFFF"/>
                          </a:solidFill>
                          <a:sym typeface="Helvetica Neue"/>
                        </a:rPr>
                        <a:t>Escape</a:t>
                      </a:r>
                    </a:p>
                  </a:txBody>
                  <a:tcPr marL="76200" marR="76200" marT="76200" marB="76200" anchor="ctr" anchorCtr="0" horzOverflow="overflow">
                    <a:lnL w="12700">
                      <a:miter lim="400000"/>
                    </a:lnL>
                    <a:lnR w="0">
                      <a:miter lim="400000"/>
                    </a:lnR>
                  </a:tcPr>
                </a:tc>
                <a:tc>
                  <a:txBody>
                    <a:bodyPr/>
                    <a:lstStyle/>
                    <a:p>
                      <a:pPr defTabSz="914400">
                        <a:lnSpc>
                          <a:spcPts val="3100"/>
                        </a:lnSpc>
                        <a:spcBef>
                          <a:spcPts val="0"/>
                        </a:spcBef>
                        <a:tabLst>
                          <a:tab pos="1651000" algn="l"/>
                        </a:tabLst>
                        <a:defRPr>
                          <a:solidFill>
                            <a:srgbClr val="000000"/>
                          </a:solidFill>
                        </a:defRPr>
                      </a:pPr>
                      <a:r>
                        <a:rPr sz="2600">
                          <a:solidFill>
                            <a:srgbClr val="FFFFFF"/>
                          </a:solidFill>
                          <a:sym typeface="Helvetica Neue"/>
                        </a:rPr>
                        <a:t>Description</a:t>
                      </a:r>
                    </a:p>
                  </a:txBody>
                  <a:tcPr marL="76200" marR="76200" marT="76200" marB="76200" anchor="ctr" anchorCtr="0" horzOverflow="overflow">
                    <a:lnL w="0">
                      <a:miter lim="400000"/>
                    </a:lnL>
                    <a:lnR w="12700">
                      <a:miter lim="400000"/>
                    </a:lnR>
                  </a:tcPr>
                </a:tc>
              </a:tr>
              <a:tr h="1226581">
                <a:tc>
                  <a:txBody>
                    <a:bodyPr/>
                    <a:lstStyle/>
                    <a:p>
                      <a:pPr defTabSz="914400">
                        <a:lnSpc>
                          <a:spcPct val="100000"/>
                        </a:lnSpc>
                        <a:spcBef>
                          <a:spcPts val="0"/>
                        </a:spcBef>
                        <a:tabLst>
                          <a:tab pos="1651000" algn="l"/>
                        </a:tabLst>
                        <a:defRPr sz="2600">
                          <a:sym typeface="Helvetica Neue"/>
                        </a:defRPr>
                      </a:pPr>
                      <a:r>
                        <a:rPr sz="4200">
                          <a:latin typeface="Menlo Regular"/>
                          <a:ea typeface="Menlo Regular"/>
                          <a:cs typeface="Menlo Regular"/>
                          <a:sym typeface="Menlo Regular"/>
                        </a:rPr>
                        <a:t>\"</a:t>
                      </a:r>
                    </a:p>
                  </a:txBody>
                  <a:tcPr marL="76200" marR="76200" marT="76200" marB="76200" anchor="ctr" anchorCtr="0" horzOverflow="overflow">
                    <a:lnL w="12700">
                      <a:miter lim="400000"/>
                    </a:lnL>
                    <a:noFill/>
                  </a:tcPr>
                </a:tc>
                <a:tc>
                  <a:txBody>
                    <a:bodyPr/>
                    <a:lstStyle/>
                    <a:p>
                      <a:pPr defTabSz="914400">
                        <a:lnSpc>
                          <a:spcPct val="100000"/>
                        </a:lnSpc>
                        <a:spcBef>
                          <a:spcPts val="0"/>
                        </a:spcBef>
                        <a:defRPr>
                          <a:solidFill>
                            <a:srgbClr val="000000"/>
                          </a:solidFill>
                        </a:defRPr>
                      </a:pPr>
                      <a:r>
                        <a:rPr sz="2600">
                          <a:solidFill>
                            <a:srgbClr val="FFFFFF"/>
                          </a:solidFill>
                          <a:sym typeface="Helvetica Neue"/>
                        </a:rPr>
                        <a:t>Double quote</a:t>
                      </a:r>
                    </a:p>
                  </a:txBody>
                  <a:tcPr marL="76200" marR="76200" marT="76200" marB="76200" anchor="ctr" anchorCtr="0" horzOverflow="overflow">
                    <a:lnR w="12700">
                      <a:miter lim="400000"/>
                    </a:lnR>
                    <a:noFill/>
                  </a:tcPr>
                </a:tc>
              </a:tr>
              <a:tr h="1226581">
                <a:tc>
                  <a:txBody>
                    <a:bodyPr/>
                    <a:lstStyle/>
                    <a:p>
                      <a:pPr defTabSz="914400">
                        <a:lnSpc>
                          <a:spcPct val="100000"/>
                        </a:lnSpc>
                        <a:spcBef>
                          <a:spcPts val="0"/>
                        </a:spcBef>
                        <a:tabLst>
                          <a:tab pos="1651000" algn="l"/>
                        </a:tabLst>
                        <a:defRPr sz="2600">
                          <a:sym typeface="Helvetica Neue"/>
                        </a:defRPr>
                      </a:pPr>
                      <a:r>
                        <a:rPr sz="4200">
                          <a:latin typeface="Menlo Regular"/>
                          <a:ea typeface="Menlo Regular"/>
                          <a:cs typeface="Menlo Regular"/>
                          <a:sym typeface="Menlo Regular"/>
                        </a:rPr>
                        <a:t>\\</a:t>
                      </a:r>
                    </a:p>
                  </a:txBody>
                  <a:tcPr marL="76200" marR="76200" marT="76200" marB="76200" anchor="ctr" anchorCtr="0" horzOverflow="overflow">
                    <a:lnL w="12700">
                      <a:miter lim="400000"/>
                    </a:lnL>
                    <a:noFill/>
                  </a:tcPr>
                </a:tc>
                <a:tc>
                  <a:txBody>
                    <a:bodyPr/>
                    <a:lstStyle/>
                    <a:p>
                      <a:pPr defTabSz="914400">
                        <a:lnSpc>
                          <a:spcPct val="100000"/>
                        </a:lnSpc>
                        <a:spcBef>
                          <a:spcPts val="0"/>
                        </a:spcBef>
                        <a:defRPr>
                          <a:solidFill>
                            <a:srgbClr val="000000"/>
                          </a:solidFill>
                        </a:defRPr>
                      </a:pPr>
                      <a:r>
                        <a:rPr sz="2600">
                          <a:solidFill>
                            <a:srgbClr val="FFFFFF"/>
                          </a:solidFill>
                          <a:sym typeface="Helvetica Neue"/>
                        </a:rPr>
                        <a:t>Backslash</a:t>
                      </a:r>
                    </a:p>
                  </a:txBody>
                  <a:tcPr marL="76200" marR="76200" marT="76200" marB="76200" anchor="ctr" anchorCtr="0" horzOverflow="overflow">
                    <a:lnR w="12700">
                      <a:miter lim="400000"/>
                    </a:lnR>
                    <a:noFill/>
                  </a:tcPr>
                </a:tc>
              </a:tr>
              <a:tr h="1226581">
                <a:tc>
                  <a:txBody>
                    <a:bodyPr/>
                    <a:lstStyle/>
                    <a:p>
                      <a:pPr defTabSz="914400">
                        <a:lnSpc>
                          <a:spcPct val="100000"/>
                        </a:lnSpc>
                        <a:spcBef>
                          <a:spcPts val="0"/>
                        </a:spcBef>
                        <a:tabLst>
                          <a:tab pos="1651000" algn="l"/>
                        </a:tabLst>
                        <a:defRPr sz="2600">
                          <a:sym typeface="Helvetica Neue"/>
                        </a:defRPr>
                      </a:pPr>
                      <a:r>
                        <a:rPr sz="4200">
                          <a:latin typeface="Menlo Regular"/>
                          <a:ea typeface="Menlo Regular"/>
                          <a:cs typeface="Menlo Regular"/>
                          <a:sym typeface="Menlo Regular"/>
                        </a:rPr>
                        <a:t>\t</a:t>
                      </a:r>
                    </a:p>
                  </a:txBody>
                  <a:tcPr marL="76200" marR="76200" marT="76200" marB="76200" anchor="ctr" anchorCtr="0" horzOverflow="overflow">
                    <a:lnL w="12700">
                      <a:miter lim="400000"/>
                    </a:lnL>
                    <a:noFill/>
                  </a:tcPr>
                </a:tc>
                <a:tc>
                  <a:txBody>
                    <a:bodyPr/>
                    <a:lstStyle/>
                    <a:p>
                      <a:pPr defTabSz="914400">
                        <a:lnSpc>
                          <a:spcPct val="100000"/>
                        </a:lnSpc>
                        <a:spcBef>
                          <a:spcPts val="0"/>
                        </a:spcBef>
                        <a:defRPr>
                          <a:solidFill>
                            <a:srgbClr val="000000"/>
                          </a:solidFill>
                        </a:defRPr>
                      </a:pPr>
                      <a:r>
                        <a:rPr sz="2600">
                          <a:solidFill>
                            <a:srgbClr val="FFFFFF"/>
                          </a:solidFill>
                          <a:sym typeface="Helvetica Neue"/>
                        </a:rPr>
                        <a:t>Tab</a:t>
                      </a:r>
                    </a:p>
                  </a:txBody>
                  <a:tcPr marL="76200" marR="76200" marT="76200" marB="76200" anchor="ctr" anchorCtr="0" horzOverflow="overflow">
                    <a:lnR w="12700">
                      <a:miter lim="400000"/>
                    </a:lnR>
                    <a:noFill/>
                  </a:tcPr>
                </a:tc>
              </a:tr>
              <a:tr h="1226581">
                <a:tc>
                  <a:txBody>
                    <a:bodyPr/>
                    <a:lstStyle/>
                    <a:p>
                      <a:pPr defTabSz="914400">
                        <a:lnSpc>
                          <a:spcPct val="100000"/>
                        </a:lnSpc>
                        <a:spcBef>
                          <a:spcPts val="0"/>
                        </a:spcBef>
                        <a:tabLst>
                          <a:tab pos="1651000" algn="l"/>
                        </a:tabLst>
                        <a:defRPr sz="2600">
                          <a:sym typeface="Helvetica Neue"/>
                        </a:defRPr>
                      </a:pPr>
                      <a:r>
                        <a:rPr sz="4200">
                          <a:latin typeface="Menlo Regular"/>
                          <a:ea typeface="Menlo Regular"/>
                          <a:cs typeface="Menlo Regular"/>
                          <a:sym typeface="Menlo Regular"/>
                        </a:rPr>
                        <a:t>\r</a:t>
                      </a:r>
                    </a:p>
                  </a:txBody>
                  <a:tcPr marL="76200" marR="76200" marT="76200" marB="76200" anchor="ctr" anchorCtr="0" horzOverflow="overflow">
                    <a:lnL w="12700">
                      <a:miter lim="400000"/>
                    </a:lnL>
                    <a:noFill/>
                  </a:tcPr>
                </a:tc>
                <a:tc>
                  <a:txBody>
                    <a:bodyPr/>
                    <a:lstStyle/>
                    <a:p>
                      <a:pPr defTabSz="914400">
                        <a:lnSpc>
                          <a:spcPct val="100000"/>
                        </a:lnSpc>
                        <a:spcBef>
                          <a:spcPts val="0"/>
                        </a:spcBef>
                        <a:defRPr>
                          <a:solidFill>
                            <a:srgbClr val="000000"/>
                          </a:solidFill>
                        </a:defRPr>
                      </a:pPr>
                      <a:r>
                        <a:rPr sz="2600">
                          <a:solidFill>
                            <a:srgbClr val="FFFFFF"/>
                          </a:solidFill>
                          <a:sym typeface="Helvetica Neue"/>
                        </a:rPr>
                        <a:t>Carriage return (return to beginning of the next line)</a:t>
                      </a:r>
                    </a:p>
                  </a:txBody>
                  <a:tcPr marL="76200" marR="76200" marT="76200" marB="76200" anchor="ctr" anchorCtr="0" horzOverflow="overflow">
                    <a:lnR w="12700">
                      <a:miter lim="400000"/>
                    </a:lnR>
                    <a:noFill/>
                  </a:tcPr>
                </a:tc>
              </a:tr>
            </a:tbl>
          </a:graphicData>
        </a:graphic>
      </p:graphicFrame>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85"/>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6" grpId="2"/>
      <p:bldP build="whole" bldLvl="1" animBg="1" rev="0" advAuto="0" spid="85" grpId="1"/>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2"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93" name="Empty strings"/>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Empty strings</a:t>
            </a:r>
          </a:p>
        </p:txBody>
      </p:sp>
      <p:sp>
        <p:nvSpPr>
          <p:cNvPr id="94" name="Rectangle"/>
          <p:cNvSpPr/>
          <p:nvPr/>
        </p:nvSpPr>
        <p:spPr>
          <a:xfrm>
            <a:off x="761517" y="3898900"/>
            <a:ext cx="22860968" cy="3599120"/>
          </a:xfrm>
          <a:prstGeom prst="rect">
            <a:avLst/>
          </a:prstGeom>
          <a:solidFill>
            <a:srgbClr val="292B38"/>
          </a:solidFill>
          <a:ln w="25400">
            <a:miter lim="400000"/>
          </a:ln>
        </p:spPr>
        <p:txBody>
          <a:bodyPr lIns="63500" tIns="63500" rIns="63500" bIns="63500" anchor="ctr"/>
          <a:lstStyle/>
          <a:p>
            <a:pPr/>
          </a:p>
        </p:txBody>
      </p:sp>
      <p:sp>
        <p:nvSpPr>
          <p:cNvPr id="95" name="String basics"/>
          <p:cNvSpPr/>
          <p:nvPr>
            <p:ph type="title"/>
          </p:nvPr>
        </p:nvSpPr>
        <p:spPr>
          <a:prstGeom prst="rect">
            <a:avLst/>
          </a:prstGeom>
        </p:spPr>
        <p:txBody>
          <a:bodyPr/>
          <a:lstStyle/>
          <a:p>
            <a:pPr/>
            <a:r>
              <a:t>String basics</a:t>
            </a:r>
          </a:p>
        </p:txBody>
      </p:sp>
      <p:sp>
        <p:nvSpPr>
          <p:cNvPr id="96" name="Rectangle"/>
          <p:cNvSpPr/>
          <p:nvPr/>
        </p:nvSpPr>
        <p:spPr>
          <a:xfrm>
            <a:off x="3724373" y="5349187"/>
            <a:ext cx="1876571" cy="605653"/>
          </a:xfrm>
          <a:prstGeom prst="rect">
            <a:avLst/>
          </a:prstGeom>
          <a:solidFill>
            <a:srgbClr val="34435A"/>
          </a:solidFill>
          <a:ln w="12700">
            <a:solidFill>
              <a:srgbClr val="505A7A"/>
            </a:solidFill>
            <a:miter lim="400000"/>
          </a:ln>
          <a:effectLst>
            <a:outerShdw sx="100000" sy="100000" kx="0" ky="0" algn="b" rotWithShape="0" blurRad="63500" dist="25400" dir="5400000">
              <a:srgbClr val="000000">
                <a:alpha val="50000"/>
              </a:srgbClr>
            </a:outerShdw>
          </a:effectLst>
        </p:spPr>
        <p:txBody>
          <a:bodyPr lIns="63500" tIns="63500" rIns="63500" bIns="63500" anchor="ctr"/>
          <a:lstStyle/>
          <a:p>
            <a:pPr/>
          </a:p>
        </p:txBody>
      </p:sp>
      <p:sp>
        <p:nvSpPr>
          <p:cNvPr id="97" name="var myString = &quot;&quot;…"/>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var</a:t>
            </a:r>
            <a:r>
              <a:t> myString = </a:t>
            </a:r>
            <a:r>
              <a:rPr>
                <a:solidFill>
                  <a:srgbClr val="F95B57"/>
                </a:solidFill>
              </a:rP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if</a:t>
            </a:r>
            <a:r>
              <a:t> </a:t>
            </a:r>
            <a:r>
              <a:rPr>
                <a:solidFill>
                  <a:srgbClr val="6CCE66"/>
                </a:solidFill>
              </a:rPr>
              <a:t>myString</a:t>
            </a:r>
            <a:r>
              <a:t>.</a:t>
            </a:r>
            <a:r>
              <a:rPr>
                <a:solidFill>
                  <a:srgbClr val="6CCE66"/>
                </a:solidFill>
              </a:rPr>
              <a:t>isEmpty</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6CCE66"/>
                </a:solidFill>
              </a:rPr>
              <a:t>print</a:t>
            </a:r>
            <a:r>
              <a:t>(</a:t>
            </a:r>
            <a:r>
              <a:rPr>
                <a:solidFill>
                  <a:srgbClr val="F95B57"/>
                </a:solidFill>
              </a:rPr>
              <a:t>"The string is empty"</a:t>
            </a:r>
            <a:r>
              <a:t>)</a:t>
            </a:r>
          </a:p>
          <a:p>
            <a:pPr marL="0" indent="0" defTabSz="822960">
              <a:lnSpc>
                <a:spcPts val="5000"/>
              </a:lnSpc>
              <a:spcBef>
                <a:spcPts val="0"/>
              </a:spcBef>
              <a:buSzTx/>
              <a:buNone/>
              <a:defRPr spc="0" sz="3000">
                <a:latin typeface="Menlo Regular"/>
                <a:ea typeface="Menlo Regular"/>
                <a:cs typeface="Menlo Regular"/>
                <a:sym typeface="Menlo Regular"/>
              </a:defRPr>
            </a:pPr>
            <a:r>
              <a:t>}</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00" name="Characters"/>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Characters</a:t>
            </a:r>
          </a:p>
        </p:txBody>
      </p:sp>
      <p:sp>
        <p:nvSpPr>
          <p:cNvPr id="101" name="Rectangle"/>
          <p:cNvSpPr/>
          <p:nvPr/>
        </p:nvSpPr>
        <p:spPr>
          <a:xfrm>
            <a:off x="761517" y="3898900"/>
            <a:ext cx="22860968" cy="1524000"/>
          </a:xfrm>
          <a:prstGeom prst="rect">
            <a:avLst/>
          </a:prstGeom>
          <a:solidFill>
            <a:srgbClr val="292B38"/>
          </a:solidFill>
          <a:ln w="25400">
            <a:miter lim="400000"/>
          </a:ln>
        </p:spPr>
        <p:txBody>
          <a:bodyPr lIns="63500" tIns="63500" rIns="63500" bIns="63500" anchor="ctr"/>
          <a:lstStyle/>
          <a:p>
            <a:pPr/>
          </a:p>
        </p:txBody>
      </p:sp>
      <p:sp>
        <p:nvSpPr>
          <p:cNvPr id="102" name="String basics"/>
          <p:cNvSpPr/>
          <p:nvPr>
            <p:ph type="title"/>
          </p:nvPr>
        </p:nvSpPr>
        <p:spPr>
          <a:prstGeom prst="rect">
            <a:avLst/>
          </a:prstGeom>
        </p:spPr>
        <p:txBody>
          <a:bodyPr/>
          <a:lstStyle/>
          <a:p>
            <a:pPr/>
            <a:r>
              <a:t>String basics</a:t>
            </a:r>
          </a:p>
        </p:txBody>
      </p:sp>
      <p:sp>
        <p:nvSpPr>
          <p:cNvPr id="103" name="let a = &quot;a&quot; // 'a' is a string…"/>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a = </a:t>
            </a:r>
            <a:r>
              <a:rPr>
                <a:solidFill>
                  <a:srgbClr val="F95B57"/>
                </a:solidFill>
              </a:rPr>
              <a:t>"a"</a:t>
            </a:r>
            <a:r>
              <a:t> </a:t>
            </a:r>
            <a:r>
              <a:rPr>
                <a:solidFill>
                  <a:srgbClr val="979BB2"/>
                </a:solidFill>
              </a:rPr>
              <a:t>// 'a' is a string</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b: </a:t>
            </a:r>
            <a:r>
              <a:rPr>
                <a:solidFill>
                  <a:srgbClr val="6CCE66"/>
                </a:solidFill>
              </a:rPr>
              <a:t>Character</a:t>
            </a:r>
            <a:r>
              <a:t> = </a:t>
            </a:r>
            <a:r>
              <a:rPr>
                <a:solidFill>
                  <a:srgbClr val="F95B57"/>
                </a:solidFill>
              </a:rPr>
              <a:t>"b" </a:t>
            </a:r>
            <a:r>
              <a:rPr>
                <a:solidFill>
                  <a:srgbClr val="979BB2"/>
                </a:solidFill>
              </a:rPr>
              <a:t>// 'b' is a Character</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7"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08" name="Rectangle"/>
          <p:cNvSpPr/>
          <p:nvPr/>
        </p:nvSpPr>
        <p:spPr>
          <a:xfrm>
            <a:off x="761517" y="3898900"/>
            <a:ext cx="22860968" cy="2207663"/>
          </a:xfrm>
          <a:prstGeom prst="rect">
            <a:avLst/>
          </a:prstGeom>
          <a:solidFill>
            <a:srgbClr val="292B38"/>
          </a:solidFill>
          <a:ln w="25400">
            <a:miter lim="400000"/>
          </a:ln>
        </p:spPr>
        <p:txBody>
          <a:bodyPr lIns="63500" tIns="63500" rIns="63500" bIns="63500" anchor="ctr"/>
          <a:lstStyle/>
          <a:p>
            <a:pPr/>
          </a:p>
        </p:txBody>
      </p:sp>
      <p:sp>
        <p:nvSpPr>
          <p:cNvPr id="109" name="Rectangle"/>
          <p:cNvSpPr/>
          <p:nvPr/>
        </p:nvSpPr>
        <p:spPr>
          <a:xfrm>
            <a:off x="761517" y="6446042"/>
            <a:ext cx="22860968" cy="876923"/>
          </a:xfrm>
          <a:prstGeom prst="rect">
            <a:avLst/>
          </a:prstGeom>
          <a:solidFill>
            <a:srgbClr val="292B38"/>
          </a:solidFill>
          <a:ln w="25400">
            <a:miter lim="400000"/>
          </a:ln>
        </p:spPr>
        <p:txBody>
          <a:bodyPr lIns="63500" tIns="63500" rIns="63500" bIns="63500" anchor="ctr"/>
          <a:lstStyle/>
          <a:p>
            <a:pPr/>
          </a:p>
        </p:txBody>
      </p:sp>
      <p:sp>
        <p:nvSpPr>
          <p:cNvPr id="110" name="Concatenation"/>
          <p:cNvSpPr/>
          <p:nvPr>
            <p:ph type="title"/>
          </p:nvPr>
        </p:nvSpPr>
        <p:spPr>
          <a:prstGeom prst="rect">
            <a:avLst/>
          </a:prstGeom>
        </p:spPr>
        <p:txBody>
          <a:bodyPr/>
          <a:lstStyle/>
          <a:p>
            <a:pPr/>
            <a:r>
              <a:t>Concatenation</a:t>
            </a:r>
          </a:p>
        </p:txBody>
      </p:sp>
      <p:sp>
        <p:nvSpPr>
          <p:cNvPr id="111" name="let string1 = &quot;Hello&quot;…"/>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string1 = </a:t>
            </a:r>
            <a:r>
              <a:rPr>
                <a:solidFill>
                  <a:srgbClr val="F95B57"/>
                </a:solidFill>
              </a:rPr>
              <a:t>"Hello"</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string2 = </a:t>
            </a:r>
            <a:r>
              <a:rPr>
                <a:solidFill>
                  <a:srgbClr val="F95B57"/>
                </a:solidFill>
              </a:rPr>
              <a:t>", world!"</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var</a:t>
            </a:r>
            <a:r>
              <a:t> myString = </a:t>
            </a:r>
            <a:r>
              <a:rPr>
                <a:solidFill>
                  <a:srgbClr val="6CCE66"/>
                </a:solidFill>
              </a:rPr>
              <a:t>string1</a:t>
            </a:r>
            <a:r>
              <a:t> + </a:t>
            </a:r>
            <a:r>
              <a:rPr>
                <a:solidFill>
                  <a:srgbClr val="6CCE66"/>
                </a:solidFill>
              </a:rPr>
              <a:t>string2</a:t>
            </a:r>
            <a:r>
              <a:t> </a:t>
            </a:r>
            <a:r>
              <a:rPr>
                <a:solidFill>
                  <a:srgbClr val="979BB2"/>
                </a:solidFill>
              </a:rPr>
              <a:t>// "Hello, world!"</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myString</a:t>
            </a:r>
            <a:r>
              <a:t> += </a:t>
            </a:r>
            <a:r>
              <a:rPr>
                <a:solidFill>
                  <a:srgbClr val="F95B57"/>
                </a:solidFill>
              </a:rPr>
              <a:t>" Hello!"</a:t>
            </a:r>
            <a:r>
              <a:t> </a:t>
            </a:r>
            <a:r>
              <a:rPr>
                <a:solidFill>
                  <a:srgbClr val="979BB2"/>
                </a:solidFill>
              </a:rPr>
              <a:t>// "Hello, world! Hello!"</a:t>
            </a:r>
            <a:endParaRPr>
              <a:solidFill>
                <a:srgbClr val="979BB2"/>
              </a:solidFill>
            </a:endParaRP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16" name="Rectangle"/>
          <p:cNvSpPr/>
          <p:nvPr/>
        </p:nvSpPr>
        <p:spPr>
          <a:xfrm>
            <a:off x="761517" y="6550490"/>
            <a:ext cx="22860968" cy="681325"/>
          </a:xfrm>
          <a:prstGeom prst="rect">
            <a:avLst/>
          </a:prstGeom>
          <a:solidFill>
            <a:srgbClr val="292B38"/>
          </a:solidFill>
          <a:ln w="25400">
            <a:miter lim="400000"/>
          </a:ln>
        </p:spPr>
        <p:txBody>
          <a:bodyPr lIns="63500" tIns="63500" rIns="63500" bIns="63500" anchor="ctr"/>
          <a:lstStyle/>
          <a:p>
            <a:pPr/>
          </a:p>
        </p:txBody>
      </p:sp>
      <p:sp>
        <p:nvSpPr>
          <p:cNvPr id="117" name="Rectangle"/>
          <p:cNvSpPr/>
          <p:nvPr/>
        </p:nvSpPr>
        <p:spPr>
          <a:xfrm>
            <a:off x="761517" y="3898900"/>
            <a:ext cx="22860968" cy="2289328"/>
          </a:xfrm>
          <a:prstGeom prst="rect">
            <a:avLst/>
          </a:prstGeom>
          <a:solidFill>
            <a:srgbClr val="292B38"/>
          </a:solidFill>
          <a:ln w="25400">
            <a:miter lim="400000"/>
          </a:ln>
        </p:spPr>
        <p:txBody>
          <a:bodyPr lIns="63500" tIns="63500" rIns="63500" bIns="63500" anchor="ctr"/>
          <a:lstStyle/>
          <a:p>
            <a:pPr/>
          </a:p>
        </p:txBody>
      </p:sp>
      <p:sp>
        <p:nvSpPr>
          <p:cNvPr id="118" name="Interpolation"/>
          <p:cNvSpPr/>
          <p:nvPr>
            <p:ph type="title"/>
          </p:nvPr>
        </p:nvSpPr>
        <p:spPr>
          <a:prstGeom prst="rect">
            <a:avLst/>
          </a:prstGeom>
        </p:spPr>
        <p:txBody>
          <a:bodyPr/>
          <a:lstStyle/>
          <a:p>
            <a:pPr/>
            <a:r>
              <a:t>Interpolation</a:t>
            </a:r>
          </a:p>
        </p:txBody>
      </p:sp>
      <p:sp>
        <p:nvSpPr>
          <p:cNvPr id="119" name="let name = &quot;Rick&quot;…"/>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name = </a:t>
            </a:r>
            <a:r>
              <a:rPr>
                <a:solidFill>
                  <a:srgbClr val="F95B57"/>
                </a:solidFill>
              </a:rPr>
              <a:t>"Rick"</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age = 30</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print</a:t>
            </a:r>
            <a:r>
              <a:t>(</a:t>
            </a:r>
            <a:r>
              <a:rPr>
                <a:solidFill>
                  <a:srgbClr val="F95B57"/>
                </a:solidFill>
              </a:rPr>
              <a:t>"</a:t>
            </a:r>
            <a:r>
              <a:t>\</a:t>
            </a:r>
            <a:r>
              <a:rPr>
                <a:solidFill>
                  <a:srgbClr val="F95B57"/>
                </a:solidFill>
              </a:rPr>
              <a:t>(</a:t>
            </a:r>
            <a:r>
              <a:rPr>
                <a:solidFill>
                  <a:srgbClr val="6CCE66"/>
                </a:solidFill>
              </a:rPr>
              <a:t>name</a:t>
            </a:r>
            <a:r>
              <a:rPr>
                <a:solidFill>
                  <a:srgbClr val="F95B57"/>
                </a:solidFill>
              </a:rPr>
              <a:t>) is </a:t>
            </a:r>
            <a:r>
              <a:t>\</a:t>
            </a:r>
            <a:r>
              <a:rPr>
                <a:solidFill>
                  <a:srgbClr val="F95B57"/>
                </a:solidFill>
              </a:rPr>
              <a:t>(</a:t>
            </a:r>
            <a:r>
              <a:rPr>
                <a:solidFill>
                  <a:srgbClr val="6CCE66"/>
                </a:solidFill>
              </a:rPr>
              <a:t>age</a:t>
            </a:r>
            <a:r>
              <a:rPr>
                <a:solidFill>
                  <a:srgbClr val="F95B57"/>
                </a:solidFill>
              </a:rPr>
              <a:t>) years old"</a:t>
            </a:r>
            <a:r>
              <a:t>) </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Rick is 30 years old</a:t>
            </a:r>
          </a:p>
          <a:p>
            <a:pPr marL="0" indent="0" defTabSz="822960">
              <a:lnSpc>
                <a:spcPts val="5000"/>
              </a:lnSpc>
              <a:spcBef>
                <a:spcPts val="0"/>
              </a:spcBef>
              <a:buSzTx/>
              <a:buNone/>
              <a:defRPr spc="0" sz="3000">
                <a:latin typeface="Menlo Regular"/>
                <a:ea typeface="Menlo Regular"/>
                <a:cs typeface="Menlo Regular"/>
                <a:sym typeface="Menlo Regular"/>
              </a:defRPr>
            </a:pP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24" name="Expressions"/>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Expressions</a:t>
            </a:r>
          </a:p>
        </p:txBody>
      </p:sp>
      <p:sp>
        <p:nvSpPr>
          <p:cNvPr id="125" name="Rectangle"/>
          <p:cNvSpPr/>
          <p:nvPr/>
        </p:nvSpPr>
        <p:spPr>
          <a:xfrm>
            <a:off x="761517" y="6538994"/>
            <a:ext cx="22860968" cy="681326"/>
          </a:xfrm>
          <a:prstGeom prst="rect">
            <a:avLst/>
          </a:prstGeom>
          <a:solidFill>
            <a:srgbClr val="292B38"/>
          </a:solidFill>
          <a:ln w="25400">
            <a:miter lim="400000"/>
          </a:ln>
        </p:spPr>
        <p:txBody>
          <a:bodyPr lIns="63500" tIns="63500" rIns="63500" bIns="63500" anchor="ctr"/>
          <a:lstStyle/>
          <a:p>
            <a:pPr/>
          </a:p>
        </p:txBody>
      </p:sp>
      <p:sp>
        <p:nvSpPr>
          <p:cNvPr id="126" name="Rectangle"/>
          <p:cNvSpPr/>
          <p:nvPr/>
        </p:nvSpPr>
        <p:spPr>
          <a:xfrm>
            <a:off x="761517" y="3898900"/>
            <a:ext cx="22860968" cy="2289328"/>
          </a:xfrm>
          <a:prstGeom prst="rect">
            <a:avLst/>
          </a:prstGeom>
          <a:solidFill>
            <a:srgbClr val="292B38"/>
          </a:solidFill>
          <a:ln w="25400">
            <a:miter lim="400000"/>
          </a:ln>
        </p:spPr>
        <p:txBody>
          <a:bodyPr lIns="63500" tIns="63500" rIns="63500" bIns="63500" anchor="ctr"/>
          <a:lstStyle/>
          <a:p>
            <a:pPr/>
          </a:p>
        </p:txBody>
      </p:sp>
      <p:sp>
        <p:nvSpPr>
          <p:cNvPr id="127" name="Interpolation"/>
          <p:cNvSpPr/>
          <p:nvPr>
            <p:ph type="title"/>
          </p:nvPr>
        </p:nvSpPr>
        <p:spPr>
          <a:prstGeom prst="rect">
            <a:avLst/>
          </a:prstGeom>
        </p:spPr>
        <p:txBody>
          <a:bodyPr/>
          <a:lstStyle/>
          <a:p>
            <a:pPr/>
            <a:r>
              <a:t>Interpolation</a:t>
            </a:r>
          </a:p>
        </p:txBody>
      </p:sp>
      <p:sp>
        <p:nvSpPr>
          <p:cNvPr id="128" name="let a = 4…"/>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a = 4</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b = 5</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print</a:t>
            </a:r>
            <a:r>
              <a:t>(</a:t>
            </a:r>
            <a:r>
              <a:rPr>
                <a:solidFill>
                  <a:srgbClr val="F95B57"/>
                </a:solidFill>
              </a:rPr>
              <a:t>"If a is </a:t>
            </a:r>
            <a:r>
              <a:t>\</a:t>
            </a:r>
            <a:r>
              <a:rPr>
                <a:solidFill>
                  <a:srgbClr val="F95B57"/>
                </a:solidFill>
              </a:rPr>
              <a:t>(</a:t>
            </a:r>
            <a:r>
              <a:rPr>
                <a:solidFill>
                  <a:srgbClr val="6CCE66"/>
                </a:solidFill>
              </a:rPr>
              <a:t>a</a:t>
            </a:r>
            <a:r>
              <a:rPr>
                <a:solidFill>
                  <a:srgbClr val="F95B57"/>
                </a:solidFill>
              </a:rPr>
              <a:t>) and b is </a:t>
            </a:r>
            <a:r>
              <a:t>\</a:t>
            </a:r>
            <a:r>
              <a:rPr>
                <a:solidFill>
                  <a:srgbClr val="F95B57"/>
                </a:solidFill>
              </a:rPr>
              <a:t>(</a:t>
            </a:r>
            <a:r>
              <a:rPr>
                <a:solidFill>
                  <a:srgbClr val="6CCE66"/>
                </a:solidFill>
              </a:rPr>
              <a:t>b</a:t>
            </a:r>
            <a:r>
              <a:rPr>
                <a:solidFill>
                  <a:srgbClr val="F95B57"/>
                </a:solidFill>
              </a:rPr>
              <a:t>), then a + b equals </a:t>
            </a:r>
            <a:r>
              <a:t>\</a:t>
            </a:r>
            <a:r>
              <a:rPr>
                <a:solidFill>
                  <a:srgbClr val="F95B57"/>
                </a:solidFill>
              </a:rPr>
              <a:t>(</a:t>
            </a:r>
            <a:r>
              <a:rPr>
                <a:solidFill>
                  <a:srgbClr val="6CCE66"/>
                </a:solidFill>
              </a:rPr>
              <a:t>a</a:t>
            </a:r>
            <a:r>
              <a:t>+</a:t>
            </a:r>
            <a:r>
              <a:rPr>
                <a:solidFill>
                  <a:srgbClr val="6CCE66"/>
                </a:solidFill>
              </a:rPr>
              <a:t>b</a:t>
            </a:r>
            <a:r>
              <a:rPr>
                <a:solidFill>
                  <a:srgbClr val="F95B57"/>
                </a:solidFill>
              </a:rPr>
              <a:t>)"</a:t>
            </a: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If a is 4 and b is 5, then a + b equals 9</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31" name="Rectangle"/>
          <p:cNvSpPr/>
          <p:nvPr/>
        </p:nvSpPr>
        <p:spPr>
          <a:xfrm>
            <a:off x="761517" y="11653875"/>
            <a:ext cx="22860968" cy="1380851"/>
          </a:xfrm>
          <a:prstGeom prst="rect">
            <a:avLst/>
          </a:prstGeom>
          <a:solidFill>
            <a:srgbClr val="292B38"/>
          </a:solidFill>
          <a:ln w="25400">
            <a:miter lim="400000"/>
          </a:ln>
        </p:spPr>
        <p:txBody>
          <a:bodyPr lIns="63500" tIns="63500" rIns="63500" bIns="63500" anchor="ctr"/>
          <a:lstStyle/>
          <a:p>
            <a:pPr/>
          </a:p>
        </p:txBody>
      </p:sp>
      <p:sp>
        <p:nvSpPr>
          <p:cNvPr id="132" name="Rectangle"/>
          <p:cNvSpPr/>
          <p:nvPr/>
        </p:nvSpPr>
        <p:spPr>
          <a:xfrm>
            <a:off x="761517" y="3898900"/>
            <a:ext cx="22860968" cy="7268410"/>
          </a:xfrm>
          <a:prstGeom prst="rect">
            <a:avLst/>
          </a:prstGeom>
          <a:solidFill>
            <a:srgbClr val="292B38"/>
          </a:solidFill>
          <a:ln w="25400">
            <a:miter lim="400000"/>
          </a:ln>
        </p:spPr>
        <p:txBody>
          <a:bodyPr lIns="63500" tIns="63500" rIns="63500" bIns="63500" anchor="ctr"/>
          <a:lstStyle/>
          <a:p>
            <a:pPr/>
          </a:p>
        </p:txBody>
      </p:sp>
      <p:sp>
        <p:nvSpPr>
          <p:cNvPr id="133" name="String equality and comparison"/>
          <p:cNvSpPr/>
          <p:nvPr>
            <p:ph type="title"/>
          </p:nvPr>
        </p:nvSpPr>
        <p:spPr>
          <a:prstGeom prst="rect">
            <a:avLst/>
          </a:prstGeom>
        </p:spPr>
        <p:txBody>
          <a:bodyPr/>
          <a:lstStyle/>
          <a:p>
            <a:pPr/>
            <a:r>
              <a:t>String equality and comparison</a:t>
            </a:r>
          </a:p>
        </p:txBody>
      </p:sp>
      <p:sp>
        <p:nvSpPr>
          <p:cNvPr id="134" name="Rectangle"/>
          <p:cNvSpPr/>
          <p:nvPr/>
        </p:nvSpPr>
        <p:spPr>
          <a:xfrm>
            <a:off x="3186870" y="6657181"/>
            <a:ext cx="594391" cy="510183"/>
          </a:xfrm>
          <a:prstGeom prst="rect">
            <a:avLst/>
          </a:prstGeom>
          <a:solidFill>
            <a:srgbClr val="34435A"/>
          </a:solidFill>
          <a:ln w="12700">
            <a:solidFill>
              <a:srgbClr val="505A7A"/>
            </a:solidFill>
            <a:miter lim="400000"/>
          </a:ln>
          <a:effectLst>
            <a:outerShdw sx="100000" sy="100000" kx="0" ky="0" algn="b" rotWithShape="0" blurRad="63500" dist="25400" dir="5400000">
              <a:srgbClr val="000000">
                <a:alpha val="50000"/>
              </a:srgbClr>
            </a:outerShdw>
          </a:effectLst>
        </p:spPr>
        <p:txBody>
          <a:bodyPr lIns="63500" tIns="63500" rIns="63500" bIns="63500" anchor="ctr"/>
          <a:lstStyle/>
          <a:p>
            <a:pPr/>
          </a:p>
        </p:txBody>
      </p:sp>
      <p:sp>
        <p:nvSpPr>
          <p:cNvPr id="135" name="Rectangle"/>
          <p:cNvSpPr/>
          <p:nvPr/>
        </p:nvSpPr>
        <p:spPr>
          <a:xfrm>
            <a:off x="3237670" y="9198529"/>
            <a:ext cx="594391" cy="510183"/>
          </a:xfrm>
          <a:prstGeom prst="rect">
            <a:avLst/>
          </a:prstGeom>
          <a:solidFill>
            <a:srgbClr val="34435A"/>
          </a:solidFill>
          <a:ln w="12700">
            <a:solidFill>
              <a:srgbClr val="505A7A"/>
            </a:solidFill>
            <a:miter lim="400000"/>
          </a:ln>
          <a:effectLst>
            <a:outerShdw sx="100000" sy="100000" kx="0" ky="0" algn="b" rotWithShape="0" blurRad="63500" dist="25400" dir="5400000">
              <a:srgbClr val="000000">
                <a:alpha val="50000"/>
              </a:srgbClr>
            </a:outerShdw>
          </a:effectLst>
        </p:spPr>
        <p:txBody>
          <a:bodyPr lIns="63500" tIns="63500" rIns="63500" bIns="63500" anchor="ctr"/>
          <a:lstStyle/>
          <a:p>
            <a:pPr/>
          </a:p>
        </p:txBody>
      </p:sp>
      <p:sp>
        <p:nvSpPr>
          <p:cNvPr id="136" name="let month = &quot;January&quot;…"/>
          <p:cNvSpPr/>
          <p:nvPr>
            <p:ph type="body" idx="1"/>
          </p:nvPr>
        </p:nvSpPr>
        <p:spPr>
          <a:prstGeom prst="rect">
            <a:avLst/>
          </a:prstGeom>
        </p:spPr>
        <p:txBody>
          <a:bodyPr>
            <a:normAutofit fontScale="100000" lnSpcReduction="0"/>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month = </a:t>
            </a:r>
            <a:r>
              <a:rPr>
                <a:solidFill>
                  <a:srgbClr val="F95B57"/>
                </a:solidFill>
              </a:rPr>
              <a:t>"January"</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otherMonth = </a:t>
            </a:r>
            <a:r>
              <a:rPr>
                <a:solidFill>
                  <a:srgbClr val="F95B57"/>
                </a:solidFill>
              </a:rPr>
              <a:t>"January"</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lowercaseMonth = </a:t>
            </a:r>
            <a:r>
              <a:rPr>
                <a:solidFill>
                  <a:srgbClr val="F95B57"/>
                </a:solidFill>
              </a:rPr>
              <a:t>"january"</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if</a:t>
            </a:r>
            <a:r>
              <a:t> </a:t>
            </a:r>
            <a:r>
              <a:rPr>
                <a:solidFill>
                  <a:srgbClr val="6CCE66"/>
                </a:solidFill>
              </a:rPr>
              <a:t>month</a:t>
            </a:r>
            <a:r>
              <a:t> == </a:t>
            </a:r>
            <a:r>
              <a:rPr>
                <a:solidFill>
                  <a:srgbClr val="6CCE66"/>
                </a:solidFill>
              </a:rPr>
              <a:t>otherMonth</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6CCE66"/>
                </a:solidFill>
              </a:rPr>
              <a:t>print</a:t>
            </a:r>
            <a:r>
              <a:t>(</a:t>
            </a:r>
            <a:r>
              <a:rPr>
                <a:solidFill>
                  <a:srgbClr val="F95B57"/>
                </a:solidFill>
              </a:rPr>
              <a:t>"They are the same"</a:t>
            </a:r>
            <a:r>
              <a:t>)</a:t>
            </a:r>
          </a:p>
          <a:p>
            <a:pPr marL="0" indent="0" defTabSz="822960">
              <a:lnSpc>
                <a:spcPts val="5000"/>
              </a:lnSpc>
              <a:spcBef>
                <a:spcPts val="0"/>
              </a:spcBef>
              <a:buSzTx/>
              <a:buNone/>
              <a:defRPr spc="0" sz="3000">
                <a:latin typeface="Menlo Regular"/>
                <a:ea typeface="Menlo Regular"/>
                <a:cs typeface="Menlo Regular"/>
                <a:sym typeface="Menlo Regular"/>
              </a:defRPr>
            </a:pP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if </a:t>
            </a:r>
            <a:r>
              <a:rPr>
                <a:solidFill>
                  <a:srgbClr val="6CCE66"/>
                </a:solidFill>
              </a:rPr>
              <a:t>month</a:t>
            </a:r>
            <a:r>
              <a:t> != </a:t>
            </a:r>
            <a:r>
              <a:rPr>
                <a:solidFill>
                  <a:srgbClr val="6CCE66"/>
                </a:solidFill>
              </a:rPr>
              <a:t>lowercaseMonth</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6CCE66"/>
                </a:solidFill>
              </a:rPr>
              <a:t>print</a:t>
            </a:r>
            <a:r>
              <a:t>(</a:t>
            </a:r>
            <a:r>
              <a:rPr>
                <a:solidFill>
                  <a:srgbClr val="F95B57"/>
                </a:solidFill>
              </a:rPr>
              <a:t>"They are not the same."</a:t>
            </a:r>
            <a:r>
              <a:t>)</a:t>
            </a:r>
          </a:p>
          <a:p>
            <a:pPr marL="0" indent="0" defTabSz="822960">
              <a:lnSpc>
                <a:spcPts val="5000"/>
              </a:lnSpc>
              <a:spcBef>
                <a:spcPts val="0"/>
              </a:spcBef>
              <a:buSzTx/>
              <a:buNone/>
              <a:defRPr spc="0" sz="3000">
                <a:latin typeface="Menlo Regular"/>
                <a:ea typeface="Menlo Regular"/>
                <a:cs typeface="Menlo Regular"/>
                <a:sym typeface="Menlo Regular"/>
              </a:defRPr>
            </a:pP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They are the same.</a:t>
            </a:r>
          </a:p>
          <a:p>
            <a:pPr marL="0" indent="0" defTabSz="822960">
              <a:lnSpc>
                <a:spcPts val="5000"/>
              </a:lnSpc>
              <a:spcBef>
                <a:spcPts val="0"/>
              </a:spcBef>
              <a:buSzTx/>
              <a:buNone/>
              <a:defRPr spc="0" sz="3000">
                <a:latin typeface="Menlo Regular"/>
                <a:ea typeface="Menlo Regular"/>
                <a:cs typeface="Menlo Regular"/>
                <a:sym typeface="Menlo Regular"/>
              </a:defRPr>
            </a:pPr>
            <a:r>
              <a:t>They are not the same.</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39" name="Ignoring case"/>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Ignoring case</a:t>
            </a:r>
          </a:p>
        </p:txBody>
      </p:sp>
      <p:sp>
        <p:nvSpPr>
          <p:cNvPr id="140" name="Rectangle"/>
          <p:cNvSpPr/>
          <p:nvPr/>
        </p:nvSpPr>
        <p:spPr>
          <a:xfrm>
            <a:off x="761517" y="7540315"/>
            <a:ext cx="22860968" cy="795687"/>
          </a:xfrm>
          <a:prstGeom prst="rect">
            <a:avLst/>
          </a:prstGeom>
          <a:solidFill>
            <a:srgbClr val="292B38"/>
          </a:solidFill>
          <a:ln w="25400">
            <a:miter lim="400000"/>
          </a:ln>
        </p:spPr>
        <p:txBody>
          <a:bodyPr lIns="63500" tIns="63500" rIns="63500" bIns="63500" anchor="ctr"/>
          <a:lstStyle/>
          <a:p>
            <a:pPr/>
          </a:p>
        </p:txBody>
      </p:sp>
      <p:sp>
        <p:nvSpPr>
          <p:cNvPr id="141" name="Rectangle"/>
          <p:cNvSpPr/>
          <p:nvPr/>
        </p:nvSpPr>
        <p:spPr>
          <a:xfrm>
            <a:off x="761517" y="3898900"/>
            <a:ext cx="22860968" cy="2951794"/>
          </a:xfrm>
          <a:prstGeom prst="rect">
            <a:avLst/>
          </a:prstGeom>
          <a:solidFill>
            <a:srgbClr val="292B38"/>
          </a:solidFill>
          <a:ln w="25400">
            <a:miter lim="400000"/>
          </a:ln>
        </p:spPr>
        <p:txBody>
          <a:bodyPr lIns="63500" tIns="63500" rIns="63500" bIns="63500" anchor="ctr"/>
          <a:lstStyle/>
          <a:p>
            <a:pPr/>
          </a:p>
        </p:txBody>
      </p:sp>
      <p:sp>
        <p:nvSpPr>
          <p:cNvPr id="142" name="String equality and comparison"/>
          <p:cNvSpPr/>
          <p:nvPr>
            <p:ph type="title"/>
          </p:nvPr>
        </p:nvSpPr>
        <p:spPr>
          <a:prstGeom prst="rect">
            <a:avLst/>
          </a:prstGeom>
        </p:spPr>
        <p:txBody>
          <a:bodyPr/>
          <a:lstStyle/>
          <a:p>
            <a:pPr/>
            <a:r>
              <a:t>String equality and comparison</a:t>
            </a:r>
          </a:p>
        </p:txBody>
      </p:sp>
      <p:sp>
        <p:nvSpPr>
          <p:cNvPr id="143" name="Rectangle"/>
          <p:cNvSpPr/>
          <p:nvPr/>
        </p:nvSpPr>
        <p:spPr>
          <a:xfrm>
            <a:off x="10870162" y="4849148"/>
            <a:ext cx="2948718" cy="510184"/>
          </a:xfrm>
          <a:prstGeom prst="rect">
            <a:avLst/>
          </a:prstGeom>
          <a:solidFill>
            <a:srgbClr val="34435A"/>
          </a:solidFill>
          <a:ln w="12700">
            <a:solidFill>
              <a:srgbClr val="505A7A"/>
            </a:solidFill>
            <a:miter lim="400000"/>
          </a:ln>
          <a:effectLst>
            <a:outerShdw sx="100000" sy="100000" kx="0" ky="0" algn="b" rotWithShape="0" blurRad="63500" dist="25400" dir="5400000">
              <a:srgbClr val="000000">
                <a:alpha val="50000"/>
              </a:srgbClr>
            </a:outerShdw>
          </a:effectLst>
        </p:spPr>
        <p:txBody>
          <a:bodyPr lIns="63500" tIns="63500" rIns="63500" bIns="63500" anchor="ctr"/>
          <a:lstStyle/>
          <a:p>
            <a:pPr/>
          </a:p>
        </p:txBody>
      </p:sp>
      <p:sp>
        <p:nvSpPr>
          <p:cNvPr id="144" name="let name = &quot;Johnny Appleseed&quot;…"/>
          <p:cNvSpPr/>
          <p:nvPr>
            <p:ph type="body" idx="1"/>
          </p:nvPr>
        </p:nvSpPr>
        <p:spPr>
          <a:prstGeom prst="rect">
            <a:avLst/>
          </a:prstGeom>
        </p:spPr>
        <p:txBody>
          <a:bodyPr/>
          <a:lstStyle/>
          <a:p>
            <a:pPr marL="0" indent="0">
              <a:lnSpc>
                <a:spcPts val="5600"/>
              </a:lnSpc>
              <a:spcBef>
                <a:spcPts val="0"/>
              </a:spcBef>
              <a:buSzTx/>
              <a:buNone/>
              <a:defRPr spc="0" sz="3000">
                <a:latin typeface="Menlo Regular"/>
                <a:ea typeface="Menlo Regular"/>
                <a:cs typeface="Menlo Regular"/>
                <a:sym typeface="Menlo Regular"/>
              </a:defRPr>
            </a:pPr>
            <a:r>
              <a:rPr>
                <a:solidFill>
                  <a:srgbClr val="3DCCCC"/>
                </a:solidFill>
              </a:rPr>
              <a:t>let</a:t>
            </a:r>
            <a:r>
              <a:t> name = </a:t>
            </a:r>
            <a:r>
              <a:rPr>
                <a:solidFill>
                  <a:srgbClr val="F95B57"/>
                </a:solidFill>
              </a:rPr>
              <a:t>"Johnny Appleseed"</a:t>
            </a:r>
          </a:p>
          <a:p>
            <a:pPr marL="0" indent="0">
              <a:lnSpc>
                <a:spcPts val="5600"/>
              </a:lnSpc>
              <a:spcBef>
                <a:spcPts val="0"/>
              </a:spcBef>
              <a:buSzTx/>
              <a:buNone/>
              <a:defRPr spc="0" sz="3000">
                <a:latin typeface="Menlo Regular"/>
                <a:ea typeface="Menlo Regular"/>
                <a:cs typeface="Menlo Regular"/>
                <a:sym typeface="Menlo Regular"/>
              </a:defRPr>
            </a:pPr>
            <a:r>
              <a:rPr>
                <a:solidFill>
                  <a:srgbClr val="3DCCCC"/>
                </a:solidFill>
              </a:rPr>
              <a:t>if</a:t>
            </a:r>
            <a:r>
              <a:t> </a:t>
            </a:r>
            <a:r>
              <a:rPr>
                <a:solidFill>
                  <a:srgbClr val="6CCE66"/>
                </a:solidFill>
              </a:rPr>
              <a:t>name</a:t>
            </a:r>
            <a:r>
              <a:t>.</a:t>
            </a:r>
            <a:r>
              <a:rPr>
                <a:solidFill>
                  <a:srgbClr val="6CCE66"/>
                </a:solidFill>
              </a:rPr>
              <a:t>lowercased</a:t>
            </a:r>
            <a:r>
              <a:t>() == </a:t>
            </a:r>
            <a:r>
              <a:rPr>
                <a:solidFill>
                  <a:srgbClr val="F95B57"/>
                </a:solidFill>
              </a:rPr>
              <a:t>"joHnnY aPPleseeD"</a:t>
            </a:r>
            <a:r>
              <a:t>.</a:t>
            </a:r>
            <a:r>
              <a:rPr>
                <a:solidFill>
                  <a:srgbClr val="6CCE66"/>
                </a:solidFill>
              </a:rPr>
              <a:t>lowercased</a:t>
            </a:r>
            <a:r>
              <a:t>() {</a:t>
            </a:r>
          </a:p>
          <a:p>
            <a:pPr marL="0" indent="0">
              <a:lnSpc>
                <a:spcPts val="5600"/>
              </a:lnSpc>
              <a:spcBef>
                <a:spcPts val="0"/>
              </a:spcBef>
              <a:buSzTx/>
              <a:buNone/>
              <a:defRPr spc="0" sz="3000">
                <a:latin typeface="Menlo Regular"/>
                <a:ea typeface="Menlo Regular"/>
                <a:cs typeface="Menlo Regular"/>
                <a:sym typeface="Menlo Regular"/>
              </a:defRPr>
            </a:pPr>
            <a:r>
              <a:t>  </a:t>
            </a:r>
            <a:r>
              <a:rPr>
                <a:solidFill>
                  <a:srgbClr val="6CCE66"/>
                </a:solidFill>
              </a:rPr>
              <a:t>print</a:t>
            </a:r>
            <a:r>
              <a:t>(</a:t>
            </a:r>
            <a:r>
              <a:rPr>
                <a:solidFill>
                  <a:srgbClr val="F95B57"/>
                </a:solidFill>
              </a:rPr>
              <a:t>"The two names are equal."</a:t>
            </a:r>
            <a:r>
              <a:t>)</a:t>
            </a:r>
          </a:p>
          <a:p>
            <a:pPr marL="0" indent="0">
              <a:lnSpc>
                <a:spcPts val="5600"/>
              </a:lnSpc>
              <a:spcBef>
                <a:spcPts val="0"/>
              </a:spcBef>
              <a:buSzTx/>
              <a:buNone/>
              <a:defRPr spc="0" sz="3000">
                <a:latin typeface="Menlo Regular"/>
                <a:ea typeface="Menlo Regular"/>
                <a:cs typeface="Menlo Regular"/>
                <a:sym typeface="Menlo Regular"/>
              </a:defRPr>
            </a:pPr>
            <a:r>
              <a:t>}</a:t>
            </a:r>
          </a:p>
          <a:p>
            <a:pPr marL="0" indent="0">
              <a:lnSpc>
                <a:spcPts val="5600"/>
              </a:lnSpc>
              <a:spcBef>
                <a:spcPts val="0"/>
              </a:spcBef>
              <a:buSzTx/>
              <a:buNone/>
              <a:defRPr spc="0" sz="3000">
                <a:latin typeface="Menlo Regular"/>
                <a:ea typeface="Menlo Regular"/>
                <a:cs typeface="Menlo Regular"/>
                <a:sym typeface="Menlo Regular"/>
              </a:defRPr>
            </a:pPr>
          </a:p>
          <a:p>
            <a:pPr marL="0" indent="0">
              <a:lnSpc>
                <a:spcPts val="5600"/>
              </a:lnSpc>
              <a:spcBef>
                <a:spcPts val="0"/>
              </a:spcBef>
              <a:buSzTx/>
              <a:buNone/>
              <a:defRPr spc="0" sz="3000">
                <a:latin typeface="Menlo Regular"/>
                <a:ea typeface="Menlo Regular"/>
                <a:cs typeface="Menlo Regular"/>
                <a:sym typeface="Menlo Regular"/>
              </a:defRPr>
            </a:pPr>
            <a:r>
              <a:t>The two names are equal.</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8"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49" name="Prefix and suffix"/>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Prefix and suffix</a:t>
            </a:r>
          </a:p>
        </p:txBody>
      </p:sp>
      <p:sp>
        <p:nvSpPr>
          <p:cNvPr id="150" name="Rectangle"/>
          <p:cNvSpPr/>
          <p:nvPr/>
        </p:nvSpPr>
        <p:spPr>
          <a:xfrm>
            <a:off x="761517" y="7819546"/>
            <a:ext cx="22860968" cy="2014628"/>
          </a:xfrm>
          <a:prstGeom prst="rect">
            <a:avLst/>
          </a:prstGeom>
          <a:solidFill>
            <a:srgbClr val="292B38"/>
          </a:solidFill>
          <a:ln w="25400">
            <a:miter lim="400000"/>
          </a:ln>
        </p:spPr>
        <p:txBody>
          <a:bodyPr lIns="63500" tIns="63500" rIns="63500" bIns="63500" anchor="ctr"/>
          <a:lstStyle/>
          <a:p>
            <a:pPr/>
          </a:p>
        </p:txBody>
      </p:sp>
      <p:sp>
        <p:nvSpPr>
          <p:cNvPr id="151" name="Rectangle"/>
          <p:cNvSpPr/>
          <p:nvPr/>
        </p:nvSpPr>
        <p:spPr>
          <a:xfrm>
            <a:off x="761517" y="3898900"/>
            <a:ext cx="22860968" cy="3527217"/>
          </a:xfrm>
          <a:prstGeom prst="rect">
            <a:avLst/>
          </a:prstGeom>
          <a:solidFill>
            <a:srgbClr val="292B38"/>
          </a:solidFill>
          <a:ln w="25400">
            <a:miter lim="400000"/>
          </a:ln>
        </p:spPr>
        <p:txBody>
          <a:bodyPr lIns="63500" tIns="63500" rIns="63500" bIns="63500" anchor="ctr"/>
          <a:lstStyle/>
          <a:p>
            <a:pPr/>
          </a:p>
        </p:txBody>
      </p:sp>
      <p:sp>
        <p:nvSpPr>
          <p:cNvPr id="152" name="String equality and comparison"/>
          <p:cNvSpPr/>
          <p:nvPr>
            <p:ph type="title"/>
          </p:nvPr>
        </p:nvSpPr>
        <p:spPr>
          <a:prstGeom prst="rect">
            <a:avLst/>
          </a:prstGeom>
        </p:spPr>
        <p:txBody>
          <a:bodyPr/>
          <a:lstStyle/>
          <a:p>
            <a:pPr/>
            <a:r>
              <a:t>String equality and comparison</a:t>
            </a:r>
          </a:p>
        </p:txBody>
      </p:sp>
      <p:sp>
        <p:nvSpPr>
          <p:cNvPr id="153" name="let greeting = &quot;Hello, world!&quot;…"/>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greeting = </a:t>
            </a:r>
            <a:r>
              <a:rPr>
                <a:solidFill>
                  <a:srgbClr val="F95B57"/>
                </a:solidFill>
              </a:rPr>
              <a:t>"Hello, world!"</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print</a:t>
            </a:r>
            <a:r>
              <a:t>(</a:t>
            </a:r>
            <a:r>
              <a:rPr>
                <a:solidFill>
                  <a:srgbClr val="6CCE66"/>
                </a:solidFill>
              </a:rPr>
              <a:t>greeting</a:t>
            </a:r>
            <a:r>
              <a:t>.</a:t>
            </a:r>
            <a:r>
              <a:rPr>
                <a:solidFill>
                  <a:srgbClr val="6CCE66"/>
                </a:solidFill>
              </a:rPr>
              <a:t>hasPrefix</a:t>
            </a:r>
            <a:r>
              <a:t>(</a:t>
            </a:r>
            <a:r>
              <a:rPr>
                <a:solidFill>
                  <a:srgbClr val="F95B57"/>
                </a:solidFill>
              </a:rPr>
              <a:t>"Hello"</a:t>
            </a:r>
            <a:r>
              <a:t>))</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print</a:t>
            </a:r>
            <a:r>
              <a:t>(</a:t>
            </a:r>
            <a:r>
              <a:rPr>
                <a:solidFill>
                  <a:srgbClr val="6CCE66"/>
                </a:solidFill>
              </a:rPr>
              <a:t>greeting</a:t>
            </a:r>
            <a:r>
              <a:t>.</a:t>
            </a:r>
            <a:r>
              <a:rPr>
                <a:solidFill>
                  <a:srgbClr val="6CCE66"/>
                </a:solidFill>
              </a:rPr>
              <a:t>hasSuffix</a:t>
            </a:r>
            <a:r>
              <a:t>(</a:t>
            </a:r>
            <a:r>
              <a:rPr>
                <a:solidFill>
                  <a:srgbClr val="F95B57"/>
                </a:solidFill>
              </a:rPr>
              <a:t>"world!"</a:t>
            </a:r>
            <a:r>
              <a:t>))</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print</a:t>
            </a:r>
            <a:r>
              <a:t>(</a:t>
            </a:r>
            <a:r>
              <a:rPr>
                <a:solidFill>
                  <a:srgbClr val="6CCE66"/>
                </a:solidFill>
              </a:rPr>
              <a:t>greeting</a:t>
            </a:r>
            <a:r>
              <a:t>.</a:t>
            </a:r>
            <a:r>
              <a:rPr>
                <a:solidFill>
                  <a:srgbClr val="6CCE66"/>
                </a:solidFill>
              </a:rPr>
              <a:t>hasSuffix</a:t>
            </a:r>
            <a:r>
              <a:t>(</a:t>
            </a:r>
            <a:r>
              <a:rPr>
                <a:solidFill>
                  <a:srgbClr val="F95B57"/>
                </a:solidFill>
              </a:rPr>
              <a:t>"</a:t>
            </a:r>
            <a:r>
              <a:rPr>
                <a:solidFill>
                  <a:srgbClr val="F95B57"/>
                </a:solidFill>
              </a:rPr>
              <a:t>World!"</a:t>
            </a: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true</a:t>
            </a:r>
          </a:p>
          <a:p>
            <a:pPr marL="0" indent="0" defTabSz="822960">
              <a:lnSpc>
                <a:spcPts val="5000"/>
              </a:lnSpc>
              <a:spcBef>
                <a:spcPts val="0"/>
              </a:spcBef>
              <a:buSzTx/>
              <a:buNone/>
              <a:defRPr spc="0" sz="3000">
                <a:latin typeface="Menlo Regular"/>
                <a:ea typeface="Menlo Regular"/>
                <a:cs typeface="Menlo Regular"/>
                <a:sym typeface="Menlo Regular"/>
              </a:defRPr>
            </a:pPr>
            <a:r>
              <a:t>true</a:t>
            </a:r>
          </a:p>
          <a:p>
            <a:pPr marL="0" indent="0" defTabSz="822960">
              <a:lnSpc>
                <a:spcPts val="5000"/>
              </a:lnSpc>
              <a:spcBef>
                <a:spcPts val="0"/>
              </a:spcBef>
              <a:buSzTx/>
              <a:buNone/>
              <a:defRPr spc="0" sz="3000">
                <a:latin typeface="Menlo Regular"/>
                <a:ea typeface="Menlo Regular"/>
                <a:cs typeface="Menlo Regular"/>
                <a:sym typeface="Menlo Regular"/>
              </a:defRPr>
            </a:pPr>
            <a:r>
              <a:t>false</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58" name="Finding substrings"/>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Finding substrings</a:t>
            </a:r>
          </a:p>
        </p:txBody>
      </p:sp>
      <p:sp>
        <p:nvSpPr>
          <p:cNvPr id="159" name="Rectangle"/>
          <p:cNvSpPr/>
          <p:nvPr/>
        </p:nvSpPr>
        <p:spPr>
          <a:xfrm>
            <a:off x="761517" y="7134936"/>
            <a:ext cx="22860968" cy="800101"/>
          </a:xfrm>
          <a:prstGeom prst="rect">
            <a:avLst/>
          </a:prstGeom>
          <a:solidFill>
            <a:srgbClr val="292B38"/>
          </a:solidFill>
          <a:ln w="25400">
            <a:miter lim="400000"/>
          </a:ln>
        </p:spPr>
        <p:txBody>
          <a:bodyPr lIns="63500" tIns="63500" rIns="63500" bIns="63500" anchor="ctr"/>
          <a:lstStyle/>
          <a:p>
            <a:pPr/>
          </a:p>
        </p:txBody>
      </p:sp>
      <p:sp>
        <p:nvSpPr>
          <p:cNvPr id="160" name="Rectangle"/>
          <p:cNvSpPr/>
          <p:nvPr/>
        </p:nvSpPr>
        <p:spPr>
          <a:xfrm>
            <a:off x="761517" y="3898900"/>
            <a:ext cx="22860968" cy="2914254"/>
          </a:xfrm>
          <a:prstGeom prst="rect">
            <a:avLst/>
          </a:prstGeom>
          <a:solidFill>
            <a:srgbClr val="292B38"/>
          </a:solidFill>
          <a:ln w="25400">
            <a:miter lim="400000"/>
          </a:ln>
        </p:spPr>
        <p:txBody>
          <a:bodyPr lIns="63500" tIns="63500" rIns="63500" bIns="63500" anchor="ctr"/>
          <a:lstStyle/>
          <a:p>
            <a:pPr/>
          </a:p>
        </p:txBody>
      </p:sp>
      <p:sp>
        <p:nvSpPr>
          <p:cNvPr id="161" name="String equality and comparison"/>
          <p:cNvSpPr/>
          <p:nvPr>
            <p:ph type="title"/>
          </p:nvPr>
        </p:nvSpPr>
        <p:spPr>
          <a:prstGeom prst="rect">
            <a:avLst/>
          </a:prstGeom>
        </p:spPr>
        <p:txBody>
          <a:bodyPr/>
          <a:lstStyle/>
          <a:p>
            <a:pPr/>
            <a:r>
              <a:t>String equality and comparison</a:t>
            </a:r>
          </a:p>
        </p:txBody>
      </p:sp>
      <p:sp>
        <p:nvSpPr>
          <p:cNvPr id="162" name="Rectangle"/>
          <p:cNvSpPr/>
          <p:nvPr/>
        </p:nvSpPr>
        <p:spPr>
          <a:xfrm>
            <a:off x="3763994" y="4725287"/>
            <a:ext cx="5268621" cy="533131"/>
          </a:xfrm>
          <a:prstGeom prst="rect">
            <a:avLst/>
          </a:prstGeom>
          <a:solidFill>
            <a:srgbClr val="34435A"/>
          </a:solidFill>
          <a:ln w="12700">
            <a:solidFill>
              <a:srgbClr val="505A7A"/>
            </a:solidFill>
            <a:miter lim="400000"/>
          </a:ln>
          <a:effectLst>
            <a:outerShdw sx="100000" sy="100000" kx="0" ky="0" algn="b" rotWithShape="0" blurRad="63500" dist="25400" dir="5400000">
              <a:srgbClr val="000000">
                <a:alpha val="50000"/>
              </a:srgbClr>
            </a:outerShdw>
          </a:effectLst>
        </p:spPr>
        <p:txBody>
          <a:bodyPr lIns="63500" tIns="63500" rIns="63500" bIns="63500" anchor="ctr"/>
          <a:lstStyle/>
          <a:p>
            <a:pPr/>
          </a:p>
        </p:txBody>
      </p:sp>
      <p:sp>
        <p:nvSpPr>
          <p:cNvPr id="163" name="let greeting = &quot;Hi Rick, my name is Amy.&quot;…"/>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greeting = </a:t>
            </a:r>
            <a:r>
              <a:rPr>
                <a:solidFill>
                  <a:srgbClr val="F95B57"/>
                </a:solidFill>
              </a:rPr>
              <a:t>"Hi Rick, my name is Amy."</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if</a:t>
            </a:r>
            <a:r>
              <a:t> </a:t>
            </a:r>
            <a:r>
              <a:rPr>
                <a:solidFill>
                  <a:srgbClr val="6CCE66"/>
                </a:solidFill>
              </a:rPr>
              <a:t>greeting</a:t>
            </a:r>
            <a:r>
              <a:t>.</a:t>
            </a:r>
            <a:r>
              <a:rPr>
                <a:solidFill>
                  <a:srgbClr val="6CCE66"/>
                </a:solidFill>
              </a:rPr>
              <a:t>contains</a:t>
            </a:r>
            <a:r>
              <a:t>(</a:t>
            </a:r>
            <a:r>
              <a:rPr>
                <a:solidFill>
                  <a:srgbClr val="F95B57"/>
                </a:solidFill>
              </a:rPr>
              <a:t>"my name is"</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6CCE66"/>
                </a:solidFill>
              </a:rPr>
              <a:t>print</a:t>
            </a:r>
            <a:r>
              <a:t>(</a:t>
            </a:r>
            <a:r>
              <a:rPr>
                <a:solidFill>
                  <a:srgbClr val="F95B57"/>
                </a:solidFill>
              </a:rPr>
              <a:t>"Making an introduction"</a:t>
            </a:r>
            <a:r>
              <a:t>)</a:t>
            </a:r>
          </a:p>
          <a:p>
            <a:pPr marL="0" indent="0" defTabSz="822960">
              <a:lnSpc>
                <a:spcPts val="5000"/>
              </a:lnSpc>
              <a:spcBef>
                <a:spcPts val="0"/>
              </a:spcBef>
              <a:buSzTx/>
              <a:buNone/>
              <a:defRPr spc="0" sz="3000">
                <a:latin typeface="Menlo Regular"/>
                <a:ea typeface="Menlo Regular"/>
                <a:cs typeface="Menlo Regular"/>
                <a:sym typeface="Menlo Regular"/>
              </a:defRPr>
            </a:pP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Making an introduction</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68" name="Checking length"/>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Checking length</a:t>
            </a:r>
          </a:p>
        </p:txBody>
      </p:sp>
      <p:sp>
        <p:nvSpPr>
          <p:cNvPr id="169" name="Rectangle"/>
          <p:cNvSpPr/>
          <p:nvPr/>
        </p:nvSpPr>
        <p:spPr>
          <a:xfrm>
            <a:off x="761517" y="9679283"/>
            <a:ext cx="22860968" cy="804539"/>
          </a:xfrm>
          <a:prstGeom prst="rect">
            <a:avLst/>
          </a:prstGeom>
          <a:solidFill>
            <a:srgbClr val="292B38"/>
          </a:solidFill>
          <a:ln w="25400">
            <a:miter lim="400000"/>
          </a:ln>
        </p:spPr>
        <p:txBody>
          <a:bodyPr lIns="63500" tIns="63500" rIns="63500" bIns="63500" anchor="ctr"/>
          <a:lstStyle/>
          <a:p>
            <a:pPr/>
          </a:p>
        </p:txBody>
      </p:sp>
      <p:sp>
        <p:nvSpPr>
          <p:cNvPr id="170" name="Rectangle"/>
          <p:cNvSpPr/>
          <p:nvPr/>
        </p:nvSpPr>
        <p:spPr>
          <a:xfrm>
            <a:off x="761517" y="3898900"/>
            <a:ext cx="22860968" cy="5142094"/>
          </a:xfrm>
          <a:prstGeom prst="rect">
            <a:avLst/>
          </a:prstGeom>
          <a:solidFill>
            <a:srgbClr val="292B38"/>
          </a:solidFill>
          <a:ln w="25400">
            <a:miter lim="400000"/>
          </a:ln>
        </p:spPr>
        <p:txBody>
          <a:bodyPr lIns="63500" tIns="63500" rIns="63500" bIns="63500" anchor="ctr"/>
          <a:lstStyle/>
          <a:p>
            <a:pPr/>
          </a:p>
        </p:txBody>
      </p:sp>
      <p:sp>
        <p:nvSpPr>
          <p:cNvPr id="171" name="String equality and comparison"/>
          <p:cNvSpPr/>
          <p:nvPr>
            <p:ph type="title"/>
          </p:nvPr>
        </p:nvSpPr>
        <p:spPr>
          <a:prstGeom prst="rect">
            <a:avLst/>
          </a:prstGeom>
        </p:spPr>
        <p:txBody>
          <a:bodyPr/>
          <a:lstStyle/>
          <a:p>
            <a:pPr/>
            <a:r>
              <a:t>String equality and comparison</a:t>
            </a:r>
          </a:p>
        </p:txBody>
      </p:sp>
      <p:sp>
        <p:nvSpPr>
          <p:cNvPr id="172" name="Rectangle"/>
          <p:cNvSpPr/>
          <p:nvPr/>
        </p:nvSpPr>
        <p:spPr>
          <a:xfrm>
            <a:off x="4891777" y="4889168"/>
            <a:ext cx="1409202" cy="494042"/>
          </a:xfrm>
          <a:prstGeom prst="rect">
            <a:avLst/>
          </a:prstGeom>
          <a:solidFill>
            <a:srgbClr val="34435A"/>
          </a:solidFill>
          <a:ln w="12700">
            <a:solidFill>
              <a:srgbClr val="505A7A"/>
            </a:solidFill>
            <a:miter lim="400000"/>
          </a:ln>
          <a:effectLst>
            <a:outerShdw sx="100000" sy="100000" kx="0" ky="0" algn="b" rotWithShape="0" blurRad="63500" dist="25400" dir="5400000">
              <a:srgbClr val="000000">
                <a:alpha val="50000"/>
              </a:srgbClr>
            </a:outerShdw>
          </a:effectLst>
        </p:spPr>
        <p:txBody>
          <a:bodyPr lIns="63500" tIns="63500" rIns="63500" bIns="63500" anchor="ctr"/>
          <a:lstStyle/>
          <a:p>
            <a:pPr/>
          </a:p>
        </p:txBody>
      </p:sp>
      <p:sp>
        <p:nvSpPr>
          <p:cNvPr id="173" name="let name = &quot;Ryan Mears&quot;…"/>
          <p:cNvSpPr/>
          <p:nvPr>
            <p:ph type="body" idx="1"/>
          </p:nvPr>
        </p:nvSpPr>
        <p:spPr>
          <a:prstGeom prst="rect">
            <a:avLst/>
          </a:prstGeom>
        </p:spPr>
        <p:txBody>
          <a:bodyPr/>
          <a:lstStyle/>
          <a:p>
            <a:pPr marL="0" indent="0">
              <a:lnSpc>
                <a:spcPts val="5600"/>
              </a:lnSpc>
              <a:spcBef>
                <a:spcPts val="0"/>
              </a:spcBef>
              <a:buSzTx/>
              <a:buNone/>
              <a:defRPr spc="0" sz="3000">
                <a:latin typeface="Menlo Regular"/>
                <a:ea typeface="Menlo Regular"/>
                <a:cs typeface="Menlo Regular"/>
                <a:sym typeface="Menlo Regular"/>
              </a:defRPr>
            </a:pPr>
            <a:r>
              <a:rPr>
                <a:solidFill>
                  <a:srgbClr val="3DCCCC"/>
                </a:solidFill>
              </a:rPr>
              <a:t>let</a:t>
            </a:r>
            <a:r>
              <a:t> name = </a:t>
            </a:r>
            <a:r>
              <a:rPr>
                <a:solidFill>
                  <a:srgbClr val="F95B57"/>
                </a:solidFill>
              </a:rPr>
              <a:t>"Ryan Mears"</a:t>
            </a:r>
          </a:p>
          <a:p>
            <a:pPr marL="0" indent="0">
              <a:lnSpc>
                <a:spcPts val="5600"/>
              </a:lnSpc>
              <a:spcBef>
                <a:spcPts val="0"/>
              </a:spcBef>
              <a:buSzTx/>
              <a:buNone/>
              <a:defRPr spc="0" sz="3000">
                <a:latin typeface="Menlo Regular"/>
                <a:ea typeface="Menlo Regular"/>
                <a:cs typeface="Menlo Regular"/>
                <a:sym typeface="Menlo Regular"/>
              </a:defRPr>
            </a:pPr>
            <a:r>
              <a:rPr>
                <a:solidFill>
                  <a:srgbClr val="3DCCCC"/>
                </a:solidFill>
              </a:rPr>
              <a:t>let</a:t>
            </a:r>
            <a:r>
              <a:t> count = </a:t>
            </a:r>
            <a:r>
              <a:rPr>
                <a:solidFill>
                  <a:srgbClr val="6CCE66"/>
                </a:solidFill>
              </a:rPr>
              <a:t>name</a:t>
            </a:r>
            <a:r>
              <a:t>.</a:t>
            </a:r>
            <a:r>
              <a:rPr>
                <a:solidFill>
                  <a:srgbClr val="6CCE66"/>
                </a:solidFill>
              </a:rPr>
              <a:t>count</a:t>
            </a:r>
            <a:r>
              <a:t> </a:t>
            </a:r>
          </a:p>
          <a:p>
            <a:pPr marL="0" indent="0" defTabSz="502284">
              <a:spcBef>
                <a:spcPts val="0"/>
              </a:spcBef>
              <a:buSzTx/>
              <a:buNone/>
              <a:tabLst>
                <a:tab pos="495300" algn="l"/>
              </a:tabLst>
              <a:defRPr spc="0" sz="3000">
                <a:solidFill>
                  <a:srgbClr val="FFFFFF">
                    <a:alpha val="85000"/>
                  </a:srgbClr>
                </a:solidFill>
                <a:latin typeface="Menlo Regular"/>
                <a:ea typeface="Menlo Regular"/>
                <a:cs typeface="Menlo Regular"/>
                <a:sym typeface="Menlo Regular"/>
              </a:defRPr>
            </a:pPr>
            <a:r>
              <a:t>print(</a:t>
            </a:r>
            <a:r>
              <a:rPr>
                <a:solidFill>
                  <a:srgbClr val="78C2B3"/>
                </a:solidFill>
              </a:rPr>
              <a:t>count</a:t>
            </a:r>
            <a:r>
              <a:t>)</a:t>
            </a:r>
          </a:p>
          <a:p>
            <a:pPr marL="0" indent="0">
              <a:lnSpc>
                <a:spcPts val="5600"/>
              </a:lnSpc>
              <a:spcBef>
                <a:spcPts val="0"/>
              </a:spcBef>
              <a:buSzTx/>
              <a:buNone/>
              <a:defRPr spc="0" sz="3000">
                <a:latin typeface="Menlo Regular"/>
                <a:ea typeface="Menlo Regular"/>
                <a:cs typeface="Menlo Regular"/>
                <a:sym typeface="Menlo Regular"/>
              </a:defRPr>
            </a:pPr>
            <a:r>
              <a:rPr>
                <a:solidFill>
                  <a:srgbClr val="3DCCCC"/>
                </a:solidFill>
              </a:rPr>
              <a:t>let</a:t>
            </a:r>
            <a:r>
              <a:t> newPassword = </a:t>
            </a:r>
            <a:r>
              <a:rPr>
                <a:solidFill>
                  <a:srgbClr val="F95B57"/>
                </a:solidFill>
              </a:rPr>
              <a:t>"1234"</a:t>
            </a:r>
          </a:p>
          <a:p>
            <a:pPr marL="0" indent="0">
              <a:lnSpc>
                <a:spcPts val="5600"/>
              </a:lnSpc>
              <a:spcBef>
                <a:spcPts val="0"/>
              </a:spcBef>
              <a:buSzTx/>
              <a:buNone/>
              <a:defRPr spc="0" sz="3000">
                <a:latin typeface="Menlo Regular"/>
                <a:ea typeface="Menlo Regular"/>
                <a:cs typeface="Menlo Regular"/>
                <a:sym typeface="Menlo Regular"/>
              </a:defRPr>
            </a:pPr>
          </a:p>
          <a:p>
            <a:pPr marL="0" indent="0">
              <a:lnSpc>
                <a:spcPts val="5600"/>
              </a:lnSpc>
              <a:spcBef>
                <a:spcPts val="0"/>
              </a:spcBef>
              <a:buSzTx/>
              <a:buNone/>
              <a:defRPr spc="0" sz="3000">
                <a:latin typeface="Menlo Regular"/>
                <a:ea typeface="Menlo Regular"/>
                <a:cs typeface="Menlo Regular"/>
                <a:sym typeface="Menlo Regular"/>
              </a:defRPr>
            </a:pPr>
            <a:r>
              <a:rPr>
                <a:solidFill>
                  <a:srgbClr val="3DCCCC"/>
                </a:solidFill>
              </a:rPr>
              <a:t>if</a:t>
            </a:r>
            <a:r>
              <a:t> </a:t>
            </a:r>
            <a:r>
              <a:rPr>
                <a:solidFill>
                  <a:srgbClr val="6CCE66"/>
                </a:solidFill>
              </a:rPr>
              <a:t>newPassword</a:t>
            </a:r>
            <a:r>
              <a:t>.</a:t>
            </a:r>
            <a:r>
              <a:rPr>
                <a:solidFill>
                  <a:srgbClr val="6CCE66"/>
                </a:solidFill>
              </a:rPr>
              <a:t>count</a:t>
            </a:r>
            <a:r>
              <a:t> &lt; 8 {</a:t>
            </a:r>
          </a:p>
          <a:p>
            <a:pPr marL="0" indent="0">
              <a:lnSpc>
                <a:spcPts val="5600"/>
              </a:lnSpc>
              <a:spcBef>
                <a:spcPts val="0"/>
              </a:spcBef>
              <a:buSzTx/>
              <a:buNone/>
              <a:defRPr spc="0" sz="3000">
                <a:latin typeface="Menlo Regular"/>
                <a:ea typeface="Menlo Regular"/>
                <a:cs typeface="Menlo Regular"/>
                <a:sym typeface="Menlo Regular"/>
              </a:defRPr>
            </a:pPr>
            <a:r>
              <a:t>    </a:t>
            </a:r>
            <a:r>
              <a:rPr>
                <a:solidFill>
                  <a:srgbClr val="6CCE66"/>
                </a:solidFill>
              </a:rPr>
              <a:t>print</a:t>
            </a:r>
            <a:r>
              <a:t>(</a:t>
            </a:r>
            <a:r>
              <a:rPr>
                <a:solidFill>
                  <a:srgbClr val="F95B57"/>
                </a:solidFill>
              </a:rPr>
              <a:t>"This password is too short. Passwords should have at least 8 characters."</a:t>
            </a:r>
            <a:r>
              <a:t>)</a:t>
            </a:r>
          </a:p>
          <a:p>
            <a:pPr marL="0" indent="0">
              <a:lnSpc>
                <a:spcPts val="5600"/>
              </a:lnSpc>
              <a:spcBef>
                <a:spcPts val="0"/>
              </a:spcBef>
              <a:buSzTx/>
              <a:buNone/>
              <a:defRPr spc="0" sz="3000">
                <a:latin typeface="Menlo Regular"/>
                <a:ea typeface="Menlo Regular"/>
                <a:cs typeface="Menlo Regular"/>
                <a:sym typeface="Menlo Regular"/>
              </a:defRPr>
            </a:pPr>
            <a:r>
              <a:t>}</a:t>
            </a:r>
          </a:p>
          <a:p>
            <a:pPr marL="0" indent="0">
              <a:lnSpc>
                <a:spcPts val="5600"/>
              </a:lnSpc>
              <a:spcBef>
                <a:spcPts val="0"/>
              </a:spcBef>
              <a:buSzTx/>
              <a:buNone/>
              <a:defRPr spc="0" sz="3000">
                <a:latin typeface="Menlo Regular"/>
                <a:ea typeface="Menlo Regular"/>
                <a:cs typeface="Menlo Regular"/>
                <a:sym typeface="Menlo Regular"/>
              </a:defRPr>
            </a:pPr>
          </a:p>
          <a:p>
            <a:pPr marL="0" indent="0" defTabSz="502284">
              <a:spcBef>
                <a:spcPts val="0"/>
              </a:spcBef>
              <a:buSzTx/>
              <a:buNone/>
              <a:tabLst>
                <a:tab pos="495300" algn="l"/>
              </a:tabLst>
              <a:defRPr spc="0" sz="3000">
                <a:latin typeface="Menlo Regular"/>
                <a:ea typeface="Menlo Regular"/>
                <a:cs typeface="Menlo Regular"/>
                <a:sym typeface="Menlo Regular"/>
              </a:defRPr>
            </a:pPr>
            <a:r>
              <a:t>10</a:t>
            </a:r>
          </a:p>
          <a:p>
            <a:pPr marL="0" indent="0">
              <a:lnSpc>
                <a:spcPts val="5600"/>
              </a:lnSpc>
              <a:spcBef>
                <a:spcPts val="0"/>
              </a:spcBef>
              <a:buSzTx/>
              <a:buNone/>
              <a:defRPr spc="0" sz="3000">
                <a:latin typeface="Menlo Regular"/>
                <a:ea typeface="Menlo Regular"/>
                <a:cs typeface="Menlo Regular"/>
                <a:sym typeface="Menlo Regular"/>
              </a:defRPr>
            </a:pPr>
            <a:r>
              <a:t>This password is too short. Passwords should have at least 8 characters.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7"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78" name="Using switch"/>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Using switch</a:t>
            </a:r>
          </a:p>
        </p:txBody>
      </p:sp>
      <p:sp>
        <p:nvSpPr>
          <p:cNvPr id="179" name="Rectangle"/>
          <p:cNvSpPr/>
          <p:nvPr/>
        </p:nvSpPr>
        <p:spPr>
          <a:xfrm>
            <a:off x="761517" y="9695611"/>
            <a:ext cx="22860968" cy="800101"/>
          </a:xfrm>
          <a:prstGeom prst="rect">
            <a:avLst/>
          </a:prstGeom>
          <a:solidFill>
            <a:srgbClr val="292B38"/>
          </a:solidFill>
          <a:ln w="25400">
            <a:miter lim="400000"/>
          </a:ln>
        </p:spPr>
        <p:txBody>
          <a:bodyPr lIns="63500" tIns="63500" rIns="63500" bIns="63500" anchor="ctr"/>
          <a:lstStyle/>
          <a:p>
            <a:pPr/>
          </a:p>
        </p:txBody>
      </p:sp>
      <p:sp>
        <p:nvSpPr>
          <p:cNvPr id="180" name="Rectangle"/>
          <p:cNvSpPr/>
          <p:nvPr/>
        </p:nvSpPr>
        <p:spPr>
          <a:xfrm>
            <a:off x="761517" y="3898900"/>
            <a:ext cx="22860968" cy="5045234"/>
          </a:xfrm>
          <a:prstGeom prst="rect">
            <a:avLst/>
          </a:prstGeom>
          <a:solidFill>
            <a:srgbClr val="292B38"/>
          </a:solidFill>
          <a:ln w="25400">
            <a:miter lim="400000"/>
          </a:ln>
        </p:spPr>
        <p:txBody>
          <a:bodyPr lIns="63500" tIns="63500" rIns="63500" bIns="63500" anchor="ctr"/>
          <a:lstStyle/>
          <a:p>
            <a:pPr/>
          </a:p>
        </p:txBody>
      </p:sp>
      <p:sp>
        <p:nvSpPr>
          <p:cNvPr id="181" name="String equality and comparison"/>
          <p:cNvSpPr/>
          <p:nvPr>
            <p:ph type="title"/>
          </p:nvPr>
        </p:nvSpPr>
        <p:spPr>
          <a:prstGeom prst="rect">
            <a:avLst/>
          </a:prstGeom>
        </p:spPr>
        <p:txBody>
          <a:bodyPr/>
          <a:lstStyle/>
          <a:p>
            <a:pPr/>
            <a:r>
              <a:t>String equality and comparison</a:t>
            </a:r>
          </a:p>
        </p:txBody>
      </p:sp>
      <p:sp>
        <p:nvSpPr>
          <p:cNvPr id="182" name="let someCharacter: Character = &quot;e&quot;…"/>
          <p:cNvSpPr/>
          <p:nvPr>
            <p:ph type="body" idx="1"/>
          </p:nvPr>
        </p:nvSpPr>
        <p:spPr>
          <a:prstGeom prst="rect">
            <a:avLst/>
          </a:prstGeom>
        </p:spPr>
        <p:txBody>
          <a:bodyPr/>
          <a:lstStyle/>
          <a:p>
            <a:pPr marL="0" indent="0">
              <a:lnSpc>
                <a:spcPts val="5600"/>
              </a:lnSpc>
              <a:spcBef>
                <a:spcPts val="0"/>
              </a:spcBef>
              <a:buSzTx/>
              <a:buNone/>
              <a:defRPr spc="0" sz="3000">
                <a:latin typeface="Menlo Regular"/>
                <a:ea typeface="Menlo Regular"/>
                <a:cs typeface="Menlo Regular"/>
                <a:sym typeface="Menlo Regular"/>
              </a:defRPr>
            </a:pPr>
            <a:r>
              <a:rPr>
                <a:solidFill>
                  <a:srgbClr val="3DCCCC"/>
                </a:solidFill>
              </a:rPr>
              <a:t>let</a:t>
            </a:r>
            <a:r>
              <a:t> someCharacter: </a:t>
            </a:r>
            <a:r>
              <a:rPr>
                <a:solidFill>
                  <a:srgbClr val="6CCE66"/>
                </a:solidFill>
              </a:rPr>
              <a:t>Character</a:t>
            </a:r>
            <a:r>
              <a:t> = </a:t>
            </a:r>
            <a:r>
              <a:rPr>
                <a:solidFill>
                  <a:srgbClr val="F95B57"/>
                </a:solidFill>
              </a:rPr>
              <a:t>"e"</a:t>
            </a:r>
          </a:p>
          <a:p>
            <a:pPr marL="0" indent="0">
              <a:lnSpc>
                <a:spcPts val="5600"/>
              </a:lnSpc>
              <a:spcBef>
                <a:spcPts val="0"/>
              </a:spcBef>
              <a:buSzTx/>
              <a:buNone/>
              <a:defRPr spc="0" sz="3000">
                <a:latin typeface="Menlo Regular"/>
                <a:ea typeface="Menlo Regular"/>
                <a:cs typeface="Menlo Regular"/>
                <a:sym typeface="Menlo Regular"/>
              </a:defRPr>
            </a:pPr>
            <a:r>
              <a:rPr>
                <a:solidFill>
                  <a:srgbClr val="3DCCCC"/>
                </a:solidFill>
              </a:rPr>
              <a:t>switch</a:t>
            </a:r>
            <a:r>
              <a:t> </a:t>
            </a:r>
            <a:r>
              <a:rPr>
                <a:solidFill>
                  <a:srgbClr val="6CCE66"/>
                </a:solidFill>
              </a:rPr>
              <a:t>someCharacter</a:t>
            </a:r>
            <a:r>
              <a:t> {</a:t>
            </a:r>
          </a:p>
          <a:p>
            <a:pPr marL="0" indent="0">
              <a:lnSpc>
                <a:spcPts val="5600"/>
              </a:lnSpc>
              <a:spcBef>
                <a:spcPts val="0"/>
              </a:spcBef>
              <a:buSzTx/>
              <a:buNone/>
              <a:defRPr spc="0" sz="3000">
                <a:latin typeface="Menlo Regular"/>
                <a:ea typeface="Menlo Regular"/>
                <a:cs typeface="Menlo Regular"/>
                <a:sym typeface="Menlo Regular"/>
              </a:defRPr>
            </a:pPr>
            <a:r>
              <a:t>  </a:t>
            </a:r>
            <a:r>
              <a:rPr>
                <a:solidFill>
                  <a:srgbClr val="3DCCCC"/>
                </a:solidFill>
              </a:rPr>
              <a:t>case</a:t>
            </a:r>
            <a:r>
              <a:t> </a:t>
            </a:r>
            <a:r>
              <a:rPr>
                <a:solidFill>
                  <a:srgbClr val="F95B57"/>
                </a:solidFill>
              </a:rPr>
              <a:t>"a"</a:t>
            </a:r>
            <a:r>
              <a:t>, </a:t>
            </a:r>
            <a:r>
              <a:rPr>
                <a:solidFill>
                  <a:srgbClr val="F95B57"/>
                </a:solidFill>
              </a:rPr>
              <a:t>"e"</a:t>
            </a:r>
            <a:r>
              <a:t>, </a:t>
            </a:r>
            <a:r>
              <a:rPr>
                <a:solidFill>
                  <a:srgbClr val="F95B57"/>
                </a:solidFill>
              </a:rPr>
              <a:t>"i"</a:t>
            </a:r>
            <a:r>
              <a:t>, </a:t>
            </a:r>
            <a:r>
              <a:rPr>
                <a:solidFill>
                  <a:srgbClr val="F95B57"/>
                </a:solidFill>
              </a:rPr>
              <a:t>"o"</a:t>
            </a:r>
            <a:r>
              <a:t>, </a:t>
            </a:r>
            <a:r>
              <a:rPr>
                <a:solidFill>
                  <a:srgbClr val="F95B57"/>
                </a:solidFill>
              </a:rPr>
              <a:t>"u"</a:t>
            </a:r>
            <a:r>
              <a:t>:</a:t>
            </a:r>
          </a:p>
          <a:p>
            <a:pPr marL="0" indent="0">
              <a:lnSpc>
                <a:spcPts val="5600"/>
              </a:lnSpc>
              <a:spcBef>
                <a:spcPts val="0"/>
              </a:spcBef>
              <a:buSzTx/>
              <a:buNone/>
              <a:defRPr spc="0" sz="3000">
                <a:latin typeface="Menlo Regular"/>
                <a:ea typeface="Menlo Regular"/>
                <a:cs typeface="Menlo Regular"/>
                <a:sym typeface="Menlo Regular"/>
              </a:defRPr>
            </a:pPr>
            <a:r>
              <a:t>    </a:t>
            </a:r>
            <a:r>
              <a:rPr>
                <a:solidFill>
                  <a:srgbClr val="6CCE66"/>
                </a:solidFill>
              </a:rPr>
              <a:t>print</a:t>
            </a:r>
            <a:r>
              <a:t>(</a:t>
            </a:r>
            <a:r>
              <a:rPr>
                <a:solidFill>
                  <a:srgbClr val="F95B57"/>
                </a:solidFill>
              </a:rPr>
              <a:t>"</a:t>
            </a:r>
            <a:r>
              <a:t>\</a:t>
            </a:r>
            <a:r>
              <a:rPr>
                <a:solidFill>
                  <a:srgbClr val="F95B57"/>
                </a:solidFill>
              </a:rPr>
              <a:t>(someCharacter) is a vowel."</a:t>
            </a:r>
            <a:r>
              <a:t>)</a:t>
            </a:r>
          </a:p>
          <a:p>
            <a:pPr marL="0" indent="0">
              <a:lnSpc>
                <a:spcPts val="5600"/>
              </a:lnSpc>
              <a:spcBef>
                <a:spcPts val="0"/>
              </a:spcBef>
              <a:buSzTx/>
              <a:buNone/>
              <a:defRPr spc="0" sz="3000">
                <a:latin typeface="Menlo Regular"/>
                <a:ea typeface="Menlo Regular"/>
                <a:cs typeface="Menlo Regular"/>
                <a:sym typeface="Menlo Regular"/>
              </a:defRPr>
            </a:pPr>
            <a:r>
              <a:t>  </a:t>
            </a:r>
            <a:r>
              <a:rPr>
                <a:solidFill>
                  <a:srgbClr val="3DCCCC"/>
                </a:solidFill>
              </a:rPr>
              <a:t>default</a:t>
            </a:r>
            <a:r>
              <a:t>:</a:t>
            </a:r>
          </a:p>
          <a:p>
            <a:pPr marL="0" indent="0">
              <a:lnSpc>
                <a:spcPts val="5600"/>
              </a:lnSpc>
              <a:spcBef>
                <a:spcPts val="0"/>
              </a:spcBef>
              <a:buSzTx/>
              <a:buNone/>
              <a:defRPr spc="0" sz="3000">
                <a:latin typeface="Menlo Regular"/>
                <a:ea typeface="Menlo Regular"/>
                <a:cs typeface="Menlo Regular"/>
                <a:sym typeface="Menlo Regular"/>
              </a:defRPr>
            </a:pPr>
            <a:r>
              <a:t>    </a:t>
            </a:r>
            <a:r>
              <a:rPr>
                <a:solidFill>
                  <a:srgbClr val="6CCE66"/>
                </a:solidFill>
              </a:rPr>
              <a:t>print</a:t>
            </a:r>
            <a:r>
              <a:t>(</a:t>
            </a:r>
            <a:r>
              <a:rPr>
                <a:solidFill>
                  <a:srgbClr val="F95B57"/>
                </a:solidFill>
              </a:rPr>
              <a:t>"</a:t>
            </a:r>
            <a:r>
              <a:t>\</a:t>
            </a:r>
            <a:r>
              <a:rPr>
                <a:solidFill>
                  <a:srgbClr val="F95B57"/>
                </a:solidFill>
              </a:rPr>
              <a:t>(someCharacter) is not a vowel."</a:t>
            </a:r>
            <a:r>
              <a:t>)</a:t>
            </a:r>
          </a:p>
          <a:p>
            <a:pPr marL="0" indent="0">
              <a:lnSpc>
                <a:spcPts val="5600"/>
              </a:lnSpc>
              <a:spcBef>
                <a:spcPts val="0"/>
              </a:spcBef>
              <a:buSzTx/>
              <a:buNone/>
              <a:defRPr spc="0" sz="3000">
                <a:latin typeface="Menlo Regular"/>
                <a:ea typeface="Menlo Regular"/>
                <a:cs typeface="Menlo Regular"/>
                <a:sym typeface="Menlo Regular"/>
              </a:defRPr>
            </a:pPr>
            <a:r>
              <a:t>}</a:t>
            </a:r>
          </a:p>
          <a:p>
            <a:pPr marL="0" indent="0">
              <a:lnSpc>
                <a:spcPts val="5600"/>
              </a:lnSpc>
              <a:spcBef>
                <a:spcPts val="0"/>
              </a:spcBef>
              <a:buSzTx/>
              <a:buNone/>
              <a:defRPr spc="0" sz="3000">
                <a:latin typeface="Menlo Regular"/>
                <a:ea typeface="Menlo Regular"/>
                <a:cs typeface="Menlo Regular"/>
                <a:sym typeface="Menlo Regular"/>
              </a:defRPr>
            </a:pPr>
          </a:p>
          <a:p>
            <a:pPr marL="0" indent="0">
              <a:lnSpc>
                <a:spcPts val="5600"/>
              </a:lnSpc>
              <a:spcBef>
                <a:spcPts val="0"/>
              </a:spcBef>
              <a:buSzTx/>
              <a:buNone/>
              <a:defRPr spc="0" sz="3000">
                <a:latin typeface="Menlo Regular"/>
                <a:ea typeface="Menlo Regular"/>
                <a:cs typeface="Menlo Regular"/>
                <a:sym typeface="Menlo Regular"/>
              </a:defRPr>
            </a:pPr>
            <a:r>
              <a:t>e is a vowel.</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6"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87" name="Rectangle"/>
          <p:cNvSpPr/>
          <p:nvPr/>
        </p:nvSpPr>
        <p:spPr>
          <a:xfrm>
            <a:off x="761517" y="7144384"/>
            <a:ext cx="22860968" cy="800101"/>
          </a:xfrm>
          <a:prstGeom prst="rect">
            <a:avLst/>
          </a:prstGeom>
          <a:solidFill>
            <a:srgbClr val="292B38"/>
          </a:solidFill>
          <a:ln w="25400">
            <a:miter lim="400000"/>
          </a:ln>
        </p:spPr>
        <p:txBody>
          <a:bodyPr lIns="50800" tIns="50800" rIns="50800" bIns="50800" anchor="ctr"/>
          <a:lstStyle/>
          <a:p>
            <a:pPr/>
          </a:p>
        </p:txBody>
      </p:sp>
      <p:sp>
        <p:nvSpPr>
          <p:cNvPr id="188" name="Rectangle"/>
          <p:cNvSpPr/>
          <p:nvPr/>
        </p:nvSpPr>
        <p:spPr>
          <a:xfrm>
            <a:off x="761516" y="3898900"/>
            <a:ext cx="22860968" cy="2892550"/>
          </a:xfrm>
          <a:prstGeom prst="rect">
            <a:avLst/>
          </a:prstGeom>
          <a:solidFill>
            <a:srgbClr val="292B38"/>
          </a:solidFill>
          <a:ln w="25400">
            <a:miter lim="400000"/>
          </a:ln>
        </p:spPr>
        <p:txBody>
          <a:bodyPr lIns="50800" tIns="50800" rIns="50800" bIns="50800" anchor="ctr"/>
          <a:lstStyle/>
          <a:p>
            <a:pPr/>
          </a:p>
        </p:txBody>
      </p:sp>
      <p:sp>
        <p:nvSpPr>
          <p:cNvPr id="189" name="Unicode"/>
          <p:cNvSpPr/>
          <p:nvPr>
            <p:ph type="title"/>
          </p:nvPr>
        </p:nvSpPr>
        <p:spPr>
          <a:prstGeom prst="rect">
            <a:avLst/>
          </a:prstGeom>
        </p:spPr>
        <p:txBody>
          <a:bodyPr/>
          <a:lstStyle/>
          <a:p>
            <a:pPr/>
            <a:r>
              <a:t>Unicode</a:t>
            </a:r>
          </a:p>
        </p:txBody>
      </p:sp>
      <p:sp>
        <p:nvSpPr>
          <p:cNvPr id="190" name="let cow = &quot;🐮&quot;…"/>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cow = </a:t>
            </a:r>
            <a:r>
              <a:rPr>
                <a:solidFill>
                  <a:srgbClr val="F95B57"/>
                </a:solidFill>
              </a:rPr>
              <a:t>"🐮"</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credentials = </a:t>
            </a:r>
            <a:r>
              <a:rPr>
                <a:solidFill>
                  <a:srgbClr val="F95B57"/>
                </a:solidFill>
              </a:rPr>
              <a:t>"résumé"</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myBook = </a:t>
            </a:r>
            <a:r>
              <a:rPr>
                <a:solidFill>
                  <a:srgbClr val="F95B57"/>
                </a:solidFill>
              </a:rPr>
              <a:t>"私の本"</a:t>
            </a:r>
            <a:endParaRPr>
              <a:solidFill>
                <a:srgbClr val="B4261A"/>
              </a:solidFill>
            </a:endParaR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print</a:t>
            </a:r>
            <a:r>
              <a:t>(</a:t>
            </a:r>
            <a:r>
              <a:rPr>
                <a:solidFill>
                  <a:srgbClr val="F95B57"/>
                </a:solidFill>
              </a:rPr>
              <a:t>"∞"</a:t>
            </a:r>
            <a:r>
              <a:t>.</a:t>
            </a:r>
            <a:r>
              <a:rPr>
                <a:solidFill>
                  <a:srgbClr val="6CCE66"/>
                </a:solidFill>
              </a:rPr>
              <a:t>count</a:t>
            </a: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1</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95" name="Lab: Strings"/>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Lab: Strings</a:t>
            </a:r>
          </a:p>
        </p:txBody>
      </p:sp>
      <p:sp>
        <p:nvSpPr>
          <p:cNvPr id="196" name="Unit 2—Lesson 1"/>
          <p:cNvSpPr/>
          <p:nvPr>
            <p:ph type="title"/>
          </p:nvPr>
        </p:nvSpPr>
        <p:spPr>
          <a:prstGeom prst="rect">
            <a:avLst/>
          </a:prstGeom>
        </p:spPr>
        <p:txBody>
          <a:bodyPr/>
          <a:lstStyle/>
          <a:p>
            <a:pPr/>
            <a:r>
              <a:t>Unit 2—Lesson 1</a:t>
            </a:r>
          </a:p>
        </p:txBody>
      </p:sp>
      <p:sp>
        <p:nvSpPr>
          <p:cNvPr id="197" name="Open and complete the exercises in Lab - Strings.playground"/>
          <p:cNvSpPr/>
          <p:nvPr>
            <p:ph type="body" idx="1"/>
          </p:nvPr>
        </p:nvSpPr>
        <p:spPr>
          <a:prstGeom prst="rect">
            <a:avLst/>
          </a:prstGeom>
        </p:spPr>
        <p:txBody>
          <a:bodyPr/>
          <a:lstStyle/>
          <a:p>
            <a:pPr marL="0" indent="0">
              <a:buSzTx/>
              <a:buNone/>
            </a:pPr>
            <a:r>
              <a:t>Open and complete the exercises in </a:t>
            </a:r>
            <a:r>
              <a:rPr>
                <a:latin typeface="Menlo Regular"/>
                <a:ea typeface="Menlo Regular"/>
                <a:cs typeface="Menlo Regular"/>
                <a:sym typeface="Menlo Regular"/>
              </a:rPr>
              <a:t>Lab - Strings.playground</a:t>
            </a:r>
          </a:p>
        </p:txBody>
      </p:sp>
      <p:grpSp>
        <p:nvGrpSpPr>
          <p:cNvPr id="200" name="Group"/>
          <p:cNvGrpSpPr/>
          <p:nvPr/>
        </p:nvGrpSpPr>
        <p:grpSpPr>
          <a:xfrm>
            <a:off x="21551900" y="1297017"/>
            <a:ext cx="1524001" cy="1524001"/>
            <a:chOff x="0" y="0"/>
            <a:chExt cx="1524000" cy="1524000"/>
          </a:xfrm>
        </p:grpSpPr>
        <p:sp>
          <p:nvSpPr>
            <p:cNvPr id="198" name="Circle"/>
            <p:cNvSpPr/>
            <p:nvPr/>
          </p:nvSpPr>
          <p:spPr>
            <a:xfrm>
              <a:off x="0" y="0"/>
              <a:ext cx="1524001" cy="1524001"/>
            </a:xfrm>
            <a:prstGeom prst="ellipse">
              <a:avLst/>
            </a:prstGeom>
            <a:gradFill flip="none" rotWithShape="1">
              <a:gsLst>
                <a:gs pos="0">
                  <a:srgbClr val="FE5F55"/>
                </a:gs>
                <a:gs pos="100000">
                  <a:srgbClr val="E4234A"/>
                </a:gs>
              </a:gsLst>
              <a:lin ang="5400000" scaled="0"/>
            </a:gradFill>
            <a:ln w="38100" cap="flat">
              <a:solidFill>
                <a:srgbClr val="DCDEE0"/>
              </a:solidFill>
              <a:prstDash val="solid"/>
              <a:miter lim="400000"/>
            </a:ln>
            <a:effectLst/>
          </p:spPr>
          <p:txBody>
            <a:bodyPr wrap="square" lIns="50800" tIns="50800" rIns="50800" bIns="50800" numCol="1" anchor="ctr">
              <a:noAutofit/>
            </a:bodyPr>
            <a:lstStyle/>
            <a:p>
              <a:pPr algn="l" defTabSz="800100">
                <a:spcBef>
                  <a:spcPts val="3000"/>
                </a:spcBef>
                <a:defRPr sz="4500">
                  <a:latin typeface="Helvetica Neue Light"/>
                  <a:ea typeface="Helvetica Neue Light"/>
                  <a:cs typeface="Helvetica Neue Light"/>
                  <a:sym typeface="Helvetica Neue Light"/>
                </a:defRPr>
              </a:pPr>
            </a:p>
          </p:txBody>
        </p:sp>
        <p:pic>
          <p:nvPicPr>
            <p:cNvPr id="199" name="Image" descr="Image"/>
            <p:cNvPicPr>
              <a:picLocks noChangeAspect="1"/>
            </p:cNvPicPr>
            <p:nvPr/>
          </p:nvPicPr>
          <p:blipFill>
            <a:blip r:embed="rId2">
              <a:extLst/>
            </a:blip>
            <a:stretch>
              <a:fillRect/>
            </a:stretch>
          </p:blipFill>
          <p:spPr>
            <a:xfrm>
              <a:off x="430261" y="411519"/>
              <a:ext cx="663478" cy="700962"/>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62ACDB"/>
      </a:dk1>
      <a:lt1>
        <a:srgbClr val="FFFFFF"/>
      </a:lt1>
      <a:dk2>
        <a:srgbClr val="000000"/>
      </a:dk2>
      <a:lt2>
        <a:srgbClr val="BF832E"/>
      </a:lt2>
      <a:accent1>
        <a:srgbClr val="A8A8A8"/>
      </a:accent1>
      <a:accent2>
        <a:srgbClr val="E9E9E9"/>
      </a:accent2>
      <a:accent3>
        <a:srgbClr val="D3D3D3"/>
      </a:accent3>
      <a:accent4>
        <a:srgbClr val="BEBEBE"/>
      </a:accent4>
      <a:accent5>
        <a:srgbClr val="8C8C8C"/>
      </a:accent5>
      <a:accent6>
        <a:srgbClr val="666666"/>
      </a:accent6>
      <a:hlink>
        <a:srgbClr val="0000FF"/>
      </a:hlink>
      <a:folHlink>
        <a:srgbClr val="FF00FF"/>
      </a:folHlink>
    </a:clrScheme>
    <a:fontScheme name="White">
      <a:majorFont>
        <a:latin typeface="Helvetica Neue"/>
        <a:ea typeface="Helvetica Neue"/>
        <a:cs typeface="Helvetica Neue"/>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5497C1"/>
        </a:solidFill>
        <a:ln w="25400" cap="flat">
          <a:noFill/>
          <a:miter lim="400000"/>
        </a:ln>
        <a:effectLst/>
        <a:sp3d/>
      </a:spPr>
      <a:bodyPr rot="0" spcFirstLastPara="1" vertOverflow="overflow" horzOverflow="overflow" vert="horz" wrap="square" lIns="63500" tIns="63500" rIns="63500" bIns="63500" numCol="1" spcCol="38100" rtlCol="0" anchor="ctr" upright="0">
        <a:spAutoFit/>
      </a:bodyPr>
      <a:lstStyle>
        <a:defPPr marL="0" marR="0" indent="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5497C1"/>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25400" cap="flat">
          <a:noFill/>
          <a:miter lim="400000"/>
        </a:ln>
        <a:effectLst/>
        <a:sp3d/>
      </a:spPr>
      <a:bodyPr rot="0" spcFirstLastPara="1" vertOverflow="overflow" horzOverflow="overflow" vert="horz" wrap="square" lIns="63500" tIns="63500" rIns="63500" bIns="63500" numCol="1" spcCol="38100" rtlCol="0" anchor="ctr" upright="0">
        <a:spAutoFit/>
      </a:bodyPr>
      <a:lstStyle>
        <a:defPPr marL="0" marR="0" indent="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000000"/>
      </a:dk2>
      <a:lt2>
        <a:srgbClr val="BF832E"/>
      </a:lt2>
      <a:accent1>
        <a:srgbClr val="A8A8A8"/>
      </a:accent1>
      <a:accent2>
        <a:srgbClr val="E9E9E9"/>
      </a:accent2>
      <a:accent3>
        <a:srgbClr val="D3D3D3"/>
      </a:accent3>
      <a:accent4>
        <a:srgbClr val="BEBEBE"/>
      </a:accent4>
      <a:accent5>
        <a:srgbClr val="8C8C8C"/>
      </a:accent5>
      <a:accent6>
        <a:srgbClr val="666666"/>
      </a:accent6>
      <a:hlink>
        <a:srgbClr val="0000FF"/>
      </a:hlink>
      <a:folHlink>
        <a:srgbClr val="FF00FF"/>
      </a:folHlink>
    </a:clrScheme>
    <a:fontScheme name="White">
      <a:majorFont>
        <a:latin typeface="Helvetica Neue"/>
        <a:ea typeface="Helvetica Neue"/>
        <a:cs typeface="Helvetica Neue"/>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5497C1"/>
        </a:solidFill>
        <a:ln w="25400" cap="flat">
          <a:noFill/>
          <a:miter lim="400000"/>
        </a:ln>
        <a:effectLst/>
        <a:sp3d/>
      </a:spPr>
      <a:bodyPr rot="0" spcFirstLastPara="1" vertOverflow="overflow" horzOverflow="overflow" vert="horz" wrap="square" lIns="63500" tIns="63500" rIns="63500" bIns="63500" numCol="1" spcCol="38100" rtlCol="0" anchor="ctr" upright="0">
        <a:spAutoFit/>
      </a:bodyPr>
      <a:lstStyle>
        <a:defPPr marL="0" marR="0" indent="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5497C1"/>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25400" cap="flat">
          <a:noFill/>
          <a:miter lim="400000"/>
        </a:ln>
        <a:effectLst/>
        <a:sp3d/>
      </a:spPr>
      <a:bodyPr rot="0" spcFirstLastPara="1" vertOverflow="overflow" horzOverflow="overflow" vert="horz" wrap="square" lIns="63500" tIns="63500" rIns="63500" bIns="63500" numCol="1" spcCol="38100" rtlCol="0" anchor="ctr" upright="0">
        <a:spAutoFit/>
      </a:bodyPr>
      <a:lstStyle>
        <a:defPPr marL="0" marR="0" indent="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