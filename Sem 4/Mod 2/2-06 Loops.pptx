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3429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6858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0287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3716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17145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0574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24003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27432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B2791E2F-9325-4941-98F1-F468B51E170F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454D52"/>
              </a:solidFill>
              <a:prstDash val="solid"/>
              <a:miter lim="400000"/>
            </a:ln>
          </a:left>
          <a:right>
            <a:ln w="12700" cap="flat">
              <a:solidFill>
                <a:srgbClr val="454D52"/>
              </a:solidFill>
              <a:prstDash val="solid"/>
              <a:miter lim="400000"/>
            </a:ln>
          </a:right>
          <a:top>
            <a:ln w="127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6F7980"/>
              </a:solidFill>
              <a:prstDash val="solid"/>
              <a:miter lim="400000"/>
            </a:ln>
          </a:insideH>
          <a:insideV>
            <a:ln w="12700" cap="flat">
              <a:solidFill>
                <a:srgbClr val="454D52"/>
              </a:solidFill>
              <a:prstDash val="solid"/>
              <a:miter lim="400000"/>
            </a:ln>
          </a:insideV>
        </a:tcBdr>
        <a:fill>
          <a:solidFill>
            <a:srgbClr val="D1DADE">
              <a:alpha val="25000"/>
            </a:srgbClr>
          </a:solidFill>
        </a:fill>
      </a:tcStyle>
    </a:wholeTbl>
    <a:band2H>
      <a:tcTxStyle b="def" i="def"/>
      <a:tcStyle>
        <a:tcBdr/>
        <a:fill>
          <a:solidFill>
            <a:srgbClr val="EFF1F3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6F7980"/>
              </a:solidFill>
              <a:prstDash val="solid"/>
              <a:miter lim="400000"/>
            </a:ln>
          </a:right>
          <a:top>
            <a:ln w="127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6F7980"/>
              </a:solidFill>
              <a:prstDash val="solid"/>
              <a:miter lim="400000"/>
            </a:ln>
          </a:insideH>
          <a:insideV>
            <a:ln w="12700" cap="flat">
              <a:solidFill>
                <a:srgbClr val="A3BCCC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3BCCC"/>
              </a:solidFill>
              <a:prstDash val="solid"/>
              <a:miter lim="400000"/>
            </a:ln>
          </a:left>
          <a:right>
            <a:ln w="12700" cap="flat">
              <a:solidFill>
                <a:srgbClr val="A3BCCC"/>
              </a:solidFill>
              <a:prstDash val="solid"/>
              <a:miter lim="400000"/>
            </a:ln>
          </a:right>
          <a:top>
            <a:ln w="254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A3BCCC"/>
              </a:solidFill>
              <a:prstDash val="solid"/>
              <a:miter lim="400000"/>
            </a:ln>
          </a:insideH>
          <a:insideV>
            <a:ln w="12700" cap="flat">
              <a:solidFill>
                <a:srgbClr val="A3BCCC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F7980"/>
              </a:solidFill>
              <a:prstDash val="solid"/>
              <a:miter lim="400000"/>
            </a:ln>
          </a:left>
          <a:right>
            <a:ln w="12700" cap="flat">
              <a:solidFill>
                <a:srgbClr val="6F798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A3BCCC"/>
              </a:solidFill>
              <a:prstDash val="solid"/>
              <a:miter lim="400000"/>
            </a:ln>
          </a:insideH>
          <a:insideV>
            <a:ln w="12700" cap="flat">
              <a:solidFill>
                <a:srgbClr val="6F798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" name="Shape 6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600">
        <a:latin typeface="+mn-lt"/>
        <a:ea typeface="+mn-ea"/>
        <a:cs typeface="+mn-cs"/>
        <a:sym typeface="Helvetica Neue"/>
      </a:defRPr>
    </a:lvl1pPr>
    <a:lvl2pPr indent="228600" defTabSz="457200" latinLnBrk="0">
      <a:defRPr sz="2600">
        <a:latin typeface="+mn-lt"/>
        <a:ea typeface="+mn-ea"/>
        <a:cs typeface="+mn-cs"/>
        <a:sym typeface="Helvetica Neue"/>
      </a:defRPr>
    </a:lvl2pPr>
    <a:lvl3pPr indent="457200" defTabSz="457200" latinLnBrk="0">
      <a:defRPr sz="2600">
        <a:latin typeface="+mn-lt"/>
        <a:ea typeface="+mn-ea"/>
        <a:cs typeface="+mn-cs"/>
        <a:sym typeface="Helvetica Neue"/>
      </a:defRPr>
    </a:lvl3pPr>
    <a:lvl4pPr indent="685800" defTabSz="457200" latinLnBrk="0">
      <a:defRPr sz="2600">
        <a:latin typeface="+mn-lt"/>
        <a:ea typeface="+mn-ea"/>
        <a:cs typeface="+mn-cs"/>
        <a:sym typeface="Helvetica Neue"/>
      </a:defRPr>
    </a:lvl4pPr>
    <a:lvl5pPr indent="914400" defTabSz="457200" latinLnBrk="0">
      <a:defRPr sz="2600">
        <a:latin typeface="+mn-lt"/>
        <a:ea typeface="+mn-ea"/>
        <a:cs typeface="+mn-cs"/>
        <a:sym typeface="Helvetica Neue"/>
      </a:defRPr>
    </a:lvl5pPr>
    <a:lvl6pPr indent="1143000" defTabSz="457200" latinLnBrk="0">
      <a:defRPr sz="2600">
        <a:latin typeface="+mn-lt"/>
        <a:ea typeface="+mn-ea"/>
        <a:cs typeface="+mn-cs"/>
        <a:sym typeface="Helvetica Neue"/>
      </a:defRPr>
    </a:lvl6pPr>
    <a:lvl7pPr indent="1371600" defTabSz="457200" latinLnBrk="0">
      <a:defRPr sz="2600">
        <a:latin typeface="+mn-lt"/>
        <a:ea typeface="+mn-ea"/>
        <a:cs typeface="+mn-cs"/>
        <a:sym typeface="Helvetica Neue"/>
      </a:defRPr>
    </a:lvl7pPr>
    <a:lvl8pPr indent="1600200" defTabSz="457200" latinLnBrk="0">
      <a:defRPr sz="2600">
        <a:latin typeface="+mn-lt"/>
        <a:ea typeface="+mn-ea"/>
        <a:cs typeface="+mn-cs"/>
        <a:sym typeface="Helvetica Neue"/>
      </a:defRPr>
    </a:lvl8pPr>
    <a:lvl9pPr indent="1828800" defTabSz="457200" latinLnBrk="0">
      <a:defRPr sz="26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creativecommons.org/licenses/by-nc-sa/4.0/legalcode" TargetMode="Externa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hape 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171979" indent="-171979">
              <a:buSzPct val="90000"/>
              <a:buChar char="•"/>
            </a:pPr>
            <a:r>
              <a:t>Swift provides several different methods for looping.</a:t>
            </a:r>
          </a:p>
          <a:p>
            <a:pPr marL="171979" indent="-171979">
              <a:buSzPct val="90000"/>
              <a:buChar char="•"/>
            </a:pPr>
            <a:r>
              <a:t>In this lesson we’ll focus on just two: for and while.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3" name="Shape 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"for" loops work with ranges—it has a nice, concise syntax:</a:t>
            </a:r>
          </a:p>
          <a:p>
            <a:pPr>
              <a:defRPr sz="3000"/>
            </a:pPr>
            <a:r>
              <a:t>	for index in 1...5 {}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Do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Click to highlight the underscore "_".</a:t>
            </a:r>
          </a:p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Use the underscore if you don't need to use the index value.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" name="Shape 1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Do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Click to highlight "names" as the range being iterated over.</a:t>
            </a:r>
          </a:p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This is often used to iterate over a collection.</a:t>
            </a:r>
          </a:p>
          <a:p>
            <a:pPr>
              <a:defRPr sz="3000"/>
            </a:pPr>
            <a:r>
              <a:t>Do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Click again to highlight a string as a range of characters.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2" name="Shape 1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599" indent="-228599">
              <a:buSzPct val="100000"/>
              <a:buChar char="•"/>
              <a:defRPr sz="3000"/>
            </a:pPr>
            <a:r>
              <a:t>enumerated() gives you the item and the index.</a:t>
            </a:r>
          </a:p>
          <a:p>
            <a:pPr>
              <a:defRPr sz="3000"/>
            </a:pPr>
            <a:r>
              <a:t>Note</a:t>
            </a:r>
          </a:p>
          <a:p>
            <a:pPr marL="228599" indent="-228599">
              <a:buSzPct val="100000"/>
              <a:buChar char="•"/>
              <a:defRPr sz="3000"/>
            </a:pPr>
            <a:r>
              <a:t>(index, letter) is a tuple.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1" name="Shape 1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599" indent="-228599">
              <a:buSzPct val="100000"/>
              <a:buChar char="•"/>
              <a:defRPr sz="3000"/>
            </a:pPr>
            <a:r>
              <a:t>Iterating over a Dictionary also gives you a tuple.</a:t>
            </a:r>
          </a:p>
          <a:p>
            <a:pPr marL="228599" indent="-228599">
              <a:buSzPct val="100000"/>
              <a:buChar char="•"/>
              <a:defRPr sz="3000"/>
            </a:pPr>
            <a:r>
              <a:t>It’s unordered because Dictionary is unordered.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9" name="Shape 1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Condition is at the top. The loop may happen zero times.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7" name="Shape 1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The code inside the loop needs to eventually make the condition false.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An infinite loop will eventually cause your program to be terminated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3" name="Shape 1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Clr>
                <a:srgbClr val="000000"/>
              </a:buClr>
              <a:defRPr sz="3000"/>
            </a:pPr>
            <a:r>
              <a:t>Note</a:t>
            </a:r>
          </a:p>
          <a:p>
            <a:pPr marL="228599" indent="-228599">
              <a:buSzPct val="100000"/>
              <a:buChar char="•"/>
              <a:defRPr sz="3000"/>
            </a:pPr>
            <a:r>
              <a:t>Shows that "break" exits a loop.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4" name="Shape 1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L569805A-en_WW App Development with Swift © 2021 Apple Inc. This work is licensed by Apple Inc. under the </a:t>
            </a:r>
            <a:r>
              <a:rPr u="sng">
                <a:hlinkClick r:id="rId3" invalidUrl="" action="" tgtFrame="" tooltip="" history="1" highlightClick="0" endSnd="0"/>
              </a:rPr>
              <a:t>Creative Commons Attribution-NonCommercial-ShareAlike 4.0 International</a:t>
            </a:r>
            <a:r>
              <a:t> license (</a:t>
            </a:r>
            <a:r>
              <a:rPr u="sng">
                <a:hlinkClick r:id="rId3" invalidUrl="" action="" tgtFrame="" tooltip="" history="1" highlightClick="0" endSnd="0"/>
              </a:rPr>
              <a:t>https://creativecommons.org/licenses/by-nc-sa/4.0/legalcode</a:t>
            </a:r>
            <a:r>
              <a:t>).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-nc-sa/4.0/legalcode" TargetMode="Externa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0" name="Text"/>
          <p:cNvSpPr/>
          <p:nvPr>
            <p:ph type="body" sz="quarter" idx="22"/>
          </p:nvPr>
        </p:nvSpPr>
        <p:spPr>
          <a:xfrm>
            <a:off x="1143000" y="2057400"/>
            <a:ext cx="22098001" cy="914400"/>
          </a:xfrm>
          <a:prstGeom prst="rect">
            <a:avLst/>
          </a:prstGeom>
          <a:ln w="12700"/>
        </p:spPr>
        <p:txBody>
          <a:bodyPr lIns="50800" tIns="50800" rIns="50800" bIns="50800">
            <a:spAutoFit/>
          </a:bodyPr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1" name="Title Text"/>
          <p:cNvSpPr/>
          <p:nvPr>
            <p:ph type="title"/>
          </p:nvPr>
        </p:nvSpPr>
        <p:spPr>
          <a:xfrm>
            <a:off x="1155700" y="0"/>
            <a:ext cx="22098000" cy="205740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825500">
              <a:lnSpc>
                <a:spcPts val="7300"/>
              </a:lnSpc>
              <a:spcBef>
                <a:spcPts val="0"/>
              </a:spcBef>
              <a:defRPr b="1"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" name="Body Level One…"/>
          <p:cNvSpPr/>
          <p:nvPr>
            <p:ph type="body" idx="1"/>
          </p:nvPr>
        </p:nvSpPr>
        <p:spPr>
          <a:xfrm>
            <a:off x="1143000" y="3911600"/>
            <a:ext cx="22098000" cy="9118600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marL="317500" indent="-317500" defTabSz="914400">
              <a:lnSpc>
                <a:spcPct val="100000"/>
              </a:lnSpc>
              <a:spcBef>
                <a:spcPts val="2800"/>
              </a:spcBef>
              <a:buSzPct val="90000"/>
              <a:buChar char="•"/>
              <a:defRPr spc="-48" sz="4800">
                <a:latin typeface="+mn-lt"/>
                <a:ea typeface="+mn-ea"/>
                <a:cs typeface="+mn-cs"/>
                <a:sym typeface="Helvetica Neue"/>
              </a:defRPr>
            </a:lvl1pPr>
            <a:lvl2pPr marL="635000" indent="-304800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2pPr>
            <a:lvl3pPr marL="947419" indent="-29971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3pPr>
            <a:lvl4pPr marL="1252219" indent="-28701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4pPr>
            <a:lvl5pPr marL="1550669" indent="-28066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s-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31" name="Text"/>
          <p:cNvSpPr/>
          <p:nvPr>
            <p:ph type="body" sz="quarter" idx="22"/>
          </p:nvPr>
        </p:nvSpPr>
        <p:spPr>
          <a:xfrm>
            <a:off x="1140172" y="2057400"/>
            <a:ext cx="22098001" cy="914400"/>
          </a:xfrm>
          <a:prstGeom prst="rect">
            <a:avLst/>
          </a:prstGeom>
          <a:ln w="12700"/>
        </p:spPr>
        <p:txBody>
          <a:bodyPr lIns="50800" tIns="50800" rIns="50800" bIns="50800">
            <a:spAutoFit/>
          </a:bodyPr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32" name="Title Text"/>
          <p:cNvSpPr/>
          <p:nvPr>
            <p:ph type="title"/>
          </p:nvPr>
        </p:nvSpPr>
        <p:spPr>
          <a:xfrm>
            <a:off x="1155700" y="0"/>
            <a:ext cx="22098000" cy="205740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825500">
              <a:lnSpc>
                <a:spcPts val="7300"/>
              </a:lnSpc>
              <a:spcBef>
                <a:spcPts val="0"/>
              </a:spcBef>
              <a:defRPr b="1"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3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41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ubtopic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49" name="Title Text"/>
          <p:cNvSpPr/>
          <p:nvPr>
            <p:ph type="title"/>
          </p:nvPr>
        </p:nvSpPr>
        <p:spPr>
          <a:xfrm>
            <a:off x="1143000" y="2743200"/>
            <a:ext cx="22098000" cy="8229600"/>
          </a:xfrm>
          <a:prstGeom prst="rect">
            <a:avLst/>
          </a:prstGeom>
          <a:ln w="12700"/>
        </p:spPr>
        <p:txBody>
          <a:bodyPr lIns="50800" tIns="50800" rIns="50800" bIns="50800" anchor="ctr"/>
          <a:lstStyle>
            <a:lvl1pPr defTabSz="914400">
              <a:lnSpc>
                <a:spcPts val="11200"/>
              </a:lnSpc>
              <a:spcBef>
                <a:spcPts val="0"/>
              </a:spcBef>
              <a:defRPr b="1" spc="-200" sz="100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0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losing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© 2021 Apple Inc.…"/>
          <p:cNvSpPr txBox="1"/>
          <p:nvPr/>
        </p:nvSpPr>
        <p:spPr>
          <a:xfrm>
            <a:off x="6628320" y="12982076"/>
            <a:ext cx="11127360" cy="55346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500" tIns="63500" rIns="63500" bIns="63500" anchor="ctr">
            <a:spAutoFit/>
          </a:bodyPr>
          <a:lstStyle/>
          <a:p>
            <a:pPr>
              <a:tabLst>
                <a:tab pos="1651000" algn="l"/>
              </a:tabLst>
              <a:defRPr sz="1500"/>
            </a:pPr>
            <a:r>
              <a:t>© 2021 Apple Inc. </a:t>
            </a:r>
          </a:p>
          <a:p>
            <a:pPr>
              <a:tabLst>
                <a:tab pos="1651000" algn="l"/>
              </a:tabLst>
              <a:defRPr sz="1500"/>
            </a:pPr>
            <a:r>
              <a:t>This work is licensed by Apple Inc. under the </a:t>
            </a:r>
            <a:r>
              <a:rPr>
                <a:hlinkClick r:id="rId2" invalidUrl="" action="" tgtFrame="" tooltip="" history="1" highlightClick="0" endSnd="0"/>
              </a:rPr>
              <a:t>Creative Commons Attribution-NonCommercial-ShareAlike 4.0 International</a:t>
            </a:r>
            <a:r>
              <a:t> license.</a:t>
            </a:r>
          </a:p>
        </p:txBody>
      </p:sp>
      <p:sp>
        <p:nvSpPr>
          <p:cNvPr id="58" name="Slide Number"/>
          <p:cNvSpPr/>
          <p:nvPr>
            <p:ph type="sldNum" sz="quarter" idx="2"/>
          </p:nvPr>
        </p:nvSpPr>
        <p:spPr>
          <a:xfrm>
            <a:off x="23963891" y="133350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29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/>
          </p:nvPr>
        </p:nvSpPr>
        <p:spPr>
          <a:xfrm>
            <a:off x="1524000" y="604741"/>
            <a:ext cx="21336000" cy="1391426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7150" tIns="57150" rIns="57150" bIns="5715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1524000" y="762000"/>
            <a:ext cx="21336000" cy="14097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2776924" y="14414500"/>
            <a:ext cx="381204" cy="387070"/>
          </a:xfrm>
          <a:prstGeom prst="rect">
            <a:avLst/>
          </a:prstGeom>
          <a:ln w="25400">
            <a:miter lim="400000"/>
          </a:ln>
        </p:spPr>
        <p:txBody>
          <a:bodyPr wrap="none" lIns="57150" tIns="57150" rIns="57150" bIns="57150">
            <a:spAutoFit/>
          </a:bodyPr>
          <a:lstStyle>
            <a:lvl1pPr algn="l" defTabSz="822960">
              <a:lnSpc>
                <a:spcPct val="120000"/>
              </a:lnSpc>
              <a:spcBef>
                <a:spcPts val="1600"/>
              </a:spcBef>
              <a:defRPr sz="1800">
                <a:solidFill>
                  <a:srgbClr val="A6B0C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1pPr>
      <a:lvl2pPr marL="0" marR="0" indent="2286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2pPr>
      <a:lvl3pPr marL="0" marR="0" indent="4572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3pPr>
      <a:lvl4pPr marL="0" marR="0" indent="6858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4pPr>
      <a:lvl5pPr marL="0" marR="0" indent="9144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5pPr>
      <a:lvl6pPr marL="0" marR="0" indent="11430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6pPr>
      <a:lvl7pPr marL="0" marR="0" indent="13716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7pPr>
      <a:lvl8pPr marL="0" marR="0" indent="16002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8pPr>
      <a:lvl9pPr marL="0" marR="0" indent="18288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9pPr>
    </p:titleStyle>
    <p:bodyStyle>
      <a:lvl1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1pPr>
      <a:lvl2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2pPr>
      <a:lvl3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3pPr>
      <a:lvl4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4pPr>
      <a:lvl5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5pPr>
      <a:lvl6pPr marL="0" marR="0" indent="11430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6pPr>
      <a:lvl7pPr marL="0" marR="0" indent="13716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7pPr>
      <a:lvl8pPr marL="0" marR="0" indent="16002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8pPr>
      <a:lvl9pPr marL="0" marR="0" indent="18288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9pPr>
    </p:bodyStyle>
    <p:otherStyle>
      <a:lvl1pPr marL="0" marR="0" indent="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68" name="Unit 2—Lesson 6:…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2—Lesson 6:</a:t>
            </a:r>
          </a:p>
          <a:p>
            <a:pPr/>
            <a:r>
              <a:t>Loops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71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72" name="Loop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Loops</a:t>
            </a:r>
          </a:p>
        </p:txBody>
      </p:sp>
      <p:sp>
        <p:nvSpPr>
          <p:cNvPr id="73" name="for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4200"/>
              <a:t>for</a:t>
            </a:r>
            <a:endParaRPr sz="4200"/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4200"/>
              <a:t>while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78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79" name="Rectangle"/>
          <p:cNvSpPr/>
          <p:nvPr/>
        </p:nvSpPr>
        <p:spPr>
          <a:xfrm>
            <a:off x="761516" y="4025069"/>
            <a:ext cx="22860968" cy="205740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0" name="for loop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 loops</a:t>
            </a:r>
          </a:p>
        </p:txBody>
      </p:sp>
      <p:sp>
        <p:nvSpPr>
          <p:cNvPr id="81" name="for index in 1...5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for</a:t>
            </a:r>
            <a:r>
              <a:t> index </a:t>
            </a:r>
            <a:r>
              <a:rPr>
                <a:solidFill>
                  <a:srgbClr val="3DCCCC"/>
                </a:solidFill>
              </a:rPr>
              <a:t>in</a:t>
            </a:r>
            <a:r>
              <a:t> 1...5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"This is number</a:t>
            </a:r>
            <a:r>
              <a:t> \</a:t>
            </a:r>
            <a:r>
              <a:rPr>
                <a:solidFill>
                  <a:srgbClr val="F95B57"/>
                </a:solidFill>
              </a:rPr>
              <a:t>(</a:t>
            </a:r>
            <a:r>
              <a:t>index</a:t>
            </a:r>
            <a:r>
              <a:rPr>
                <a:solidFill>
                  <a:srgbClr val="F95B57"/>
                </a:solidFill>
              </a:rPr>
              <a:t>)"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86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87" name="Rectangle"/>
          <p:cNvSpPr/>
          <p:nvPr/>
        </p:nvSpPr>
        <p:spPr>
          <a:xfrm>
            <a:off x="761516" y="4038820"/>
            <a:ext cx="22860968" cy="1893274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8" name="for loop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 loops</a:t>
            </a:r>
          </a:p>
        </p:txBody>
      </p:sp>
      <p:sp>
        <p:nvSpPr>
          <p:cNvPr id="89" name="Rectangle"/>
          <p:cNvSpPr/>
          <p:nvPr/>
        </p:nvSpPr>
        <p:spPr>
          <a:xfrm>
            <a:off x="2011978" y="4124151"/>
            <a:ext cx="476722" cy="599713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90" name="for _ in 1...5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for _ in</a:t>
            </a:r>
            <a:r>
              <a:t> 1...5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"Hello!"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0" presetID="1" grpId="1" fill="hold">
                                  <p:stCondLst>
                                    <p:cond delay="1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95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96" name="Rectangle"/>
          <p:cNvSpPr/>
          <p:nvPr/>
        </p:nvSpPr>
        <p:spPr>
          <a:xfrm>
            <a:off x="761517" y="2662672"/>
            <a:ext cx="22860968" cy="2902842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7" name="Rectangle"/>
          <p:cNvSpPr/>
          <p:nvPr/>
        </p:nvSpPr>
        <p:spPr>
          <a:xfrm>
            <a:off x="826958" y="7869080"/>
            <a:ext cx="22730084" cy="2091747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8" name="for loop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 loops</a:t>
            </a:r>
          </a:p>
        </p:txBody>
      </p:sp>
      <p:sp>
        <p:nvSpPr>
          <p:cNvPr id="99" name="Rectangle"/>
          <p:cNvSpPr/>
          <p:nvPr/>
        </p:nvSpPr>
        <p:spPr>
          <a:xfrm>
            <a:off x="3899579" y="3619057"/>
            <a:ext cx="1267807" cy="599713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00" name="Rectangle"/>
          <p:cNvSpPr/>
          <p:nvPr/>
        </p:nvSpPr>
        <p:spPr>
          <a:xfrm>
            <a:off x="4399179" y="8165265"/>
            <a:ext cx="2136315" cy="599713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01" name="let names = [&quot;Joseph&quot;, &quot;Cathy&quot;, &quot;Winston&quot;]…"/>
          <p:cNvSpPr/>
          <p:nvPr>
            <p:ph type="body" idx="1"/>
          </p:nvPr>
        </p:nvSpPr>
        <p:spPr>
          <a:xfrm>
            <a:off x="1155700" y="2818171"/>
            <a:ext cx="22098000" cy="9118601"/>
          </a:xfrm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names = [</a:t>
            </a:r>
            <a:r>
              <a:rPr>
                <a:solidFill>
                  <a:srgbClr val="F95B57"/>
                </a:solidFill>
              </a:rPr>
              <a:t>"Joseph"</a:t>
            </a:r>
            <a:r>
              <a:t>, </a:t>
            </a:r>
            <a:r>
              <a:rPr>
                <a:solidFill>
                  <a:srgbClr val="F95B57"/>
                </a:solidFill>
              </a:rPr>
              <a:t>"Cathy"</a:t>
            </a:r>
            <a:r>
              <a:t>, </a:t>
            </a:r>
            <a:r>
              <a:rPr>
                <a:solidFill>
                  <a:srgbClr val="F95B57"/>
                </a:solidFill>
              </a:rPr>
              <a:t>"Winston"</a:t>
            </a:r>
            <a:r>
              <a:t>]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for</a:t>
            </a:r>
            <a:r>
              <a:t> name </a:t>
            </a:r>
            <a:r>
              <a:rPr>
                <a:solidFill>
                  <a:srgbClr val="3DCCCC"/>
                </a:solidFill>
              </a:rPr>
              <a:t>in</a:t>
            </a:r>
            <a:r>
              <a:t> </a:t>
            </a:r>
            <a:r>
              <a:rPr>
                <a:solidFill>
                  <a:srgbClr val="6CCE66"/>
                </a:solidFill>
              </a:rPr>
              <a:t>names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("Hello \(name)")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1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31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Hello Joseph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31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Hello Cathy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31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Hello Winston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for</a:t>
            </a:r>
            <a:r>
              <a:t> letter </a:t>
            </a:r>
            <a:r>
              <a:rPr>
                <a:solidFill>
                  <a:srgbClr val="3DCCCC"/>
                </a:solidFill>
              </a:rPr>
              <a:t>in</a:t>
            </a:r>
            <a:r>
              <a:t> </a:t>
            </a:r>
            <a:r>
              <a:rPr>
                <a:solidFill>
                  <a:srgbClr val="F95B57"/>
                </a:solidFill>
              </a:rPr>
              <a:t>"ABCDEFG"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"The letter is</a:t>
            </a:r>
            <a:r>
              <a:t> \</a:t>
            </a:r>
            <a:r>
              <a:rPr>
                <a:solidFill>
                  <a:srgbClr val="F95B57"/>
                </a:solidFill>
              </a:rPr>
              <a:t>(</a:t>
            </a:r>
            <a:r>
              <a:rPr>
                <a:solidFill>
                  <a:srgbClr val="6CCE66"/>
                </a:solidFill>
              </a:rPr>
              <a:t>letter</a:t>
            </a:r>
            <a:r>
              <a:rPr>
                <a:solidFill>
                  <a:srgbClr val="F95B57"/>
                </a:solidFill>
              </a:rPr>
              <a:t>)"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19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The letter is A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19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The letter is B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19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The letter is C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19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The letter is D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19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The letter is E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19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The letter is F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19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The letter is G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xit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9" grpId="1"/>
      <p:bldP build="whole" bldLvl="1" animBg="1" rev="0" advAuto="0" spid="99" grpId="2"/>
      <p:bldP build="whole" bldLvl="1" animBg="1" rev="0" advAuto="0" spid="100" grpId="3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06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07" name="Rectangle"/>
          <p:cNvSpPr/>
          <p:nvPr/>
        </p:nvSpPr>
        <p:spPr>
          <a:xfrm>
            <a:off x="761516" y="3942300"/>
            <a:ext cx="22860968" cy="2127042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8" name="for loop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 loops</a:t>
            </a:r>
          </a:p>
        </p:txBody>
      </p:sp>
      <p:sp>
        <p:nvSpPr>
          <p:cNvPr id="109" name="Rectangle"/>
          <p:cNvSpPr/>
          <p:nvPr/>
        </p:nvSpPr>
        <p:spPr>
          <a:xfrm>
            <a:off x="8689234" y="4109124"/>
            <a:ext cx="2835469" cy="533547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10" name="for (index, letter) in &quot;ABCDEFG&quot;.enumerated()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for</a:t>
            </a:r>
            <a:r>
              <a:t> (index, letter) in </a:t>
            </a:r>
            <a:r>
              <a:rPr>
                <a:solidFill>
                  <a:srgbClr val="F95B57"/>
                </a:solidFill>
              </a:rPr>
              <a:t>"ABCDEFG"</a:t>
            </a:r>
            <a:r>
              <a:t>.</a:t>
            </a:r>
            <a:r>
              <a:rPr>
                <a:solidFill>
                  <a:srgbClr val="6CCE66"/>
                </a:solidFill>
              </a:rPr>
              <a:t>enumerated</a:t>
            </a:r>
            <a:r>
              <a:t>()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index</a:t>
            </a:r>
            <a:r>
              <a:rPr>
                <a:solidFill>
                  <a:srgbClr val="F95B57"/>
                </a:solidFill>
              </a:rPr>
              <a:t>):</a:t>
            </a:r>
            <a:r>
              <a:t> \</a:t>
            </a:r>
            <a:r>
              <a:rPr>
                <a:solidFill>
                  <a:srgbClr val="F95B57"/>
                </a:solidFill>
              </a:rPr>
              <a:t>(</a:t>
            </a:r>
            <a:r>
              <a:t>letter</a:t>
            </a:r>
            <a:r>
              <a:rPr>
                <a:solidFill>
                  <a:srgbClr val="F95B57"/>
                </a:solidFill>
              </a:rPr>
              <a:t>)"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7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37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0: A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37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1: B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37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2: C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37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3: D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37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4: E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37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5: F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37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6: G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37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228599" indent="-228599" defTabSz="457200">
              <a:spcBef>
                <a:spcPts val="0"/>
              </a:spcBef>
              <a:buSzPct val="100000"/>
              <a:defRPr spc="0"/>
            </a:pPr>
            <a:r>
              <a:t> enumerated() gives you the item an the index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NOTE: (index, letter) is a tuple.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15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16" name="Rectangle"/>
          <p:cNvSpPr/>
          <p:nvPr/>
        </p:nvSpPr>
        <p:spPr>
          <a:xfrm>
            <a:off x="761516" y="3928404"/>
            <a:ext cx="22860968" cy="2811283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7" name="for loop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 loops</a:t>
            </a:r>
          </a:p>
        </p:txBody>
      </p:sp>
      <p:sp>
        <p:nvSpPr>
          <p:cNvPr id="118" name="let vehicles = [&quot;unicycle&quot; : 1, &quot;bicycle&quot; : 2, &quot;tricycle&quot; : 3, &quot;quad bike&quot; : 4]…"/>
          <p:cNvSpPr/>
          <p:nvPr>
            <p:ph type="body" idx="1"/>
          </p:nvPr>
        </p:nvSpPr>
        <p:spPr>
          <a:xfrm>
            <a:off x="1143000" y="3978344"/>
            <a:ext cx="22098000" cy="9118601"/>
          </a:xfrm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vehicles = [</a:t>
            </a:r>
            <a:r>
              <a:rPr>
                <a:solidFill>
                  <a:srgbClr val="F95B57"/>
                </a:solidFill>
              </a:rPr>
              <a:t>"unicycle"</a:t>
            </a:r>
            <a:r>
              <a:t> : 1, </a:t>
            </a:r>
            <a:r>
              <a:rPr>
                <a:solidFill>
                  <a:srgbClr val="F95B57"/>
                </a:solidFill>
              </a:rPr>
              <a:t>"bicycle"</a:t>
            </a:r>
            <a:r>
              <a:t> : 2, </a:t>
            </a:r>
            <a:r>
              <a:rPr>
                <a:solidFill>
                  <a:srgbClr val="F95B57"/>
                </a:solidFill>
              </a:rPr>
              <a:t>"tricycle"</a:t>
            </a:r>
            <a:r>
              <a:t> : 3, </a:t>
            </a:r>
            <a:r>
              <a:rPr>
                <a:solidFill>
                  <a:srgbClr val="F95B57"/>
                </a:solidFill>
              </a:rPr>
              <a:t>"quad bike"</a:t>
            </a:r>
            <a:r>
              <a:t> : 4]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for</a:t>
            </a:r>
            <a:r>
              <a:t> (vehicleName, wheelCount) </a:t>
            </a:r>
            <a:r>
              <a:rPr>
                <a:solidFill>
                  <a:srgbClr val="3DCCCC"/>
                </a:solidFill>
              </a:rPr>
              <a:t>in</a:t>
            </a:r>
            <a:r>
              <a:t> </a:t>
            </a:r>
            <a:r>
              <a:rPr>
                <a:solidFill>
                  <a:srgbClr val="6CCE66"/>
                </a:solidFill>
              </a:rPr>
              <a:t>vehicles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"A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vehicleName</a:t>
            </a:r>
            <a:r>
              <a:rPr>
                <a:solidFill>
                  <a:srgbClr val="F95B57"/>
                </a:solidFill>
              </a:rPr>
              <a:t>) has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wheelCount</a:t>
            </a:r>
            <a:r>
              <a:rPr>
                <a:solidFill>
                  <a:srgbClr val="F95B57"/>
                </a:solidFill>
              </a:rPr>
              <a:t>) wheels"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41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41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 tricycle has 3 wheels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41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 bicycle has 2 wheels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41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 quad bike has 4 wheels</a:t>
            </a:r>
          </a:p>
          <a:p>
            <a:pPr marL="0" indent="0" defTabSz="533400">
              <a:spcBef>
                <a:spcPts val="0"/>
              </a:spcBef>
              <a:buSzTx/>
              <a:buNone/>
              <a:tabLst>
                <a:tab pos="533400" algn="l"/>
              </a:tabLst>
              <a:defRPr spc="0" sz="41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 unicycle has 1 wheels</a:t>
            </a:r>
          </a:p>
        </p:txBody>
      </p:sp>
      <p:sp>
        <p:nvSpPr>
          <p:cNvPr id="119" name="Iterating Over a dictionary"/>
          <p:cNvSpPr txBox="1"/>
          <p:nvPr/>
        </p:nvSpPr>
        <p:spPr>
          <a:xfrm>
            <a:off x="1581844" y="2613197"/>
            <a:ext cx="6592419" cy="75941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500" tIns="63500" rIns="63500" bIns="63500" anchor="ctr">
            <a:spAutoFit/>
          </a:bodyPr>
          <a:lstStyle>
            <a:lvl1pPr>
              <a:defRPr sz="4300"/>
            </a:lvl1pPr>
          </a:lstStyle>
          <a:p>
            <a:pPr/>
            <a:r>
              <a:t>Iterating Over a dictionary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24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25" name="Rectangle"/>
          <p:cNvSpPr/>
          <p:nvPr/>
        </p:nvSpPr>
        <p:spPr>
          <a:xfrm>
            <a:off x="761516" y="3997567"/>
            <a:ext cx="22860968" cy="3948464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6" name="while loop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while loops</a:t>
            </a:r>
          </a:p>
        </p:txBody>
      </p:sp>
      <p:sp>
        <p:nvSpPr>
          <p:cNvPr id="127" name="var numberOfLives = 3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numberOfLives = 3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while</a:t>
            </a:r>
            <a:r>
              <a:t> </a:t>
            </a:r>
            <a:r>
              <a:rPr>
                <a:solidFill>
                  <a:srgbClr val="6CCE66"/>
                </a:solidFill>
              </a:rPr>
              <a:t>numberOfLives</a:t>
            </a:r>
            <a:r>
              <a:t> &gt; 0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playMove</a:t>
            </a:r>
            <a:r>
              <a:t>()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updateLivesCount</a:t>
            </a:r>
            <a:r>
              <a:t>()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32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33" name="Rectangle"/>
          <p:cNvSpPr/>
          <p:nvPr/>
        </p:nvSpPr>
        <p:spPr>
          <a:xfrm>
            <a:off x="761516" y="4025069"/>
            <a:ext cx="22860968" cy="3306032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34" name="while loop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while loops</a:t>
            </a:r>
          </a:p>
        </p:txBody>
      </p:sp>
      <p:sp>
        <p:nvSpPr>
          <p:cNvPr id="135" name="var numberOfLives = 3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numberOfLives = 3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while</a:t>
            </a:r>
            <a:r>
              <a:t> </a:t>
            </a:r>
            <a:r>
              <a:rPr>
                <a:solidFill>
                  <a:srgbClr val="6CCE66"/>
                </a:solidFill>
              </a:rPr>
              <a:t>numberOfLives</a:t>
            </a:r>
            <a:r>
              <a:t> &gt; 0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"I still have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rPr>
                <a:solidFill>
                  <a:srgbClr val="6CCE66"/>
                </a:solidFill>
              </a:rPr>
              <a:t>numberOfLives</a:t>
            </a:r>
            <a:r>
              <a:rPr>
                <a:solidFill>
                  <a:srgbClr val="F95B57"/>
                </a:solidFill>
              </a:rPr>
              <a:t>) lives."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40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41" name="Rectangle"/>
          <p:cNvSpPr/>
          <p:nvPr/>
        </p:nvSpPr>
        <p:spPr>
          <a:xfrm>
            <a:off x="761516" y="3976380"/>
            <a:ext cx="22860968" cy="664875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42" name="while loop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while loops</a:t>
            </a:r>
          </a:p>
        </p:txBody>
      </p:sp>
      <p:sp>
        <p:nvSpPr>
          <p:cNvPr id="143" name="var numberOfLives = 3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numberOfLives = 3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stillAlive = </a:t>
            </a:r>
            <a:r>
              <a:rPr>
                <a:solidFill>
                  <a:srgbClr val="3DCCCC"/>
                </a:solidFill>
              </a:rPr>
              <a:t>true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while</a:t>
            </a:r>
            <a:r>
              <a:t> </a:t>
            </a:r>
            <a:r>
              <a:rPr>
                <a:solidFill>
                  <a:srgbClr val="6CCE66"/>
                </a:solidFill>
              </a:rPr>
              <a:t>stillAlive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"I still have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rPr>
                <a:solidFill>
                  <a:srgbClr val="6CCE66"/>
                </a:solidFill>
              </a:rPr>
              <a:t>numberOfLives</a:t>
            </a:r>
            <a:r>
              <a:rPr>
                <a:solidFill>
                  <a:srgbClr val="F95B57"/>
                </a:solidFill>
              </a:rPr>
              <a:t>) lives."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numberOfLives</a:t>
            </a:r>
            <a:r>
              <a:t> -= 1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if </a:t>
            </a:r>
            <a:r>
              <a:rPr>
                <a:solidFill>
                  <a:srgbClr val="6CCE66"/>
                </a:solidFill>
              </a:rPr>
              <a:t>numberOfLives</a:t>
            </a:r>
            <a:r>
              <a:t> == 0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stillAlive</a:t>
            </a:r>
            <a:r>
              <a:t> = </a:t>
            </a:r>
            <a:r>
              <a:rPr>
                <a:solidFill>
                  <a:srgbClr val="3DCCCC"/>
                </a:solidFill>
              </a:rPr>
              <a:t>false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46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47" name="Rectangle"/>
          <p:cNvSpPr/>
          <p:nvPr/>
        </p:nvSpPr>
        <p:spPr>
          <a:xfrm>
            <a:off x="761516" y="3956313"/>
            <a:ext cx="22860968" cy="4033044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48" name="Rectangle"/>
          <p:cNvSpPr/>
          <p:nvPr/>
        </p:nvSpPr>
        <p:spPr>
          <a:xfrm>
            <a:off x="2053248" y="5999250"/>
            <a:ext cx="1270001" cy="586408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49" name="Rectangle"/>
          <p:cNvSpPr/>
          <p:nvPr/>
        </p:nvSpPr>
        <p:spPr>
          <a:xfrm>
            <a:off x="761517" y="8557379"/>
            <a:ext cx="22860968" cy="2529016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50" name="Control transfer statement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Control transfer statements</a:t>
            </a:r>
          </a:p>
        </p:txBody>
      </p:sp>
      <p:sp>
        <p:nvSpPr>
          <p:cNvPr id="151" name="for counter in -10...10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for</a:t>
            </a:r>
            <a:r>
              <a:t> counter </a:t>
            </a:r>
            <a:r>
              <a:rPr>
                <a:solidFill>
                  <a:srgbClr val="3DCCCC"/>
                </a:solidFill>
              </a:rPr>
              <a:t>in</a:t>
            </a:r>
            <a:r>
              <a:t> -10...10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(counter)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counter == 0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3DCCCC"/>
                </a:solidFill>
              </a:rPr>
              <a:t>break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-10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-9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...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56" name="Lab: Loops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Lab: Loops</a:t>
            </a:r>
          </a:p>
        </p:txBody>
      </p:sp>
      <p:sp>
        <p:nvSpPr>
          <p:cNvPr id="157" name="Unit 2—Lesson 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2—Lesson 6</a:t>
            </a:r>
          </a:p>
        </p:txBody>
      </p:sp>
      <p:sp>
        <p:nvSpPr>
          <p:cNvPr id="158" name="Open and complete the exercises in Lab - Loops.playground.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Open and complete the exercises in </a:t>
            </a: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Lab - Loops.playground</a:t>
            </a:r>
            <a:r>
              <a:t>.</a:t>
            </a:r>
          </a:p>
        </p:txBody>
      </p:sp>
      <p:grpSp>
        <p:nvGrpSpPr>
          <p:cNvPr id="161" name="Group"/>
          <p:cNvGrpSpPr/>
          <p:nvPr/>
        </p:nvGrpSpPr>
        <p:grpSpPr>
          <a:xfrm>
            <a:off x="21551900" y="1297017"/>
            <a:ext cx="1524001" cy="1524001"/>
            <a:chOff x="0" y="0"/>
            <a:chExt cx="1524000" cy="1524000"/>
          </a:xfrm>
        </p:grpSpPr>
        <p:sp>
          <p:nvSpPr>
            <p:cNvPr id="159" name="Circle"/>
            <p:cNvSpPr/>
            <p:nvPr/>
          </p:nvSpPr>
          <p:spPr>
            <a:xfrm>
              <a:off x="0" y="0"/>
              <a:ext cx="1524001" cy="1524001"/>
            </a:xfrm>
            <a:prstGeom prst="ellipse">
              <a:avLst/>
            </a:prstGeom>
            <a:gradFill flip="none" rotWithShape="1">
              <a:gsLst>
                <a:gs pos="0">
                  <a:srgbClr val="FE5F55"/>
                </a:gs>
                <a:gs pos="100000">
                  <a:srgbClr val="E4234A"/>
                </a:gs>
              </a:gsLst>
              <a:lin ang="5400000" scaled="0"/>
            </a:gradFill>
            <a:ln w="38100" cap="flat">
              <a:solidFill>
                <a:srgbClr val="DCDEE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800100">
                <a:spcBef>
                  <a:spcPts val="3000"/>
                </a:spcBef>
                <a:defRPr sz="45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pic>
          <p:nvPicPr>
            <p:cNvPr id="160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30261" y="411519"/>
              <a:ext cx="663478" cy="7009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62ACDB"/>
      </a:dk1>
      <a:lt1>
        <a:srgbClr val="FFFFFF"/>
      </a:lt1>
      <a:dk2>
        <a:srgbClr val="000000"/>
      </a:dk2>
      <a:lt2>
        <a:srgbClr val="BF832E"/>
      </a:lt2>
      <a:accent1>
        <a:srgbClr val="A8A8A8"/>
      </a:accent1>
      <a:accent2>
        <a:srgbClr val="E9E9E9"/>
      </a:accent2>
      <a:accent3>
        <a:srgbClr val="D3D3D3"/>
      </a:accent3>
      <a:accent4>
        <a:srgbClr val="BEBEBE"/>
      </a:accent4>
      <a:accent5>
        <a:srgbClr val="8C8C8C"/>
      </a:accent5>
      <a:accent6>
        <a:srgbClr val="666666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497C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497C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000000"/>
      </a:dk2>
      <a:lt2>
        <a:srgbClr val="BF832E"/>
      </a:lt2>
      <a:accent1>
        <a:srgbClr val="A8A8A8"/>
      </a:accent1>
      <a:accent2>
        <a:srgbClr val="E9E9E9"/>
      </a:accent2>
      <a:accent3>
        <a:srgbClr val="D3D3D3"/>
      </a:accent3>
      <a:accent4>
        <a:srgbClr val="BEBEBE"/>
      </a:accent4>
      <a:accent5>
        <a:srgbClr val="8C8C8C"/>
      </a:accent5>
      <a:accent6>
        <a:srgbClr val="666666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497C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497C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