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Ref idx="minor">
          <a:srgbClr val="FFFFFF"/>
        </a:fontRef>
        <a:srgbClr val="FFFFFF"/>
      </a:tcTxStyle>
      <a:tcStyle>
        <a:tcBdr>
          <a:left>
            <a:ln w="12700" cap="flat">
              <a:solidFill>
                <a:srgbClr val="FFFFFF"/>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Row>
  </a:tblStyle>
  <a:tblStyle styleId="{C7B018BB-80A7-4F77-B60F-C8B233D01FF8}" styleName="">
    <a:tblBg/>
    <a:wholeTbl>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b="def" i="def"/>
      <a:tcStyle>
        <a:tcBdr/>
        <a:fill>
          <a:solidFill>
            <a:srgbClr val="747676">
              <a:alpha val="64000"/>
            </a:srgbClr>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25400" cap="flat">
              <a:solidFill>
                <a:srgbClr val="FFFFFF"/>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firstCol>
    <a:lastRow>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1">
                  <a:lumOff val="13543"/>
                </a:schemeClr>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solidFill>
            <a:srgbClr val="014D80"/>
          </a:solidFill>
        </a:fill>
      </a:tcStyle>
    </a:firstRow>
  </a:tblStyle>
  <a:tblStyle styleId="{EEE7283C-3CF3-47DC-8721-378D4A62B228}"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b="def" i="def"/>
      <a:tcStyle>
        <a:tcBdr/>
        <a:fill>
          <a:solidFill>
            <a:srgbClr val="747676">
              <a:alpha val="63790"/>
            </a:srgbClr>
          </a:solidFill>
        </a:fill>
      </a:tcStyle>
    </a:band2H>
    <a:firstCol>
      <a:tcTxStyle b="off" i="off">
        <a:font>
          <a:latin typeface="Helvetica Neue Medium"/>
          <a:ea typeface="Helvetica Neue Medium"/>
          <a:cs typeface="Helvetica Neue Medium"/>
        </a:font>
        <a:srgbClr val="FFFFFF"/>
      </a:tcTxStyle>
      <a:tcStyle>
        <a:tcBdr>
          <a:left>
            <a:ln w="12700" cap="flat">
              <a:solidFill>
                <a:srgbClr val="A9A9A9"/>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009D00"/>
          </a:solidFill>
        </a:fill>
      </a:tcStyle>
    </a:firstCol>
    <a:lastRow>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61D836"/>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ff" i="off">
        <a:font>
          <a:latin typeface="Helvetica Neue Medium"/>
          <a:ea typeface="Helvetica Neue Medium"/>
          <a:cs typeface="Helvetica Neue Medium"/>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027002"/>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b="def" i="def"/>
      <a:tcStyle>
        <a:tcBdr/>
        <a:fill>
          <a:solidFill>
            <a:srgbClr val="747676">
              <a:alpha val="63790"/>
            </a:srgb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E3E5E8"/>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chemeClr val="accent4">
              <a:hueOff val="-613784"/>
              <a:lumOff val="1275"/>
            </a:schemeClr>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4">
                  <a:hueOff val="-613784"/>
                  <a:lumOff val="1275"/>
                </a:schemeClr>
              </a:solidFill>
              <a:prstDash val="solid"/>
              <a:miter lim="400000"/>
            </a:ln>
          </a:top>
          <a:bottom>
            <a:ln w="12700" cap="flat">
              <a:solidFill>
                <a:srgbClr val="E3E5E8"/>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E3E5E8"/>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FF5300"/>
          </a:solidFill>
        </a:fill>
      </a:tcStyle>
    </a:firstRow>
  </a:tblStyle>
  <a:tblStyle styleId="{33BA23B1-9221-436E-865A-0063620EA4FD}" styleName="">
    <a:tblBg/>
    <a:wholeTbl>
      <a:tcTxStyle b="off"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98195F"/>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6"/>
              </a:solidFill>
              <a:prstDash val="solid"/>
              <a:miter lim="400000"/>
            </a:ln>
          </a:top>
          <a:bottom>
            <a:ln w="12700" cap="flat">
              <a:solidFill>
                <a:srgbClr val="A6AA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A6AAA9"/>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650E48"/>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b="def" i="def"/>
      <a:tcStyle>
        <a:tcBdr/>
        <a:fill>
          <a:solidFill>
            <a:srgbClr val="747676">
              <a:alpha val="64000"/>
            </a:srgbClr>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262727"/>
          </a:solid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42424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Shape 224"/>
          <p:cNvSpPr/>
          <p:nvPr>
            <p:ph type="sldImg"/>
          </p:nvPr>
        </p:nvSpPr>
        <p:spPr>
          <a:prstGeom prst="rect">
            <a:avLst/>
          </a:prstGeom>
        </p:spPr>
        <p:txBody>
          <a:bodyPr/>
          <a:lstStyle/>
          <a:p>
            <a:pPr/>
          </a:p>
        </p:txBody>
      </p:sp>
      <p:sp>
        <p:nvSpPr>
          <p:cNvPr id="225" name="Shape 225"/>
          <p:cNvSpPr/>
          <p:nvPr>
            <p:ph type="body" sz="quarter" idx="1"/>
          </p:nvPr>
        </p:nvSpPr>
        <p:spPr>
          <a:prstGeom prst="rect">
            <a:avLst/>
          </a:prstGeom>
        </p:spPr>
        <p:txBody>
          <a:bodyPr/>
          <a:lstStyle/>
          <a:p>
            <a:pPr/>
            <a:r>
              <a:t>grabLunch() function accepts a closure search: ( ) -&gt; ( ). Here, closure is the last parameter of the function.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Shape 231"/>
          <p:cNvSpPr/>
          <p:nvPr>
            <p:ph type="sldImg"/>
          </p:nvPr>
        </p:nvSpPr>
        <p:spPr>
          <a:prstGeom prst="rect">
            <a:avLst/>
          </a:prstGeom>
        </p:spPr>
        <p:txBody>
          <a:bodyPr/>
          <a:lstStyle/>
          <a:p>
            <a:pPr/>
          </a:p>
        </p:txBody>
      </p:sp>
      <p:sp>
        <p:nvSpPr>
          <p:cNvPr id="232" name="Shape 232"/>
          <p:cNvSpPr/>
          <p:nvPr>
            <p:ph type="body" sz="quarter" idx="1"/>
          </p:nvPr>
        </p:nvSpPr>
        <p:spPr>
          <a:prstGeom prst="rect">
            <a:avLst/>
          </a:prstGeom>
        </p:spPr>
        <p:txBody>
          <a:bodyPr/>
          <a:lstStyle>
            <a:lvl1pPr marL="279400" indent="-279400">
              <a:buSzPct val="123000"/>
              <a:buChar char="•"/>
              <a:defRPr>
                <a:solidFill>
                  <a:schemeClr val="accent1">
                    <a:lumOff val="13575"/>
                  </a:schemeClr>
                </a:solidFill>
              </a:defRPr>
            </a:lvl1pPr>
          </a:lstStyle>
          <a:p>
            <a:pPr>
              <a:defRPr>
                <a:solidFill>
                  <a:srgbClr val="000000"/>
                </a:solidFill>
              </a:defRPr>
            </a:pPr>
            <a:r>
              <a:rPr>
                <a:solidFill>
                  <a:schemeClr val="accent1">
                    <a:lumOff val="13575"/>
                  </a:schemeClr>
                </a:solidFill>
              </a:rPr>
              <a:t>This is particularly useful when you want to delay the evaluation of an expression until it's actually needed.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Shape 238"/>
          <p:cNvSpPr/>
          <p:nvPr>
            <p:ph type="sldImg"/>
          </p:nvPr>
        </p:nvSpPr>
        <p:spPr>
          <a:prstGeom prst="rect">
            <a:avLst/>
          </a:prstGeom>
        </p:spPr>
        <p:txBody>
          <a:bodyPr/>
          <a:lstStyle/>
          <a:p>
            <a:pPr/>
          </a:p>
        </p:txBody>
      </p:sp>
      <p:sp>
        <p:nvSpPr>
          <p:cNvPr id="239" name="Shape 239"/>
          <p:cNvSpPr/>
          <p:nvPr>
            <p:ph type="body" sz="quarter" idx="1"/>
          </p:nvPr>
        </p:nvSpPr>
        <p:spPr>
          <a:prstGeom prst="rect">
            <a:avLst/>
          </a:prstGeom>
        </p:spPr>
        <p:txBody>
          <a:bodyPr/>
          <a:lstStyle>
            <a:lvl1pPr marL="279400" indent="-279400">
              <a:buSzPct val="123000"/>
              <a:buChar char="•"/>
            </a:lvl1pPr>
          </a:lstStyle>
          <a:p>
            <a:pPr/>
            <a:r>
              <a:t>Note: We cannot pass arguments to an autoclosure. If we try to do so we'll get the error message as: argument type of @autoclosure parameter must be ‘( )'.</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6498" y="11839048"/>
            <a:ext cx="21971003" cy="636979"/>
          </a:xfrm>
          <a:prstGeom prst="rect">
            <a:avLst/>
          </a:prstGeom>
        </p:spPr>
        <p:txBody>
          <a:bodyPr lIns="45719" tIns="45719" rIns="45719" bIns="45719" anchor="b"/>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6500" y="7196865"/>
            <a:ext cx="21971000"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xfrm>
            <a:off x="12007748" y="13080999"/>
            <a:ext cx="368504"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Green, hilly landscape"/>
          <p:cNvSpPr/>
          <p:nvPr>
            <p:ph type="pic" idx="21"/>
          </p:nvPr>
        </p:nvSpPr>
        <p:spPr>
          <a:xfrm>
            <a:off x="-431800" y="-4038600"/>
            <a:ext cx="29464000" cy="18034000"/>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44688"/>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 </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3" name="Body Level One…"/>
          <p:cNvSpPr txBox="1"/>
          <p:nvPr>
            <p:ph type="body" sz="quarter" idx="1" hasCustomPrompt="1"/>
          </p:nvPr>
        </p:nvSpPr>
        <p:spPr>
          <a:xfrm>
            <a:off x="1206500" y="7060576"/>
            <a:ext cx="9779000" cy="5382403"/>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4" name="Moss-covered rocks"/>
          <p:cNvSpPr/>
          <p:nvPr>
            <p:ph type="pic" sz="half" idx="21"/>
          </p:nvPr>
        </p:nvSpPr>
        <p:spPr>
          <a:xfrm>
            <a:off x="12052303" y="1270000"/>
            <a:ext cx="11188406" cy="11209889"/>
          </a:xfrm>
          <a:prstGeom prst="rect">
            <a:avLst/>
          </a:prstGeom>
        </p:spPr>
        <p:txBody>
          <a:bodyPr lIns="91439" tIns="45719" rIns="91439" bIns="45719">
            <a:noAutofit/>
          </a:bodyPr>
          <a:lstStyle/>
          <a:p>
            <a:pP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61" name="Slide Subtitle"/>
          <p:cNvSpPr txBox="1"/>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2"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63" name="Large rock formation under dark clouds with a dirt road in the foreground"/>
          <p:cNvSpPr/>
          <p:nvPr>
            <p:ph type="pic" idx="22"/>
          </p:nvPr>
        </p:nvSpPr>
        <p:spPr>
          <a:xfrm>
            <a:off x="6380200" y="1263848"/>
            <a:ext cx="22529801" cy="11193471"/>
          </a:xfrm>
          <a:prstGeom prst="rect">
            <a:avLst/>
          </a:prstGeom>
        </p:spPr>
        <p:txBody>
          <a:bodyPr lIns="91439" tIns="45719" rIns="91439" bIns="45719">
            <a:noAutofit/>
          </a:bodyPr>
          <a:lstStyle/>
          <a:p>
            <a:pP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72" name="Slide Subtitle"/>
          <p:cNvSpPr txBox="1"/>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82" name="Slide Subtitle"/>
          <p:cNvSpPr txBox="1"/>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952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952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7" name="Body Level One…"/>
          <p:cNvSpPr txBox="1"/>
          <p:nvPr>
            <p:ph type="body" idx="1" hasCustomPrompt="1"/>
          </p:nvPr>
        </p:nvSpPr>
        <p:spPr>
          <a:xfrm>
            <a:off x="1206500" y="935258"/>
            <a:ext cx="21971000" cy="7359063"/>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80825" y="10675453"/>
            <a:ext cx="201492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nchor="ct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Close-up of wild plants growing between rocks"/>
          <p:cNvSpPr/>
          <p:nvPr>
            <p:ph type="pic" sz="quarter" idx="21"/>
          </p:nvPr>
        </p:nvSpPr>
        <p:spPr>
          <a:xfrm>
            <a:off x="15430500" y="7085409"/>
            <a:ext cx="8128000" cy="5410201"/>
          </a:xfrm>
          <a:prstGeom prst="rect">
            <a:avLst/>
          </a:prstGeom>
        </p:spPr>
        <p:txBody>
          <a:bodyPr lIns="91439" tIns="45719" rIns="91439" bIns="45719">
            <a:noAutofit/>
          </a:bodyPr>
          <a:lstStyle/>
          <a:p>
            <a:pPr/>
          </a:p>
        </p:txBody>
      </p:sp>
      <p:sp>
        <p:nvSpPr>
          <p:cNvPr id="145" name="Large rock formation under dark clouds with a dirt road in the foreground"/>
          <p:cNvSpPr/>
          <p:nvPr>
            <p:ph type="pic" idx="22"/>
          </p:nvPr>
        </p:nvSpPr>
        <p:spPr>
          <a:xfrm>
            <a:off x="-2933700" y="1270000"/>
            <a:ext cx="22699133" cy="11277600"/>
          </a:xfrm>
          <a:prstGeom prst="rect">
            <a:avLst/>
          </a:prstGeom>
        </p:spPr>
        <p:txBody>
          <a:bodyPr lIns="91439" tIns="45719" rIns="91439" bIns="45719">
            <a:noAutofit/>
          </a:bodyPr>
          <a:lstStyle/>
          <a:p>
            <a:pPr/>
          </a:p>
        </p:txBody>
      </p:sp>
      <p:sp>
        <p:nvSpPr>
          <p:cNvPr id="146" name="Close-up of a wild plant growing between lava rocks"/>
          <p:cNvSpPr/>
          <p:nvPr>
            <p:ph type="pic" sz="quarter" idx="23"/>
          </p:nvPr>
        </p:nvSpPr>
        <p:spPr>
          <a:xfrm>
            <a:off x="15430500" y="1270000"/>
            <a:ext cx="8128000" cy="54102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waterfall surrounded by a green rocky landscape"/>
          <p:cNvSpPr/>
          <p:nvPr>
            <p:ph type="pic" idx="21"/>
          </p:nvPr>
        </p:nvSpPr>
        <p:spPr>
          <a:xfrm>
            <a:off x="-1511300" y="-3721100"/>
            <a:ext cx="28511500" cy="19030242"/>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00000"/>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952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9.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Swift Closures"/>
          <p:cNvSpPr txBox="1"/>
          <p:nvPr>
            <p:ph type="ctrTitle"/>
          </p:nvPr>
        </p:nvSpPr>
        <p:spPr>
          <a:prstGeom prst="rect">
            <a:avLst/>
          </a:prstGeom>
        </p:spPr>
        <p:txBody>
          <a:bodyPr/>
          <a:lstStyle/>
          <a:p>
            <a:pPr/>
            <a:r>
              <a:t>Swift Closures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Closures"/>
          <p:cNvSpPr txBox="1"/>
          <p:nvPr>
            <p:ph type="title"/>
          </p:nvPr>
        </p:nvSpPr>
        <p:spPr>
          <a:prstGeom prst="rect">
            <a:avLst/>
          </a:prstGeom>
        </p:spPr>
        <p:txBody>
          <a:bodyPr/>
          <a:lstStyle/>
          <a:p>
            <a:pPr/>
            <a:r>
              <a:t>Closures</a:t>
            </a:r>
          </a:p>
        </p:txBody>
      </p:sp>
      <p:sp>
        <p:nvSpPr>
          <p:cNvPr id="174" name="Closures are anonymous functions (often referred to as lambdas or blocks in other languages). They are blocks of code that you can pass as arguments to functions where the receiving function expects a function type.…"/>
          <p:cNvSpPr txBox="1"/>
          <p:nvPr>
            <p:ph type="body" idx="1"/>
          </p:nvPr>
        </p:nvSpPr>
        <p:spPr>
          <a:xfrm>
            <a:off x="1206500" y="2815866"/>
            <a:ext cx="21971000" cy="10215996"/>
          </a:xfrm>
          <a:prstGeom prst="rect">
            <a:avLst/>
          </a:prstGeom>
        </p:spPr>
        <p:txBody>
          <a:bodyPr/>
          <a:lstStyle/>
          <a:p>
            <a:pPr defTabSz="457200">
              <a:lnSpc>
                <a:spcPct val="100000"/>
              </a:lnSpc>
              <a:spcBef>
                <a:spcPts val="0"/>
              </a:spcBef>
            </a:pPr>
            <a:r>
              <a:t>Closures are </a:t>
            </a:r>
            <a:r>
              <a:rPr>
                <a:solidFill>
                  <a:srgbClr val="FFFB00"/>
                </a:solidFill>
              </a:rPr>
              <a:t>anonymous functions</a:t>
            </a:r>
            <a:r>
              <a:t> (often referred to as lambdas or blocks in other languages). They are blocks of code that you can pass as arguments to functions where the receiving function expects a function type.</a:t>
            </a:r>
          </a:p>
          <a:p>
            <a:pPr/>
            <a:r>
              <a:t>In Swift, closures are a special type of functions that can be defined without the use of the </a:t>
            </a:r>
            <a:r>
              <a:rPr i="1"/>
              <a:t>func</a:t>
            </a:r>
            <a:r>
              <a:t> keyword and a function name. </a:t>
            </a:r>
          </a:p>
          <a:p>
            <a:pPr/>
            <a:r>
              <a:t>Just like functions, the closures can accept parameters and return values. </a:t>
            </a:r>
          </a:p>
          <a:p>
            <a:pPr/>
            <a:r>
              <a:t>A closure also has a set of statements that will be executed once the closure is called. </a:t>
            </a:r>
          </a:p>
          <a:p>
            <a:pPr/>
            <a:r>
              <a:t>Just like functions, a closure can be assigned to a variable or a constant.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Introduction"/>
          <p:cNvSpPr txBox="1"/>
          <p:nvPr>
            <p:ph type="title"/>
          </p:nvPr>
        </p:nvSpPr>
        <p:spPr>
          <a:prstGeom prst="rect">
            <a:avLst/>
          </a:prstGeom>
        </p:spPr>
        <p:txBody>
          <a:bodyPr/>
          <a:lstStyle/>
          <a:p>
            <a:pPr/>
            <a:r>
              <a:t>Introduction</a:t>
            </a:r>
          </a:p>
        </p:txBody>
      </p:sp>
      <p:sp>
        <p:nvSpPr>
          <p:cNvPr id="177" name="Closures Declar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Closures Declaration</a:t>
            </a:r>
          </a:p>
        </p:txBody>
      </p:sp>
      <p:sp>
        <p:nvSpPr>
          <p:cNvPr id="178" name="In Swift, a closure is a special type of function without the function name. For example…"/>
          <p:cNvSpPr txBox="1"/>
          <p:nvPr>
            <p:ph type="body" idx="1"/>
          </p:nvPr>
        </p:nvSpPr>
        <p:spPr>
          <a:prstGeom prst="rect">
            <a:avLst/>
          </a:prstGeom>
        </p:spPr>
        <p:txBody>
          <a:bodyPr/>
          <a:lstStyle/>
          <a:p>
            <a:pPr marL="591312" indent="-591312" defTabSz="2365188">
              <a:spcBef>
                <a:spcPts val="4300"/>
              </a:spcBef>
              <a:defRPr sz="4656"/>
            </a:pPr>
            <a:r>
              <a:t>In Swift, a closure is a special type of function without the function name. For example</a:t>
            </a:r>
          </a:p>
          <a:p>
            <a:pPr lvl="4" marL="0" indent="1773936" defTabSz="443484">
              <a:lnSpc>
                <a:spcPct val="100000"/>
              </a:lnSpc>
              <a:spcBef>
                <a:spcPts val="0"/>
              </a:spcBef>
              <a:buSzTx/>
              <a:buNone/>
              <a:defRPr sz="4850">
                <a:solidFill>
                  <a:srgbClr val="D3D3D3"/>
                </a:solidFill>
              </a:defRPr>
            </a:pPr>
            <a:r>
              <a:t>{</a:t>
            </a:r>
          </a:p>
          <a:p>
            <a:pPr lvl="4" marL="0" indent="1773936" defTabSz="443484">
              <a:lnSpc>
                <a:spcPct val="100000"/>
              </a:lnSpc>
              <a:spcBef>
                <a:spcPts val="0"/>
              </a:spcBef>
              <a:buSzTx/>
              <a:buNone/>
              <a:defRPr sz="4850">
                <a:solidFill>
                  <a:srgbClr val="98C379"/>
                </a:solidFill>
              </a:defRPr>
            </a:pPr>
            <a:r>
              <a:rPr>
                <a:solidFill>
                  <a:srgbClr val="D3D3D3"/>
                </a:solidFill>
              </a:rPr>
              <a:t>  </a:t>
            </a:r>
            <a:r>
              <a:rPr>
                <a:solidFill>
                  <a:srgbClr val="E6C07B"/>
                </a:solidFill>
              </a:rPr>
              <a:t>print</a:t>
            </a:r>
            <a:r>
              <a:rPr>
                <a:solidFill>
                  <a:srgbClr val="D3D3D3"/>
                </a:solidFill>
              </a:rPr>
              <a:t>(</a:t>
            </a:r>
            <a:r>
              <a:t>"Hello World"</a:t>
            </a:r>
            <a:r>
              <a:rPr>
                <a:solidFill>
                  <a:srgbClr val="D3D3D3"/>
                </a:solidFill>
              </a:rPr>
              <a:t>)</a:t>
            </a:r>
            <a:endParaRPr>
              <a:solidFill>
                <a:srgbClr val="D3D3D3"/>
              </a:solidFill>
            </a:endParaRPr>
          </a:p>
          <a:p>
            <a:pPr lvl="4" marL="0" indent="1773936" defTabSz="443484">
              <a:lnSpc>
                <a:spcPct val="100000"/>
              </a:lnSpc>
              <a:spcBef>
                <a:spcPts val="0"/>
              </a:spcBef>
              <a:buSzTx/>
              <a:buNone/>
              <a:defRPr sz="4850">
                <a:solidFill>
                  <a:srgbClr val="D3D3D3"/>
                </a:solidFill>
              </a:defRPr>
            </a:pPr>
            <a:r>
              <a:t>}</a:t>
            </a:r>
          </a:p>
          <a:p>
            <a:pPr marL="0" indent="0" defTabSz="2365188">
              <a:spcBef>
                <a:spcPts val="4300"/>
              </a:spcBef>
              <a:buSzTx/>
              <a:buNone/>
              <a:defRPr b="1" sz="4656"/>
            </a:pPr>
            <a:r>
              <a:t>Swift Closure Declaration:</a:t>
            </a:r>
          </a:p>
          <a:p>
            <a:pPr marL="591312" indent="-591312" defTabSz="2365188">
              <a:spcBef>
                <a:spcPts val="4300"/>
              </a:spcBef>
              <a:defRPr sz="4656"/>
            </a:pPr>
            <a:r>
              <a:t>We don't use the </a:t>
            </a:r>
            <a:r>
              <a:rPr>
                <a:latin typeface="Rockwell"/>
                <a:ea typeface="Rockwell"/>
                <a:cs typeface="Rockwell"/>
                <a:sym typeface="Rockwell"/>
              </a:rPr>
              <a:t>func</a:t>
            </a:r>
            <a:r>
              <a:t> keyword to create closure</a:t>
            </a:r>
          </a:p>
          <a:p>
            <a:pPr lvl="5" marL="0" indent="2217420" defTabSz="443484">
              <a:lnSpc>
                <a:spcPct val="100000"/>
              </a:lnSpc>
              <a:spcBef>
                <a:spcPts val="0"/>
              </a:spcBef>
              <a:buSzTx/>
              <a:buNone/>
              <a:defRPr sz="4850">
                <a:solidFill>
                  <a:srgbClr val="D3D3D3"/>
                </a:solidFill>
              </a:defRPr>
            </a:pPr>
            <a:r>
              <a:t>{ (parameters) -&gt; returnType </a:t>
            </a:r>
            <a:r>
              <a:rPr>
                <a:solidFill>
                  <a:srgbClr val="C678DD"/>
                </a:solidFill>
              </a:rPr>
              <a:t>in</a:t>
            </a:r>
          </a:p>
          <a:p>
            <a:pPr lvl="5" marL="0" indent="2217420" defTabSz="443484">
              <a:lnSpc>
                <a:spcPct val="100000"/>
              </a:lnSpc>
              <a:spcBef>
                <a:spcPts val="0"/>
              </a:spcBef>
              <a:buSzTx/>
              <a:buNone/>
              <a:defRPr sz="4850">
                <a:solidFill>
                  <a:srgbClr val="FFDDBE"/>
                </a:solidFill>
              </a:defRPr>
            </a:pPr>
            <a:r>
              <a:rPr>
                <a:solidFill>
                  <a:srgbClr val="D3D3D3"/>
                </a:solidFill>
              </a:rPr>
              <a:t>   </a:t>
            </a:r>
            <a:r>
              <a:t>// statements</a:t>
            </a:r>
            <a:endParaRPr>
              <a:solidFill>
                <a:srgbClr val="D3D3D3"/>
              </a:solidFill>
            </a:endParaRPr>
          </a:p>
          <a:p>
            <a:pPr lvl="5" marL="0" indent="2217420" defTabSz="443484">
              <a:lnSpc>
                <a:spcPct val="100000"/>
              </a:lnSpc>
              <a:spcBef>
                <a:spcPts val="0"/>
              </a:spcBef>
              <a:buSzTx/>
              <a:buNone/>
              <a:defRPr sz="4850">
                <a:solidFill>
                  <a:srgbClr val="D3D3D3"/>
                </a:solidFill>
              </a:defRPr>
            </a:pPr>
            <a:r>
              <a: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Introduction"/>
          <p:cNvSpPr txBox="1"/>
          <p:nvPr>
            <p:ph type="title"/>
          </p:nvPr>
        </p:nvSpPr>
        <p:spPr>
          <a:prstGeom prst="rect">
            <a:avLst/>
          </a:prstGeom>
        </p:spPr>
        <p:txBody>
          <a:bodyPr/>
          <a:lstStyle/>
          <a:p>
            <a:pPr/>
            <a:r>
              <a:t>Introduction</a:t>
            </a:r>
          </a:p>
        </p:txBody>
      </p:sp>
      <p:sp>
        <p:nvSpPr>
          <p:cNvPr id="181" name="Closures Declar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Closures Declaration</a:t>
            </a:r>
          </a:p>
        </p:txBody>
      </p:sp>
      <p:sp>
        <p:nvSpPr>
          <p:cNvPr id="182" name="Swift Closure Declaration:…"/>
          <p:cNvSpPr txBox="1"/>
          <p:nvPr>
            <p:ph type="body" idx="1"/>
          </p:nvPr>
        </p:nvSpPr>
        <p:spPr>
          <a:xfrm>
            <a:off x="1704132" y="3869356"/>
            <a:ext cx="21971001" cy="8256011"/>
          </a:xfrm>
          <a:prstGeom prst="rect">
            <a:avLst/>
          </a:prstGeom>
        </p:spPr>
        <p:txBody>
          <a:bodyPr/>
          <a:lstStyle/>
          <a:p>
            <a:pPr marL="0" indent="0" defTabSz="1755604">
              <a:spcBef>
                <a:spcPts val="3200"/>
              </a:spcBef>
              <a:buSzTx/>
              <a:buNone/>
              <a:defRPr b="1" sz="3456"/>
            </a:pPr>
            <a:r>
              <a:t>Swift Closure Declaration:</a:t>
            </a:r>
          </a:p>
          <a:p>
            <a:pPr marL="438912" indent="-438912" defTabSz="1755604">
              <a:spcBef>
                <a:spcPts val="3200"/>
              </a:spcBef>
              <a:defRPr sz="3456"/>
            </a:pPr>
            <a:r>
              <a:t>We don't use the </a:t>
            </a:r>
            <a:r>
              <a:rPr>
                <a:latin typeface="Rockwell"/>
                <a:ea typeface="Rockwell"/>
                <a:cs typeface="Rockwell"/>
                <a:sym typeface="Rockwell"/>
              </a:rPr>
              <a:t>func</a:t>
            </a:r>
            <a:r>
              <a:t> keyword to create closure</a:t>
            </a:r>
          </a:p>
          <a:p>
            <a:pPr lvl="5" marL="0" indent="1645920" defTabSz="329184">
              <a:lnSpc>
                <a:spcPct val="100000"/>
              </a:lnSpc>
              <a:spcBef>
                <a:spcPts val="0"/>
              </a:spcBef>
              <a:buSzTx/>
              <a:buNone/>
              <a:defRPr sz="3600">
                <a:solidFill>
                  <a:srgbClr val="D3D3D3"/>
                </a:solidFill>
              </a:defRPr>
            </a:pPr>
            <a:r>
              <a:t>{ (parameters) -&gt; returnType </a:t>
            </a:r>
            <a:r>
              <a:rPr>
                <a:solidFill>
                  <a:srgbClr val="C678DD"/>
                </a:solidFill>
              </a:rPr>
              <a:t>in</a:t>
            </a:r>
          </a:p>
          <a:p>
            <a:pPr lvl="5" marL="0" indent="1645920" defTabSz="329184">
              <a:lnSpc>
                <a:spcPct val="100000"/>
              </a:lnSpc>
              <a:spcBef>
                <a:spcPts val="0"/>
              </a:spcBef>
              <a:buSzTx/>
              <a:buNone/>
              <a:defRPr sz="3600">
                <a:solidFill>
                  <a:srgbClr val="FFDDBE"/>
                </a:solidFill>
              </a:defRPr>
            </a:pPr>
            <a:r>
              <a:rPr>
                <a:solidFill>
                  <a:srgbClr val="D3D3D3"/>
                </a:solidFill>
              </a:rPr>
              <a:t>   </a:t>
            </a:r>
            <a:r>
              <a:t>// statements</a:t>
            </a:r>
            <a:endParaRPr>
              <a:solidFill>
                <a:srgbClr val="D3D3D3"/>
              </a:solidFill>
            </a:endParaRPr>
          </a:p>
          <a:p>
            <a:pPr lvl="5" marL="0" indent="1645920" defTabSz="329184">
              <a:lnSpc>
                <a:spcPct val="100000"/>
              </a:lnSpc>
              <a:spcBef>
                <a:spcPts val="0"/>
              </a:spcBef>
              <a:buSzTx/>
              <a:buNone/>
              <a:defRPr sz="3600">
                <a:solidFill>
                  <a:srgbClr val="D3D3D3"/>
                </a:solidFill>
              </a:defRPr>
            </a:pPr>
            <a:r>
              <a:t>}</a:t>
            </a:r>
          </a:p>
          <a:p>
            <a:pPr lvl="5" marL="0" indent="1645920" defTabSz="329184">
              <a:lnSpc>
                <a:spcPct val="100000"/>
              </a:lnSpc>
              <a:spcBef>
                <a:spcPts val="0"/>
              </a:spcBef>
              <a:buSzTx/>
              <a:buNone/>
              <a:defRPr sz="3600">
                <a:solidFill>
                  <a:srgbClr val="D3D3D3"/>
                </a:solidFill>
              </a:defRPr>
            </a:pPr>
          </a:p>
          <a:p>
            <a:pPr marL="0" indent="0" defTabSz="1755604">
              <a:spcBef>
                <a:spcPts val="3200"/>
              </a:spcBef>
              <a:buSzTx/>
              <a:buNone/>
              <a:defRPr sz="3456"/>
            </a:pPr>
            <a:r>
              <a:t>Here,</a:t>
            </a:r>
          </a:p>
          <a:p>
            <a:pPr marL="710184" defTabSz="1755604">
              <a:spcBef>
                <a:spcPts val="3200"/>
              </a:spcBef>
              <a:buClr>
                <a:srgbClr val="25265E">
                  <a:alpha val="70196"/>
                </a:srgbClr>
              </a:buClr>
              <a:buSzPct val="100000"/>
              <a:buFont typeface="Arial"/>
              <a:buAutoNum type="arabicPeriod" startAt="1"/>
              <a:defRPr sz="3456"/>
            </a:pPr>
            <a:r>
              <a:rPr b="1"/>
              <a:t>parameters</a:t>
            </a:r>
            <a:r>
              <a:t> - any value passed to closure</a:t>
            </a:r>
          </a:p>
          <a:p>
            <a:pPr marL="710184" defTabSz="1755604">
              <a:spcBef>
                <a:spcPts val="3200"/>
              </a:spcBef>
              <a:buClr>
                <a:srgbClr val="25265E">
                  <a:alpha val="70196"/>
                </a:srgbClr>
              </a:buClr>
              <a:buSzPct val="100000"/>
              <a:buFont typeface="Arial"/>
              <a:buAutoNum type="arabicPeriod" startAt="1"/>
              <a:defRPr sz="3456"/>
            </a:pPr>
            <a:r>
              <a:rPr b="1"/>
              <a:t>returnType</a:t>
            </a:r>
            <a:r>
              <a:t> - specifies the type of value returned by the closure</a:t>
            </a:r>
          </a:p>
          <a:p>
            <a:pPr marL="710184" defTabSz="1755604">
              <a:spcBef>
                <a:spcPts val="3200"/>
              </a:spcBef>
              <a:buClr>
                <a:srgbClr val="25265E">
                  <a:alpha val="70196"/>
                </a:srgbClr>
              </a:buClr>
              <a:buSzPct val="100000"/>
              <a:buFont typeface="Arial"/>
              <a:buAutoNum type="arabicPeriod" startAt="1"/>
              <a:defRPr sz="3456"/>
            </a:pPr>
            <a:r>
              <a:rPr b="1"/>
              <a:t>in</a:t>
            </a:r>
            <a:r>
              <a:t> (optional) - used to separate </a:t>
            </a:r>
            <a:r>
              <a:rPr b="1"/>
              <a:t>parameters</a:t>
            </a:r>
            <a:r>
              <a:t>/</a:t>
            </a:r>
            <a:r>
              <a:rPr b="1"/>
              <a:t>returnType</a:t>
            </a:r>
            <a:r>
              <a:t> from closure body</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Example"/>
          <p:cNvSpPr txBox="1"/>
          <p:nvPr>
            <p:ph type="title"/>
          </p:nvPr>
        </p:nvSpPr>
        <p:spPr>
          <a:prstGeom prst="rect">
            <a:avLst/>
          </a:prstGeom>
        </p:spPr>
        <p:txBody>
          <a:bodyPr/>
          <a:lstStyle/>
          <a:p>
            <a:pPr/>
            <a:r>
              <a:t>Example</a:t>
            </a:r>
          </a:p>
        </p:txBody>
      </p:sp>
      <p:sp>
        <p:nvSpPr>
          <p:cNvPr id="185" name="var greet = {…"/>
          <p:cNvSpPr txBox="1"/>
          <p:nvPr>
            <p:ph type="body" idx="1"/>
          </p:nvPr>
        </p:nvSpPr>
        <p:spPr>
          <a:xfrm>
            <a:off x="945835" y="3320164"/>
            <a:ext cx="21971001" cy="9208049"/>
          </a:xfrm>
          <a:prstGeom prst="rect">
            <a:avLst/>
          </a:prstGeom>
        </p:spPr>
        <p:txBody>
          <a:bodyPr/>
          <a:lstStyle/>
          <a:p>
            <a:pPr marL="0" indent="0" defTabSz="443484">
              <a:lnSpc>
                <a:spcPct val="100000"/>
              </a:lnSpc>
              <a:spcBef>
                <a:spcPts val="0"/>
              </a:spcBef>
              <a:buSzTx/>
              <a:buNone/>
              <a:defRPr sz="4122">
                <a:solidFill>
                  <a:srgbClr val="D7D7D7"/>
                </a:solidFill>
                <a:latin typeface="Courier"/>
                <a:ea typeface="Courier"/>
                <a:cs typeface="Courier"/>
                <a:sym typeface="Courier"/>
              </a:defRPr>
            </a:pPr>
          </a:p>
          <a:p>
            <a:pPr marL="0" indent="0" defTabSz="443484">
              <a:lnSpc>
                <a:spcPct val="100000"/>
              </a:lnSpc>
              <a:spcBef>
                <a:spcPts val="0"/>
              </a:spcBef>
              <a:buSzTx/>
              <a:buNone/>
              <a:defRPr sz="4122">
                <a:solidFill>
                  <a:srgbClr val="D3D3D3"/>
                </a:solidFill>
                <a:latin typeface="Menlo Regular"/>
                <a:ea typeface="Menlo Regular"/>
                <a:cs typeface="Menlo Regular"/>
                <a:sym typeface="Menlo Regular"/>
              </a:defRPr>
            </a:pPr>
            <a:r>
              <a:rPr>
                <a:solidFill>
                  <a:srgbClr val="C678DD"/>
                </a:solidFill>
              </a:rPr>
              <a:t>var</a:t>
            </a:r>
            <a:r>
              <a:t> greet = {</a:t>
            </a:r>
          </a:p>
          <a:p>
            <a:pPr marL="0" indent="0" defTabSz="443484">
              <a:lnSpc>
                <a:spcPct val="100000"/>
              </a:lnSpc>
              <a:spcBef>
                <a:spcPts val="0"/>
              </a:spcBef>
              <a:buSzTx/>
              <a:buNone/>
              <a:defRPr sz="4122">
                <a:solidFill>
                  <a:srgbClr val="98C379"/>
                </a:solidFill>
                <a:latin typeface="Menlo Regular"/>
                <a:ea typeface="Menlo Regular"/>
                <a:cs typeface="Menlo Regular"/>
                <a:sym typeface="Menlo Regular"/>
              </a:defRPr>
            </a:pPr>
            <a:r>
              <a:rPr>
                <a:solidFill>
                  <a:srgbClr val="D3D3D3"/>
                </a:solidFill>
              </a:rPr>
              <a:t>  </a:t>
            </a:r>
            <a:r>
              <a:rPr>
                <a:solidFill>
                  <a:srgbClr val="E6C07B"/>
                </a:solidFill>
              </a:rPr>
              <a:t>print</a:t>
            </a:r>
            <a:r>
              <a:rPr>
                <a:solidFill>
                  <a:srgbClr val="D3D3D3"/>
                </a:solidFill>
              </a:rPr>
              <a:t>(</a:t>
            </a:r>
            <a:r>
              <a:t>"Hello, World!"</a:t>
            </a:r>
            <a:r>
              <a:rPr>
                <a:solidFill>
                  <a:srgbClr val="D3D3D3"/>
                </a:solidFill>
              </a:rPr>
              <a:t>)</a:t>
            </a:r>
            <a:endParaRPr>
              <a:solidFill>
                <a:srgbClr val="D3D3D3"/>
              </a:solidFill>
            </a:endParaRPr>
          </a:p>
          <a:p>
            <a:pPr marL="0" indent="0" defTabSz="443484">
              <a:lnSpc>
                <a:spcPct val="100000"/>
              </a:lnSpc>
              <a:spcBef>
                <a:spcPts val="0"/>
              </a:spcBef>
              <a:buSzTx/>
              <a:buNone/>
              <a:defRPr sz="3977">
                <a:solidFill>
                  <a:srgbClr val="D3D3D3"/>
                </a:solidFill>
                <a:latin typeface="Menlo Regular"/>
                <a:ea typeface="Menlo Regular"/>
                <a:cs typeface="Menlo Regular"/>
                <a:sym typeface="Menlo Regular"/>
              </a:defRPr>
            </a:pPr>
            <a:r>
              <a:t>}</a:t>
            </a:r>
            <a:endParaRPr>
              <a:solidFill>
                <a:srgbClr val="D5D5D5"/>
              </a:solidFill>
            </a:endParaRPr>
          </a:p>
          <a:p>
            <a:pPr marL="0" indent="0" defTabSz="2365188">
              <a:spcBef>
                <a:spcPts val="4300"/>
              </a:spcBef>
              <a:buSzTx/>
              <a:buNone/>
              <a:defRPr sz="4656"/>
            </a:pPr>
            <a:r>
              <a:t>Here, we have defined a closure and assigned it to the variable named </a:t>
            </a:r>
            <a:r>
              <a:rPr>
                <a:latin typeface="Menlo Regular"/>
                <a:ea typeface="Menlo Regular"/>
                <a:cs typeface="Menlo Regular"/>
                <a:sym typeface="Menlo Regular"/>
              </a:rPr>
              <a:t>greet</a:t>
            </a:r>
            <a:r>
              <a:t>. Statement enclosed inside the </a:t>
            </a:r>
            <a:r>
              <a:rPr>
                <a:latin typeface="Menlo Regular"/>
                <a:ea typeface="Menlo Regular"/>
                <a:cs typeface="Menlo Regular"/>
                <a:sym typeface="Menlo Regular"/>
              </a:rPr>
              <a:t>{}</a:t>
            </a:r>
            <a:r>
              <a:t> is the closure body.</a:t>
            </a:r>
          </a:p>
          <a:p>
            <a:pPr marL="0" indent="0" defTabSz="2365188">
              <a:spcBef>
                <a:spcPts val="4300"/>
              </a:spcBef>
              <a:buSzTx/>
              <a:buNone/>
              <a:defRPr sz="4656"/>
            </a:pPr>
            <a:r>
              <a:t>To execute this closure, we need to call it. Here's how we can call the closure</a:t>
            </a:r>
          </a:p>
          <a:p>
            <a:pPr marL="0" indent="0" defTabSz="2365188">
              <a:spcBef>
                <a:spcPts val="4300"/>
              </a:spcBef>
              <a:buSzTx/>
              <a:buNone/>
              <a:defRPr sz="4656">
                <a:solidFill>
                  <a:srgbClr val="00F900"/>
                </a:solidFill>
              </a:defRPr>
            </a:pPr>
            <a:r>
              <a:t>// call the closure</a:t>
            </a:r>
            <a:endParaRPr>
              <a:solidFill>
                <a:srgbClr val="D3D3D3"/>
              </a:solidFill>
            </a:endParaRPr>
          </a:p>
          <a:p>
            <a:pPr marL="0" indent="0" defTabSz="443484">
              <a:lnSpc>
                <a:spcPct val="100000"/>
              </a:lnSpc>
              <a:spcBef>
                <a:spcPts val="0"/>
              </a:spcBef>
              <a:buSzTx/>
              <a:buNone/>
              <a:defRPr sz="4122">
                <a:solidFill>
                  <a:srgbClr val="98C379"/>
                </a:solidFill>
                <a:latin typeface="Menlo Regular"/>
                <a:ea typeface="Menlo Regular"/>
                <a:cs typeface="Menlo Regular"/>
                <a:sym typeface="Menlo Regular"/>
              </a:defRPr>
            </a:pPr>
            <a:endParaRPr>
              <a:solidFill>
                <a:srgbClr val="D3D3D3"/>
              </a:solidFill>
            </a:endParaRPr>
          </a:p>
          <a:p>
            <a:pPr lvl="1" marL="0" indent="443484" defTabSz="443484">
              <a:lnSpc>
                <a:spcPct val="100000"/>
              </a:lnSpc>
              <a:spcBef>
                <a:spcPts val="0"/>
              </a:spcBef>
              <a:buSzTx/>
              <a:buNone/>
              <a:defRPr sz="4122">
                <a:solidFill>
                  <a:srgbClr val="98C379"/>
                </a:solidFill>
                <a:latin typeface="Menlo Regular"/>
                <a:ea typeface="Menlo Regular"/>
                <a:cs typeface="Menlo Regular"/>
                <a:sym typeface="Menlo Regular"/>
              </a:defRPr>
            </a:pPr>
            <a:r>
              <a:t>greet()</a:t>
            </a:r>
          </a:p>
          <a:p>
            <a:pPr lvl="1" marL="0" indent="443484" defTabSz="443484">
              <a:lnSpc>
                <a:spcPct val="100000"/>
              </a:lnSpc>
              <a:spcBef>
                <a:spcPts val="0"/>
              </a:spcBef>
              <a:buSzTx/>
              <a:buNone/>
              <a:defRPr sz="4122">
                <a:solidFill>
                  <a:srgbClr val="98C379"/>
                </a:solidFill>
                <a:latin typeface="Menlo Regular"/>
                <a:ea typeface="Menlo Regular"/>
                <a:cs typeface="Menlo Regular"/>
                <a:sym typeface="Menlo Regular"/>
              </a:defRPr>
            </a:pPr>
          </a:p>
          <a:p>
            <a:pPr lvl="1" marL="0" indent="443484" defTabSz="443484">
              <a:lnSpc>
                <a:spcPct val="100000"/>
              </a:lnSpc>
              <a:spcBef>
                <a:spcPts val="0"/>
              </a:spcBef>
              <a:buSzTx/>
              <a:buNone/>
              <a:defRPr sz="4122">
                <a:solidFill>
                  <a:srgbClr val="98C379"/>
                </a:solidFill>
                <a:latin typeface="Menlo Regular"/>
                <a:ea typeface="Menlo Regular"/>
                <a:cs typeface="Menlo Regular"/>
                <a:sym typeface="Menlo Regular"/>
              </a:defRPr>
            </a:pPr>
            <a:r>
              <a:t>//Output : </a:t>
            </a:r>
            <a:r>
              <a:rPr>
                <a:solidFill>
                  <a:srgbClr val="FF9300"/>
                </a:solidFill>
              </a:rPr>
              <a:t>Hello World</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Example"/>
          <p:cNvSpPr txBox="1"/>
          <p:nvPr>
            <p:ph type="title"/>
          </p:nvPr>
        </p:nvSpPr>
        <p:spPr>
          <a:prstGeom prst="rect">
            <a:avLst/>
          </a:prstGeom>
        </p:spPr>
        <p:txBody>
          <a:bodyPr/>
          <a:lstStyle/>
          <a:p>
            <a:pPr/>
            <a:r>
              <a:t>Example</a:t>
            </a:r>
          </a:p>
        </p:txBody>
      </p:sp>
      <p:sp>
        <p:nvSpPr>
          <p:cNvPr id="188" name="let addTwoNumbers = { (a: Int, b: Int) -&gt; Int in…"/>
          <p:cNvSpPr txBox="1"/>
          <p:nvPr>
            <p:ph type="body" idx="1"/>
          </p:nvPr>
        </p:nvSpPr>
        <p:spPr>
          <a:xfrm>
            <a:off x="945835" y="3320164"/>
            <a:ext cx="21971001" cy="9208049"/>
          </a:xfrm>
          <a:prstGeom prst="rect">
            <a:avLst/>
          </a:prstGeom>
        </p:spPr>
        <p:txBody>
          <a:bodyPr/>
          <a:lstStyle/>
          <a:p>
            <a:pPr marL="0" indent="0" defTabSz="457200">
              <a:lnSpc>
                <a:spcPct val="100000"/>
              </a:lnSpc>
              <a:spcBef>
                <a:spcPts val="0"/>
              </a:spcBef>
              <a:buSzTx/>
              <a:buNone/>
              <a:defRPr sz="4150">
                <a:solidFill>
                  <a:srgbClr val="D7D7D7"/>
                </a:solidFill>
                <a:latin typeface="Courier"/>
                <a:ea typeface="Courier"/>
                <a:cs typeface="Courier"/>
                <a:sym typeface="Courier"/>
              </a:defRPr>
            </a:pPr>
          </a:p>
          <a:p>
            <a:pPr marL="0" indent="0" defTabSz="457200">
              <a:lnSpc>
                <a:spcPct val="100000"/>
              </a:lnSpc>
              <a:spcBef>
                <a:spcPts val="0"/>
              </a:spcBef>
              <a:buSzTx/>
              <a:buNone/>
              <a:defRPr sz="4150">
                <a:solidFill>
                  <a:srgbClr val="D7D7D7"/>
                </a:solidFill>
                <a:latin typeface="Courier"/>
                <a:ea typeface="Courier"/>
                <a:cs typeface="Courier"/>
                <a:sym typeface="Courier"/>
              </a:defRPr>
            </a:pPr>
            <a:r>
              <a:rPr>
                <a:solidFill>
                  <a:srgbClr val="CC99CD"/>
                </a:solidFill>
              </a:rPr>
              <a:t>let</a:t>
            </a:r>
            <a:r>
              <a:t> addTwoNumbers </a:t>
            </a:r>
            <a:r>
              <a:rPr>
                <a:solidFill>
                  <a:srgbClr val="FFFFFF"/>
                </a:solidFill>
              </a:rPr>
              <a:t>=</a:t>
            </a:r>
            <a:r>
              <a:t> { (a: </a:t>
            </a:r>
            <a:r>
              <a:rPr>
                <a:solidFill>
                  <a:srgbClr val="F08D49"/>
                </a:solidFill>
              </a:rPr>
              <a:t>Int</a:t>
            </a:r>
            <a:r>
              <a:t>, b: </a:t>
            </a:r>
            <a:r>
              <a:rPr>
                <a:solidFill>
                  <a:srgbClr val="F08D49"/>
                </a:solidFill>
              </a:rPr>
              <a:t>Int</a:t>
            </a:r>
            <a:r>
              <a:t>) -&gt; </a:t>
            </a:r>
            <a:r>
              <a:rPr>
                <a:solidFill>
                  <a:srgbClr val="F08D49"/>
                </a:solidFill>
              </a:rPr>
              <a:t>Int</a:t>
            </a:r>
            <a:r>
              <a:t> </a:t>
            </a:r>
            <a:r>
              <a:rPr>
                <a:solidFill>
                  <a:srgbClr val="CC99CD"/>
                </a:solidFill>
              </a:rPr>
              <a:t>in</a:t>
            </a:r>
            <a:r>
              <a:t> </a:t>
            </a:r>
          </a:p>
          <a:p>
            <a:pPr lvl="1" marL="0" indent="457200" defTabSz="457200">
              <a:lnSpc>
                <a:spcPct val="100000"/>
              </a:lnSpc>
              <a:spcBef>
                <a:spcPts val="0"/>
              </a:spcBef>
              <a:buSzTx/>
              <a:buNone/>
              <a:defRPr sz="4150">
                <a:solidFill>
                  <a:srgbClr val="D7D7D7"/>
                </a:solidFill>
                <a:latin typeface="Courier"/>
                <a:ea typeface="Courier"/>
                <a:cs typeface="Courier"/>
                <a:sym typeface="Courier"/>
              </a:defRPr>
            </a:pPr>
            <a:r>
              <a:rPr>
                <a:solidFill>
                  <a:srgbClr val="CC99CD"/>
                </a:solidFill>
              </a:rPr>
              <a:t>return</a:t>
            </a:r>
            <a:r>
              <a:t> a </a:t>
            </a:r>
            <a:r>
              <a:rPr>
                <a:solidFill>
                  <a:srgbClr val="FFFFFF"/>
                </a:solidFill>
              </a:rPr>
              <a:t>+</a:t>
            </a:r>
            <a:r>
              <a:t> b </a:t>
            </a:r>
          </a:p>
          <a:p>
            <a:pPr marL="0" indent="0" defTabSz="457200">
              <a:lnSpc>
                <a:spcPct val="100000"/>
              </a:lnSpc>
              <a:spcBef>
                <a:spcPts val="0"/>
              </a:spcBef>
              <a:buSzTx/>
              <a:buNone/>
              <a:defRPr sz="4150">
                <a:solidFill>
                  <a:srgbClr val="D7D7D7"/>
                </a:solidFill>
                <a:latin typeface="Courier"/>
                <a:ea typeface="Courier"/>
                <a:cs typeface="Courier"/>
                <a:sym typeface="Courier"/>
              </a:defRPr>
            </a:pPr>
            <a:r>
              <a:t>} </a:t>
            </a:r>
          </a:p>
          <a:p>
            <a:pPr marL="0" indent="0" defTabSz="457200">
              <a:lnSpc>
                <a:spcPct val="100000"/>
              </a:lnSpc>
              <a:spcBef>
                <a:spcPts val="0"/>
              </a:spcBef>
              <a:buSzTx/>
              <a:buNone/>
              <a:defRPr sz="4150">
                <a:solidFill>
                  <a:srgbClr val="D7D7D7"/>
                </a:solidFill>
                <a:latin typeface="Courier"/>
                <a:ea typeface="Courier"/>
                <a:cs typeface="Courier"/>
                <a:sym typeface="Courier"/>
              </a:defRPr>
            </a:pPr>
            <a:r>
              <a:rPr>
                <a:solidFill>
                  <a:srgbClr val="CC99CD"/>
                </a:solidFill>
              </a:rPr>
              <a:t>let</a:t>
            </a:r>
            <a:r>
              <a:t> sum </a:t>
            </a:r>
            <a:r>
              <a:rPr>
                <a:solidFill>
                  <a:srgbClr val="FFFFFF"/>
                </a:solidFill>
              </a:rPr>
              <a:t>=</a:t>
            </a:r>
            <a:r>
              <a:t> addTwoNumbers(</a:t>
            </a:r>
            <a:r>
              <a:rPr>
                <a:solidFill>
                  <a:srgbClr val="F08D49"/>
                </a:solidFill>
              </a:rPr>
              <a:t>3</a:t>
            </a:r>
            <a:r>
              <a:t>, </a:t>
            </a:r>
            <a:r>
              <a:rPr>
                <a:solidFill>
                  <a:srgbClr val="F08D49"/>
                </a:solidFill>
              </a:rPr>
              <a:t>5</a:t>
            </a:r>
            <a:r>
              <a:t>) </a:t>
            </a:r>
          </a:p>
          <a:p>
            <a:pPr marL="0" indent="0" defTabSz="457200">
              <a:lnSpc>
                <a:spcPct val="100000"/>
              </a:lnSpc>
              <a:spcBef>
                <a:spcPts val="0"/>
              </a:spcBef>
              <a:buSzTx/>
              <a:buNone/>
              <a:defRPr sz="4150">
                <a:solidFill>
                  <a:srgbClr val="D7D7D7"/>
                </a:solidFill>
                <a:latin typeface="Courier"/>
                <a:ea typeface="Courier"/>
                <a:cs typeface="Courier"/>
                <a:sym typeface="Courier"/>
              </a:defRPr>
            </a:pPr>
            <a:r>
              <a:rPr>
                <a:solidFill>
                  <a:srgbClr val="F08D49"/>
                </a:solidFill>
              </a:rPr>
              <a:t>print</a:t>
            </a:r>
            <a:r>
              <a:t>(sum) </a:t>
            </a:r>
          </a:p>
          <a:p>
            <a:pPr marL="0" indent="0" defTabSz="457200">
              <a:lnSpc>
                <a:spcPct val="100000"/>
              </a:lnSpc>
              <a:spcBef>
                <a:spcPts val="0"/>
              </a:spcBef>
              <a:buSzTx/>
              <a:buNone/>
              <a:defRPr sz="4150">
                <a:solidFill>
                  <a:srgbClr val="D7D7D7"/>
                </a:solidFill>
                <a:latin typeface="Courier"/>
                <a:ea typeface="Courier"/>
                <a:cs typeface="Courier"/>
                <a:sym typeface="Courier"/>
              </a:defRPr>
            </a:pPr>
            <a:r>
              <a:rPr>
                <a:solidFill>
                  <a:srgbClr val="999999"/>
                </a:solidFill>
              </a:rPr>
              <a:t>// Output: 8</a:t>
            </a:r>
          </a:p>
          <a:p>
            <a:pPr marL="0" indent="0" algn="ctr" defTabSz="457200">
              <a:lnSpc>
                <a:spcPct val="100000"/>
              </a:lnSpc>
              <a:spcBef>
                <a:spcPts val="0"/>
              </a:spcBef>
              <a:buSzTx/>
              <a:buNone/>
              <a:defRPr sz="1400">
                <a:solidFill>
                  <a:srgbClr val="000000">
                    <a:alpha val="84705"/>
                  </a:srgbClr>
                </a:solidFill>
                <a:latin typeface="Times Roman"/>
                <a:ea typeface="Times Roman"/>
                <a:cs typeface="Times Roman"/>
                <a:sym typeface="Times Roman"/>
              </a:defRPr>
            </a:pP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Closure Parameters"/>
          <p:cNvSpPr txBox="1"/>
          <p:nvPr>
            <p:ph type="title"/>
          </p:nvPr>
        </p:nvSpPr>
        <p:spPr>
          <a:prstGeom prst="rect">
            <a:avLst/>
          </a:prstGeom>
        </p:spPr>
        <p:txBody>
          <a:bodyPr/>
          <a:lstStyle>
            <a:lvl1pPr defTabSz="1828754">
              <a:defRPr spc="-174" sz="8700"/>
            </a:lvl1pPr>
          </a:lstStyle>
          <a:p>
            <a:pPr/>
            <a:r>
              <a:t>Closure Parameters</a:t>
            </a:r>
          </a:p>
        </p:txBody>
      </p:sp>
      <p:sp>
        <p:nvSpPr>
          <p:cNvPr id="191" name="Similar to functions, a closure can also accept parameters. For example,…"/>
          <p:cNvSpPr txBox="1"/>
          <p:nvPr>
            <p:ph type="body" idx="1"/>
          </p:nvPr>
        </p:nvSpPr>
        <p:spPr>
          <a:xfrm>
            <a:off x="1206500" y="2516417"/>
            <a:ext cx="21971000" cy="10106583"/>
          </a:xfrm>
          <a:prstGeom prst="rect">
            <a:avLst/>
          </a:prstGeom>
        </p:spPr>
        <p:txBody>
          <a:bodyPr/>
          <a:lstStyle/>
          <a:p>
            <a:pPr/>
            <a:r>
              <a:t>Similar to functions, a closure can also accept parameters. For example,</a:t>
            </a:r>
          </a:p>
          <a:p>
            <a:pPr marL="0" indent="0">
              <a:buSzTx/>
              <a:buNone/>
            </a:pPr>
          </a:p>
          <a:p>
            <a:pPr marL="0" indent="0">
              <a:buSzTx/>
              <a:buNone/>
            </a:pPr>
            <a:r>
              <a:t>//Output: Hey there, Delilah</a:t>
            </a:r>
          </a:p>
          <a:p>
            <a:pPr/>
            <a:r>
              <a:t>Notice that we have used </a:t>
            </a:r>
            <a:r>
              <a:rPr sz="4000">
                <a:solidFill>
                  <a:srgbClr val="FFFB00"/>
                </a:solidFill>
                <a:latin typeface="Menlo Regular"/>
                <a:ea typeface="Menlo Regular"/>
                <a:cs typeface="Menlo Regular"/>
                <a:sym typeface="Menlo Regular"/>
              </a:rPr>
              <a:t>in</a:t>
            </a:r>
            <a:r>
              <a:rPr sz="4000">
                <a:solidFill>
                  <a:srgbClr val="FFFB00"/>
                </a:solidFill>
              </a:rPr>
              <a:t> </a:t>
            </a:r>
            <a:r>
              <a:t>to separate closure parameter with body.</a:t>
            </a:r>
          </a:p>
        </p:txBody>
      </p:sp>
      <p:pic>
        <p:nvPicPr>
          <p:cNvPr id="192" name="pasted-movie.png" descr="pasted-movie.png"/>
          <p:cNvPicPr>
            <a:picLocks noChangeAspect="1"/>
          </p:cNvPicPr>
          <p:nvPr/>
        </p:nvPicPr>
        <p:blipFill>
          <a:blip r:embed="rId2">
            <a:extLst/>
          </a:blip>
          <a:stretch>
            <a:fillRect/>
          </a:stretch>
        </p:blipFill>
        <p:spPr>
          <a:xfrm>
            <a:off x="1206500" y="2516417"/>
            <a:ext cx="12746881" cy="6047791"/>
          </a:xfrm>
          <a:prstGeom prst="rect">
            <a:avLst/>
          </a:prstGeom>
          <a:ln w="12700">
            <a:solidFill>
              <a:srgbClr val="F3F7F5"/>
            </a:solidFill>
            <a:miter lim="400000"/>
          </a:ln>
        </p:spPr>
      </p:pic>
      <p:sp>
        <p:nvSpPr>
          <p:cNvPr id="193" name="Call of Closure…"/>
          <p:cNvSpPr txBox="1"/>
          <p:nvPr/>
        </p:nvSpPr>
        <p:spPr>
          <a:xfrm>
            <a:off x="16505084" y="5070076"/>
            <a:ext cx="6231136" cy="2438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L="508000" indent="-508000" defTabSz="457200">
              <a:lnSpc>
                <a:spcPct val="100000"/>
              </a:lnSpc>
              <a:spcBef>
                <a:spcPts val="0"/>
              </a:spcBef>
              <a:buSzPct val="123000"/>
              <a:buChar char="•"/>
              <a:defRPr sz="4000">
                <a:solidFill>
                  <a:srgbClr val="D3D3D3"/>
                </a:solidFill>
                <a:latin typeface="Menlo Regular"/>
                <a:ea typeface="Menlo Regular"/>
                <a:cs typeface="Menlo Regular"/>
                <a:sym typeface="Menlo Regular"/>
              </a:defRPr>
            </a:pPr>
            <a:r>
              <a:t>Call of Closure</a:t>
            </a:r>
          </a:p>
          <a:p>
            <a:pPr defTabSz="457200">
              <a:lnSpc>
                <a:spcPct val="100000"/>
              </a:lnSpc>
              <a:spcBef>
                <a:spcPts val="0"/>
              </a:spcBef>
              <a:defRPr sz="4000">
                <a:solidFill>
                  <a:srgbClr val="D3D3D3"/>
                </a:solidFill>
                <a:latin typeface="Menlo Regular"/>
                <a:ea typeface="Menlo Regular"/>
                <a:cs typeface="Menlo Regular"/>
                <a:sym typeface="Menlo Regular"/>
              </a:defRPr>
            </a:pPr>
          </a:p>
          <a:p>
            <a:pPr defTabSz="457200">
              <a:lnSpc>
                <a:spcPct val="100000"/>
              </a:lnSpc>
              <a:spcBef>
                <a:spcPts val="0"/>
              </a:spcBef>
              <a:defRPr sz="4000">
                <a:solidFill>
                  <a:srgbClr val="D3D3D3"/>
                </a:solidFill>
                <a:latin typeface="Menlo Regular"/>
                <a:ea typeface="Menlo Regular"/>
                <a:cs typeface="Menlo Regular"/>
                <a:sym typeface="Menlo Regular"/>
              </a:defRPr>
            </a:pPr>
            <a:r>
              <a:t>greetUser(</a:t>
            </a:r>
            <a:r>
              <a:rPr>
                <a:solidFill>
                  <a:srgbClr val="98C379"/>
                </a:solidFill>
              </a:rPr>
              <a:t>"Delilah"</a:t>
            </a:r>
            <a:r>
              <a:t>)</a:t>
            </a:r>
            <a:endParaRPr>
              <a:solidFill>
                <a:srgbClr val="D5D5D5"/>
              </a:solidFill>
            </a:endParaR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Closure That Returns Value"/>
          <p:cNvSpPr txBox="1"/>
          <p:nvPr>
            <p:ph type="title"/>
          </p:nvPr>
        </p:nvSpPr>
        <p:spPr>
          <a:prstGeom prst="rect">
            <a:avLst/>
          </a:prstGeom>
        </p:spPr>
        <p:txBody>
          <a:bodyPr/>
          <a:lstStyle>
            <a:lvl1pPr defTabSz="1828754">
              <a:defRPr spc="-174" sz="8700"/>
            </a:lvl1pPr>
          </a:lstStyle>
          <a:p>
            <a:pPr/>
            <a:r>
              <a:t>Closure That Returns Value</a:t>
            </a:r>
          </a:p>
        </p:txBody>
      </p:sp>
      <p:sp>
        <p:nvSpPr>
          <p:cNvPr id="196" name="A Swift closure may or may not return a value.…"/>
          <p:cNvSpPr txBox="1"/>
          <p:nvPr>
            <p:ph type="body" idx="1"/>
          </p:nvPr>
        </p:nvSpPr>
        <p:spPr>
          <a:xfrm>
            <a:off x="1206500" y="3049687"/>
            <a:ext cx="21971000" cy="9454829"/>
          </a:xfrm>
          <a:prstGeom prst="rect">
            <a:avLst/>
          </a:prstGeom>
        </p:spPr>
        <p:txBody>
          <a:bodyPr/>
          <a:lstStyle/>
          <a:p>
            <a:pPr marL="445008" indent="-445008" defTabSz="1779987">
              <a:spcBef>
                <a:spcPts val="3200"/>
              </a:spcBef>
              <a:defRPr sz="3504"/>
            </a:pPr>
            <a:r>
              <a:t>A Swift closure may or may not return a value. </a:t>
            </a:r>
          </a:p>
          <a:p>
            <a:pPr marL="445008" indent="-445008" defTabSz="1779987">
              <a:spcBef>
                <a:spcPts val="3200"/>
              </a:spcBef>
              <a:defRPr sz="3504"/>
            </a:pPr>
            <a:r>
              <a:t>If we want our closure to return some value, we need to mention it's </a:t>
            </a:r>
            <a:r>
              <a:rPr b="1"/>
              <a:t>return type</a:t>
            </a:r>
            <a:r>
              <a:t> and use the </a:t>
            </a:r>
            <a:r>
              <a:rPr b="1"/>
              <a:t>return statement</a:t>
            </a:r>
            <a:r>
              <a:t>. </a:t>
            </a:r>
          </a:p>
          <a:p>
            <a:pPr marL="0" indent="0" defTabSz="1779987">
              <a:spcBef>
                <a:spcPts val="3200"/>
              </a:spcBef>
              <a:buSzTx/>
              <a:buNone/>
              <a:defRPr sz="3504"/>
            </a:pPr>
          </a:p>
        </p:txBody>
      </p:sp>
      <p:pic>
        <p:nvPicPr>
          <p:cNvPr id="197" name="pasted-movie.png" descr="pasted-movie.png"/>
          <p:cNvPicPr>
            <a:picLocks noChangeAspect="1"/>
          </p:cNvPicPr>
          <p:nvPr/>
        </p:nvPicPr>
        <p:blipFill>
          <a:blip r:embed="rId2">
            <a:extLst/>
          </a:blip>
          <a:stretch>
            <a:fillRect/>
          </a:stretch>
        </p:blipFill>
        <p:spPr>
          <a:xfrm>
            <a:off x="1206500" y="3049687"/>
            <a:ext cx="13030200" cy="6959601"/>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Closure That Returns Value"/>
          <p:cNvSpPr txBox="1"/>
          <p:nvPr>
            <p:ph type="title"/>
          </p:nvPr>
        </p:nvSpPr>
        <p:spPr>
          <a:prstGeom prst="rect">
            <a:avLst/>
          </a:prstGeom>
        </p:spPr>
        <p:txBody>
          <a:bodyPr/>
          <a:lstStyle>
            <a:lvl1pPr defTabSz="1828754">
              <a:defRPr spc="-174" sz="8700"/>
            </a:lvl1pPr>
          </a:lstStyle>
          <a:p>
            <a:pPr/>
            <a:r>
              <a:t>Closure That Returns Value</a:t>
            </a:r>
          </a:p>
        </p:txBody>
      </p:sp>
      <p:sp>
        <p:nvSpPr>
          <p:cNvPr id="200" name="Notice the closure definition,…"/>
          <p:cNvSpPr txBox="1"/>
          <p:nvPr>
            <p:ph type="body" idx="1"/>
          </p:nvPr>
        </p:nvSpPr>
        <p:spPr>
          <a:xfrm>
            <a:off x="1206500" y="3049687"/>
            <a:ext cx="21971000" cy="9454829"/>
          </a:xfrm>
          <a:prstGeom prst="rect">
            <a:avLst/>
          </a:prstGeom>
        </p:spPr>
        <p:txBody>
          <a:bodyPr/>
          <a:lstStyle/>
          <a:p>
            <a:pPr marL="426719" indent="-426719" defTabSz="1706837">
              <a:spcBef>
                <a:spcPts val="3100"/>
              </a:spcBef>
              <a:defRPr sz="3359"/>
            </a:pPr>
            <a:r>
              <a:t>Notice the closure definition,</a:t>
            </a:r>
          </a:p>
          <a:p>
            <a:pPr marL="426719" indent="-426719" defTabSz="1706837">
              <a:spcBef>
                <a:spcPts val="3100"/>
              </a:spcBef>
              <a:defRPr sz="3359"/>
            </a:pPr>
          </a:p>
          <a:p>
            <a:pPr marL="426719" indent="-426719" defTabSz="1706837">
              <a:spcBef>
                <a:spcPts val="3100"/>
              </a:spcBef>
              <a:defRPr sz="3359"/>
            </a:pPr>
            <a:r>
              <a:t>Here, </a:t>
            </a:r>
            <a:r>
              <a:rPr>
                <a:solidFill>
                  <a:schemeClr val="accent3">
                    <a:hueOff val="-385756"/>
                    <a:satOff val="-32155"/>
                    <a:lumOff val="17967"/>
                  </a:schemeClr>
                </a:solidFill>
                <a:latin typeface="Menlo Regular"/>
                <a:ea typeface="Menlo Regular"/>
                <a:cs typeface="Menlo Regular"/>
                <a:sym typeface="Menlo Regular"/>
              </a:rPr>
              <a:t>(num: Int) -&gt; (Int)</a:t>
            </a:r>
            <a:r>
              <a:t> indicates that the closure</a:t>
            </a:r>
          </a:p>
          <a:p>
            <a:pPr lvl="1" marL="853439" indent="-426719" defTabSz="1706837">
              <a:spcBef>
                <a:spcPts val="3100"/>
              </a:spcBef>
              <a:defRPr sz="3359"/>
            </a:pPr>
            <a:r>
              <a:rPr>
                <a:solidFill>
                  <a:schemeClr val="accent3">
                    <a:hueOff val="-385756"/>
                    <a:satOff val="-32155"/>
                    <a:lumOff val="17967"/>
                  </a:schemeClr>
                </a:solidFill>
                <a:latin typeface="Menlo Regular"/>
                <a:ea typeface="Menlo Regular"/>
                <a:cs typeface="Menlo Regular"/>
                <a:sym typeface="Menlo Regular"/>
              </a:rPr>
              <a:t>(num: Int)</a:t>
            </a:r>
            <a:r>
              <a:t> - indicates the parameter of integer type</a:t>
            </a:r>
          </a:p>
          <a:p>
            <a:pPr lvl="1" marL="853439" indent="-426719" defTabSz="1706837">
              <a:spcBef>
                <a:spcPts val="3100"/>
              </a:spcBef>
              <a:defRPr sz="3359"/>
            </a:pPr>
            <a:r>
              <a:rPr>
                <a:solidFill>
                  <a:schemeClr val="accent3">
                    <a:hueOff val="-385756"/>
                    <a:satOff val="-32155"/>
                    <a:lumOff val="17967"/>
                  </a:schemeClr>
                </a:solidFill>
                <a:latin typeface="Menlo Regular"/>
                <a:ea typeface="Menlo Regular"/>
                <a:cs typeface="Menlo Regular"/>
                <a:sym typeface="Menlo Regular"/>
              </a:rPr>
              <a:t>-&gt; (Int)</a:t>
            </a:r>
            <a:r>
              <a:t> - represents the closure return value of Int type</a:t>
            </a:r>
          </a:p>
          <a:p>
            <a:pPr lvl="1" marL="853439" indent="-426719" defTabSz="1706837">
              <a:spcBef>
                <a:spcPts val="3100"/>
              </a:spcBef>
              <a:defRPr sz="3359"/>
            </a:pPr>
            <a:r>
              <a:rPr>
                <a:solidFill>
                  <a:schemeClr val="accent3">
                    <a:hueOff val="-385756"/>
                    <a:satOff val="-32155"/>
                    <a:lumOff val="17967"/>
                  </a:schemeClr>
                </a:solidFill>
                <a:latin typeface="Menlo Regular"/>
                <a:ea typeface="Menlo Regular"/>
                <a:cs typeface="Menlo Regular"/>
                <a:sym typeface="Menlo Regular"/>
              </a:rPr>
              <a:t>return square</a:t>
            </a:r>
            <a:r>
              <a:t> - return statement inside the closure</a:t>
            </a:r>
          </a:p>
          <a:p>
            <a:pPr marL="0" indent="0" defTabSz="1706837">
              <a:spcBef>
                <a:spcPts val="3100"/>
              </a:spcBef>
              <a:buSzTx/>
              <a:buNone/>
              <a:defRPr sz="3359"/>
            </a:pPr>
            <a:r>
              <a:t>The returned value is stored in the </a:t>
            </a:r>
            <a:r>
              <a:rPr>
                <a:solidFill>
                  <a:schemeClr val="accent4">
                    <a:hueOff val="475731"/>
                    <a:satOff val="-4338"/>
                    <a:lumOff val="10182"/>
                  </a:schemeClr>
                </a:solidFill>
                <a:latin typeface="Menlo Regular"/>
                <a:ea typeface="Menlo Regular"/>
                <a:cs typeface="Menlo Regular"/>
                <a:sym typeface="Menlo Regular"/>
              </a:rPr>
              <a:t>result</a:t>
            </a:r>
            <a:r>
              <a:t> variable.</a:t>
            </a:r>
          </a:p>
        </p:txBody>
      </p:sp>
      <p:pic>
        <p:nvPicPr>
          <p:cNvPr id="201" name="pasted-movie.png" descr="pasted-movie.png"/>
          <p:cNvPicPr>
            <a:picLocks noChangeAspect="1"/>
          </p:cNvPicPr>
          <p:nvPr/>
        </p:nvPicPr>
        <p:blipFill>
          <a:blip r:embed="rId2">
            <a:extLst/>
          </a:blip>
          <a:stretch>
            <a:fillRect/>
          </a:stretch>
        </p:blipFill>
        <p:spPr>
          <a:xfrm>
            <a:off x="1206500" y="3049687"/>
            <a:ext cx="12014200" cy="3200401"/>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Closures as Function Parameter"/>
          <p:cNvSpPr txBox="1"/>
          <p:nvPr>
            <p:ph type="title"/>
          </p:nvPr>
        </p:nvSpPr>
        <p:spPr>
          <a:prstGeom prst="rect">
            <a:avLst/>
          </a:prstGeom>
        </p:spPr>
        <p:txBody>
          <a:bodyPr/>
          <a:lstStyle>
            <a:lvl1pPr defTabSz="1828754">
              <a:defRPr spc="-174" sz="8700"/>
            </a:lvl1pPr>
          </a:lstStyle>
          <a:p>
            <a:pPr/>
            <a:r>
              <a:t>Closures as Function Parameter</a:t>
            </a:r>
          </a:p>
        </p:txBody>
      </p:sp>
      <p:sp>
        <p:nvSpPr>
          <p:cNvPr id="204" name="In Swift, we can create a function that accepts closure as its parameter.…"/>
          <p:cNvSpPr txBox="1"/>
          <p:nvPr>
            <p:ph type="body" idx="1"/>
          </p:nvPr>
        </p:nvSpPr>
        <p:spPr>
          <a:xfrm>
            <a:off x="922138" y="2812719"/>
            <a:ext cx="21971001" cy="9454829"/>
          </a:xfrm>
          <a:prstGeom prst="rect">
            <a:avLst/>
          </a:prstGeom>
        </p:spPr>
        <p:txBody>
          <a:bodyPr/>
          <a:lstStyle/>
          <a:p>
            <a:pPr marL="499872" indent="-499872" defTabSz="1999437">
              <a:spcBef>
                <a:spcPts val="3600"/>
              </a:spcBef>
              <a:defRPr sz="3936"/>
            </a:pPr>
            <a:r>
              <a:t>In Swift, we can create a function that accepts closure as its parameter.</a:t>
            </a:r>
          </a:p>
          <a:p>
            <a:pPr marL="0" indent="0" defTabSz="1999437">
              <a:spcBef>
                <a:spcPts val="3600"/>
              </a:spcBef>
              <a:buSzTx/>
              <a:buNone/>
              <a:defRPr sz="4100"/>
            </a:pPr>
            <a:r>
              <a:t>Here,</a:t>
            </a:r>
          </a:p>
          <a:p>
            <a:pPr marL="1007182" indent="-892628" defTabSz="1999437">
              <a:spcBef>
                <a:spcPts val="3600"/>
              </a:spcBef>
              <a:buClr>
                <a:srgbClr val="25265E">
                  <a:alpha val="70196"/>
                </a:srgbClr>
              </a:buClr>
              <a:buFont typeface="Menlo Regular"/>
              <a:defRPr sz="4100"/>
            </a:pPr>
            <a:r>
              <a:rPr>
                <a:latin typeface="Menlo Regular"/>
                <a:ea typeface="Menlo Regular"/>
                <a:cs typeface="Menlo Regular"/>
                <a:sym typeface="Menlo Regular"/>
              </a:rPr>
              <a:t>search</a:t>
            </a:r>
            <a:r>
              <a:t> - function parameter</a:t>
            </a:r>
          </a:p>
          <a:p>
            <a:pPr marL="1007182" indent="-892628" defTabSz="1999437">
              <a:spcBef>
                <a:spcPts val="3600"/>
              </a:spcBef>
              <a:buClr>
                <a:srgbClr val="25265E">
                  <a:alpha val="70196"/>
                </a:srgbClr>
              </a:buClr>
              <a:buFont typeface="Menlo Regular"/>
              <a:defRPr sz="4100"/>
            </a:pPr>
            <a:r>
              <a:rPr>
                <a:latin typeface="Menlo Regular"/>
                <a:ea typeface="Menlo Regular"/>
                <a:cs typeface="Menlo Regular"/>
                <a:sym typeface="Menlo Regular"/>
              </a:rPr>
              <a:t>() -&gt; ()</a:t>
            </a:r>
            <a:r>
              <a:t> - represents the type of the closure</a:t>
            </a:r>
          </a:p>
          <a:p>
            <a:pPr marL="1007182" indent="-892628" defTabSz="1999437">
              <a:spcBef>
                <a:spcPts val="3600"/>
              </a:spcBef>
              <a:buClr>
                <a:srgbClr val="25265E">
                  <a:alpha val="70196"/>
                </a:srgbClr>
              </a:buClr>
              <a:buFont typeface="Menlo Regular"/>
              <a:defRPr sz="4100"/>
            </a:pPr>
            <a:r>
              <a:rPr>
                <a:latin typeface="Menlo Regular"/>
                <a:ea typeface="Menlo Regular"/>
                <a:cs typeface="Menlo Regular"/>
                <a:sym typeface="Menlo Regular"/>
              </a:rPr>
              <a:t>search()</a:t>
            </a:r>
            <a:r>
              <a:t> - call closure from the inside of the function.</a:t>
            </a:r>
          </a:p>
          <a:p>
            <a:pPr marL="0" indent="0" defTabSz="1999437">
              <a:spcBef>
                <a:spcPts val="3600"/>
              </a:spcBef>
              <a:buSzTx/>
              <a:buNone/>
              <a:defRPr sz="4100"/>
            </a:pPr>
            <a:r>
              <a:t>Now, to call this function, we need to pass a closure as its argument</a:t>
            </a:r>
          </a:p>
        </p:txBody>
      </p:sp>
      <p:pic>
        <p:nvPicPr>
          <p:cNvPr id="205" name="pasted-movie.png" descr="pasted-movie.png"/>
          <p:cNvPicPr>
            <a:picLocks noChangeAspect="1"/>
          </p:cNvPicPr>
          <p:nvPr/>
        </p:nvPicPr>
        <p:blipFill>
          <a:blip r:embed="rId2">
            <a:extLst/>
          </a:blip>
          <a:stretch>
            <a:fillRect/>
          </a:stretch>
        </p:blipFill>
        <p:spPr>
          <a:xfrm>
            <a:off x="922138" y="2812719"/>
            <a:ext cx="9353931" cy="3533254"/>
          </a:xfrm>
          <a:prstGeom prst="rect">
            <a:avLst/>
          </a:prstGeom>
          <a:ln w="12700">
            <a:miter lim="400000"/>
          </a:ln>
        </p:spPr>
      </p:pic>
      <p:pic>
        <p:nvPicPr>
          <p:cNvPr id="206" name="pasted-movie.png" descr="pasted-movie.png"/>
          <p:cNvPicPr>
            <a:picLocks noChangeAspect="1"/>
          </p:cNvPicPr>
          <p:nvPr/>
        </p:nvPicPr>
        <p:blipFill>
          <a:blip r:embed="rId3">
            <a:extLst/>
          </a:blip>
          <a:stretch>
            <a:fillRect/>
          </a:stretch>
        </p:blipFill>
        <p:spPr>
          <a:xfrm>
            <a:off x="10928294" y="5901833"/>
            <a:ext cx="13208001" cy="3276601"/>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Closure"/>
          <p:cNvSpPr txBox="1"/>
          <p:nvPr>
            <p:ph type="title"/>
          </p:nvPr>
        </p:nvSpPr>
        <p:spPr>
          <a:prstGeom prst="rect">
            <a:avLst/>
          </a:prstGeom>
        </p:spPr>
        <p:txBody>
          <a:bodyPr/>
          <a:lstStyle/>
          <a:p>
            <a:pPr/>
            <a:r>
              <a:t>Closure</a:t>
            </a:r>
          </a:p>
        </p:txBody>
      </p:sp>
      <p:sp>
        <p:nvSpPr>
          <p:cNvPr id="209" name="Expression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Expressions:</a:t>
            </a:r>
          </a:p>
        </p:txBody>
      </p:sp>
      <p:sp>
        <p:nvSpPr>
          <p:cNvPr id="210" name="There are several special forms that allow closures to be written :…"/>
          <p:cNvSpPr txBox="1"/>
          <p:nvPr>
            <p:ph type="body" idx="1"/>
          </p:nvPr>
        </p:nvSpPr>
        <p:spPr>
          <a:xfrm>
            <a:off x="1206500" y="3866974"/>
            <a:ext cx="21971000" cy="8256012"/>
          </a:xfrm>
          <a:prstGeom prst="rect">
            <a:avLst/>
          </a:prstGeom>
        </p:spPr>
        <p:txBody>
          <a:bodyPr/>
          <a:lstStyle/>
          <a:p>
            <a:pPr marL="0" indent="0">
              <a:buSzTx/>
              <a:buNone/>
            </a:pPr>
            <a:r>
              <a:t>There are several special forms that allow closures to be written :</a:t>
            </a:r>
          </a:p>
          <a:p>
            <a:pPr/>
            <a:r>
              <a:t>A closure an omit the types of its parameters, its return types, or both.</a:t>
            </a:r>
          </a:p>
          <a:p>
            <a:pPr/>
            <a:r>
              <a:t>A closure may omit names for its parameters. Its parameters are then implicitly named </a:t>
            </a:r>
            <a:r>
              <a:rPr>
                <a:latin typeface="Courier"/>
                <a:ea typeface="Courier"/>
                <a:cs typeface="Courier"/>
                <a:sym typeface="Courier"/>
              </a:rPr>
              <a:t>$</a:t>
            </a:r>
            <a:r>
              <a:t> followed by their positions: </a:t>
            </a:r>
            <a:r>
              <a:rPr>
                <a:latin typeface="Courier"/>
                <a:ea typeface="Courier"/>
                <a:cs typeface="Courier"/>
                <a:sym typeface="Courier"/>
              </a:rPr>
              <a:t>$0, $1, $2</a:t>
            </a:r>
            <a:r>
              <a:t> and so on.</a:t>
            </a:r>
          </a:p>
          <a:p>
            <a:pPr/>
            <a:r>
              <a:t>A closure that consists of only a single expression is understood to return the value of that expression.</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Closure"/>
          <p:cNvSpPr txBox="1"/>
          <p:nvPr>
            <p:ph type="title"/>
          </p:nvPr>
        </p:nvSpPr>
        <p:spPr>
          <a:prstGeom prst="rect">
            <a:avLst/>
          </a:prstGeom>
        </p:spPr>
        <p:txBody>
          <a:bodyPr/>
          <a:lstStyle/>
          <a:p>
            <a:pPr/>
            <a:r>
              <a:t>Closure</a:t>
            </a:r>
          </a:p>
        </p:txBody>
      </p:sp>
      <p:sp>
        <p:nvSpPr>
          <p:cNvPr id="213" name="Expression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Expressions:</a:t>
            </a:r>
          </a:p>
        </p:txBody>
      </p:sp>
      <p:sp>
        <p:nvSpPr>
          <p:cNvPr id="214" name="The following expressions are equivalent:"/>
          <p:cNvSpPr txBox="1"/>
          <p:nvPr>
            <p:ph type="body" sz="quarter" idx="1"/>
          </p:nvPr>
        </p:nvSpPr>
        <p:spPr>
          <a:xfrm>
            <a:off x="1206500" y="3866974"/>
            <a:ext cx="21971000" cy="934780"/>
          </a:xfrm>
          <a:prstGeom prst="rect">
            <a:avLst/>
          </a:prstGeom>
        </p:spPr>
        <p:txBody>
          <a:bodyPr/>
          <a:lstStyle/>
          <a:p>
            <a:pPr/>
            <a:r>
              <a:t>The following expressions are equivalent:</a:t>
            </a:r>
          </a:p>
        </p:txBody>
      </p:sp>
      <p:sp>
        <p:nvSpPr>
          <p:cNvPr id="215" name="myFunction { (x: Int, y: Int) -&gt;Int in…"/>
          <p:cNvSpPr txBox="1"/>
          <p:nvPr/>
        </p:nvSpPr>
        <p:spPr>
          <a:xfrm>
            <a:off x="3916576" y="5487986"/>
            <a:ext cx="16977298" cy="7416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lvl="2" marL="1612900" indent="-393700" defTabSz="533400">
              <a:lnSpc>
                <a:spcPct val="100000"/>
              </a:lnSpc>
              <a:spcBef>
                <a:spcPts val="0"/>
              </a:spcBef>
              <a:buSzPct val="123000"/>
              <a:buChar char="•"/>
              <a:tabLst>
                <a:tab pos="533400" algn="l"/>
              </a:tabLst>
              <a:defRPr sz="3100">
                <a:solidFill>
                  <a:srgbClr val="FFFFFF">
                    <a:alpha val="85000"/>
                  </a:srgbClr>
                </a:solidFill>
                <a:latin typeface="Menlo Regular"/>
                <a:ea typeface="Menlo Regular"/>
                <a:cs typeface="Menlo Regular"/>
                <a:sym typeface="Menlo Regular"/>
              </a:defRPr>
            </a:pPr>
            <a:r>
              <a:t> myFunction { (x: </a:t>
            </a:r>
            <a:r>
              <a:rPr>
                <a:solidFill>
                  <a:srgbClr val="DABAFF"/>
                </a:solidFill>
              </a:rPr>
              <a:t>Int</a:t>
            </a:r>
            <a:r>
              <a:t>, y: </a:t>
            </a:r>
            <a:r>
              <a:rPr>
                <a:solidFill>
                  <a:srgbClr val="DABAFF"/>
                </a:solidFill>
              </a:rPr>
              <a:t>Int</a:t>
            </a:r>
            <a:r>
              <a:t>) -&gt;</a:t>
            </a:r>
            <a:r>
              <a:rPr>
                <a:solidFill>
                  <a:srgbClr val="DABAFF"/>
                </a:solidFill>
              </a:rPr>
              <a:t>Int</a:t>
            </a:r>
            <a:r>
              <a:t> </a:t>
            </a:r>
            <a:r>
              <a:rPr b="1">
                <a:solidFill>
                  <a:srgbClr val="FF7AB2"/>
                </a:solidFill>
              </a:rPr>
              <a:t>in</a:t>
            </a:r>
          </a:p>
          <a:p>
            <a:pPr lvl="4" defTabSz="533400">
              <a:lnSpc>
                <a:spcPct val="100000"/>
              </a:lnSpc>
              <a:spcBef>
                <a:spcPts val="0"/>
              </a:spcBef>
              <a:tabLst>
                <a:tab pos="533400" algn="l"/>
              </a:tabLst>
              <a:defRPr sz="3100">
                <a:solidFill>
                  <a:srgbClr val="FFFFFF">
                    <a:alpha val="85000"/>
                  </a:srgbClr>
                </a:solidFill>
                <a:latin typeface="Menlo Regular"/>
                <a:ea typeface="Menlo Regular"/>
                <a:cs typeface="Menlo Regular"/>
                <a:sym typeface="Menlo Regular"/>
              </a:defRPr>
            </a:pPr>
            <a:r>
              <a:t>    </a:t>
            </a:r>
            <a:r>
              <a:rPr b="1">
                <a:solidFill>
                  <a:srgbClr val="FF7AB2"/>
                </a:solidFill>
              </a:rPr>
              <a:t>return</a:t>
            </a:r>
            <a:r>
              <a:t> x + y</a:t>
            </a:r>
          </a:p>
          <a:p>
            <a:pPr lvl="4" defTabSz="533400">
              <a:lnSpc>
                <a:spcPct val="100000"/>
              </a:lnSpc>
              <a:spcBef>
                <a:spcPts val="0"/>
              </a:spcBef>
              <a:tabLst>
                <a:tab pos="533400" algn="l"/>
              </a:tabLst>
              <a:defRPr sz="3100">
                <a:solidFill>
                  <a:srgbClr val="FFFFFF">
                    <a:alpha val="85000"/>
                  </a:srgbClr>
                </a:solidFill>
                <a:latin typeface="Menlo Regular"/>
                <a:ea typeface="Menlo Regular"/>
                <a:cs typeface="Menlo Regular"/>
                <a:sym typeface="Menlo Regular"/>
              </a:defRPr>
            </a:pPr>
            <a:r>
              <a:t>    </a:t>
            </a:r>
          </a:p>
          <a:p>
            <a:pPr lvl="4" defTabSz="533400">
              <a:lnSpc>
                <a:spcPct val="100000"/>
              </a:lnSpc>
              <a:spcBef>
                <a:spcPts val="0"/>
              </a:spcBef>
              <a:tabLst>
                <a:tab pos="533400" algn="l"/>
              </a:tabLst>
              <a:defRPr sz="3100">
                <a:solidFill>
                  <a:srgbClr val="FFFFFF">
                    <a:alpha val="85000"/>
                  </a:srgbClr>
                </a:solidFill>
                <a:latin typeface="Menlo Regular"/>
                <a:ea typeface="Menlo Regular"/>
                <a:cs typeface="Menlo Regular"/>
                <a:sym typeface="Menlo Regular"/>
              </a:defRPr>
            </a:pPr>
            <a:r>
              <a:t>}</a:t>
            </a:r>
          </a:p>
          <a:p>
            <a:pPr lvl="4" defTabSz="533400">
              <a:lnSpc>
                <a:spcPct val="100000"/>
              </a:lnSpc>
              <a:spcBef>
                <a:spcPts val="0"/>
              </a:spcBef>
              <a:tabLst>
                <a:tab pos="533400" algn="l"/>
              </a:tabLst>
              <a:defRPr sz="3100">
                <a:solidFill>
                  <a:srgbClr val="FFFFFF">
                    <a:alpha val="85000"/>
                  </a:srgbClr>
                </a:solidFill>
                <a:latin typeface="Menlo Regular"/>
                <a:ea typeface="Menlo Regular"/>
                <a:cs typeface="Menlo Regular"/>
                <a:sym typeface="Menlo Regular"/>
              </a:defRPr>
            </a:pPr>
          </a:p>
          <a:p>
            <a:pPr lvl="4" defTabSz="533400">
              <a:lnSpc>
                <a:spcPct val="100000"/>
              </a:lnSpc>
              <a:spcBef>
                <a:spcPts val="0"/>
              </a:spcBef>
              <a:tabLst>
                <a:tab pos="533400" algn="l"/>
              </a:tabLst>
              <a:defRPr sz="3100">
                <a:solidFill>
                  <a:srgbClr val="FFFFFF">
                    <a:alpha val="85000"/>
                  </a:srgbClr>
                </a:solidFill>
                <a:latin typeface="Menlo Regular"/>
                <a:ea typeface="Menlo Regular"/>
                <a:cs typeface="Menlo Regular"/>
                <a:sym typeface="Menlo Regular"/>
              </a:defRPr>
            </a:pPr>
          </a:p>
          <a:p>
            <a:pPr lvl="2" marL="1612900" indent="-393700" defTabSz="533400">
              <a:lnSpc>
                <a:spcPct val="100000"/>
              </a:lnSpc>
              <a:spcBef>
                <a:spcPts val="0"/>
              </a:spcBef>
              <a:buSzPct val="123000"/>
              <a:buChar char="•"/>
              <a:tabLst>
                <a:tab pos="533400" algn="l"/>
              </a:tabLst>
              <a:defRPr sz="3100">
                <a:solidFill>
                  <a:srgbClr val="FFFFFF">
                    <a:alpha val="85000"/>
                  </a:srgbClr>
                </a:solidFill>
                <a:latin typeface="Menlo Regular"/>
                <a:ea typeface="Menlo Regular"/>
                <a:cs typeface="Menlo Regular"/>
                <a:sym typeface="Menlo Regular"/>
              </a:defRPr>
            </a:pPr>
            <a:r>
              <a:t> myFunction { x, y </a:t>
            </a:r>
            <a:r>
              <a:rPr b="1">
                <a:solidFill>
                  <a:srgbClr val="FF7AB2"/>
                </a:solidFill>
              </a:rPr>
              <a:t>in</a:t>
            </a:r>
          </a:p>
          <a:p>
            <a:pPr lvl="4" defTabSz="533400">
              <a:lnSpc>
                <a:spcPct val="100000"/>
              </a:lnSpc>
              <a:spcBef>
                <a:spcPts val="0"/>
              </a:spcBef>
              <a:tabLst>
                <a:tab pos="533400" algn="l"/>
              </a:tabLst>
              <a:defRPr sz="3100">
                <a:solidFill>
                  <a:srgbClr val="FFFFFF">
                    <a:alpha val="85000"/>
                  </a:srgbClr>
                </a:solidFill>
                <a:latin typeface="Menlo Regular"/>
                <a:ea typeface="Menlo Regular"/>
                <a:cs typeface="Menlo Regular"/>
                <a:sym typeface="Menlo Regular"/>
              </a:defRPr>
            </a:pPr>
            <a:r>
              <a:t>  </a:t>
            </a:r>
            <a:r>
              <a:rPr b="1">
                <a:solidFill>
                  <a:srgbClr val="FF7AB2"/>
                </a:solidFill>
              </a:rPr>
              <a:t>return</a:t>
            </a:r>
            <a:r>
              <a:t> x + y</a:t>
            </a:r>
          </a:p>
          <a:p>
            <a:pPr lvl="4" defTabSz="533400">
              <a:lnSpc>
                <a:spcPct val="100000"/>
              </a:lnSpc>
              <a:spcBef>
                <a:spcPts val="0"/>
              </a:spcBef>
              <a:tabLst>
                <a:tab pos="533400" algn="l"/>
              </a:tabLst>
              <a:defRPr sz="3100">
                <a:solidFill>
                  <a:srgbClr val="FFFFFF">
                    <a:alpha val="85000"/>
                  </a:srgbClr>
                </a:solidFill>
                <a:latin typeface="Menlo Regular"/>
                <a:ea typeface="Menlo Regular"/>
                <a:cs typeface="Menlo Regular"/>
                <a:sym typeface="Menlo Regular"/>
              </a:defRPr>
            </a:pPr>
            <a:r>
              <a:t>}</a:t>
            </a:r>
          </a:p>
          <a:p>
            <a:pPr lvl="4" defTabSz="533400">
              <a:lnSpc>
                <a:spcPct val="100000"/>
              </a:lnSpc>
              <a:spcBef>
                <a:spcPts val="0"/>
              </a:spcBef>
              <a:tabLst>
                <a:tab pos="533400" algn="l"/>
              </a:tabLst>
              <a:defRPr sz="3100">
                <a:solidFill>
                  <a:srgbClr val="FFFFFF">
                    <a:alpha val="85000"/>
                  </a:srgbClr>
                </a:solidFill>
                <a:latin typeface="Menlo Regular"/>
                <a:ea typeface="Menlo Regular"/>
                <a:cs typeface="Menlo Regular"/>
                <a:sym typeface="Menlo Regular"/>
              </a:defRPr>
            </a:pPr>
          </a:p>
          <a:p>
            <a:pPr lvl="4" defTabSz="533400">
              <a:lnSpc>
                <a:spcPct val="100000"/>
              </a:lnSpc>
              <a:spcBef>
                <a:spcPts val="0"/>
              </a:spcBef>
              <a:tabLst>
                <a:tab pos="533400" algn="l"/>
              </a:tabLst>
              <a:defRPr sz="3100">
                <a:solidFill>
                  <a:srgbClr val="FFFFFF">
                    <a:alpha val="85000"/>
                  </a:srgbClr>
                </a:solidFill>
                <a:latin typeface="Menlo Regular"/>
                <a:ea typeface="Menlo Regular"/>
                <a:cs typeface="Menlo Regular"/>
                <a:sym typeface="Menlo Regular"/>
              </a:defRPr>
            </a:pPr>
          </a:p>
          <a:p>
            <a:pPr lvl="2" marL="1612900" indent="-393700" defTabSz="533400">
              <a:lnSpc>
                <a:spcPct val="100000"/>
              </a:lnSpc>
              <a:spcBef>
                <a:spcPts val="0"/>
              </a:spcBef>
              <a:buSzPct val="123000"/>
              <a:buChar char="•"/>
              <a:tabLst>
                <a:tab pos="533400" algn="l"/>
              </a:tabLst>
              <a:defRPr sz="3100">
                <a:solidFill>
                  <a:srgbClr val="FFFFFF">
                    <a:alpha val="85000"/>
                  </a:srgbClr>
                </a:solidFill>
                <a:latin typeface="Menlo Regular"/>
                <a:ea typeface="Menlo Regular"/>
                <a:cs typeface="Menlo Regular"/>
                <a:sym typeface="Menlo Regular"/>
              </a:defRPr>
            </a:pPr>
            <a:r>
              <a:t> myFunction { </a:t>
            </a:r>
            <a:r>
              <a:rPr b="1">
                <a:solidFill>
                  <a:srgbClr val="FF7AB2"/>
                </a:solidFill>
              </a:rPr>
              <a:t>return</a:t>
            </a:r>
            <a:r>
              <a:t> $0 + $1 }</a:t>
            </a:r>
          </a:p>
          <a:p>
            <a:pPr lvl="4" defTabSz="533400">
              <a:lnSpc>
                <a:spcPct val="100000"/>
              </a:lnSpc>
              <a:spcBef>
                <a:spcPts val="0"/>
              </a:spcBef>
              <a:tabLst>
                <a:tab pos="533400" algn="l"/>
              </a:tabLst>
              <a:defRPr sz="3100">
                <a:solidFill>
                  <a:srgbClr val="FFFFFF">
                    <a:alpha val="85000"/>
                  </a:srgbClr>
                </a:solidFill>
                <a:latin typeface="Menlo Regular"/>
                <a:ea typeface="Menlo Regular"/>
                <a:cs typeface="Menlo Regular"/>
                <a:sym typeface="Menlo Regular"/>
              </a:defRPr>
            </a:pPr>
          </a:p>
          <a:p>
            <a:pPr lvl="4" defTabSz="533400">
              <a:lnSpc>
                <a:spcPct val="100000"/>
              </a:lnSpc>
              <a:spcBef>
                <a:spcPts val="0"/>
              </a:spcBef>
              <a:tabLst>
                <a:tab pos="533400" algn="l"/>
              </a:tabLst>
              <a:defRPr sz="3100">
                <a:solidFill>
                  <a:srgbClr val="FFFFFF">
                    <a:alpha val="85000"/>
                  </a:srgbClr>
                </a:solidFill>
                <a:latin typeface="Menlo Regular"/>
                <a:ea typeface="Menlo Regular"/>
                <a:cs typeface="Menlo Regular"/>
                <a:sym typeface="Menlo Regular"/>
              </a:defRPr>
            </a:pPr>
          </a:p>
          <a:p>
            <a:pPr lvl="4" defTabSz="533400">
              <a:lnSpc>
                <a:spcPct val="100000"/>
              </a:lnSpc>
              <a:spcBef>
                <a:spcPts val="0"/>
              </a:spcBef>
              <a:tabLst>
                <a:tab pos="533400" algn="l"/>
              </a:tabLst>
              <a:defRPr sz="3100">
                <a:solidFill>
                  <a:srgbClr val="FFFFFF">
                    <a:alpha val="85000"/>
                  </a:srgbClr>
                </a:solidFill>
                <a:latin typeface="Menlo Regular"/>
                <a:ea typeface="Menlo Regular"/>
                <a:cs typeface="Menlo Regular"/>
                <a:sym typeface="Menlo Regular"/>
              </a:defRPr>
            </a:pPr>
          </a:p>
          <a:p>
            <a:pPr lvl="2" marL="1612900" indent="-393700" defTabSz="533400">
              <a:lnSpc>
                <a:spcPct val="100000"/>
              </a:lnSpc>
              <a:spcBef>
                <a:spcPts val="0"/>
              </a:spcBef>
              <a:buSzPct val="123000"/>
              <a:buChar char="•"/>
              <a:tabLst>
                <a:tab pos="533400" algn="l"/>
              </a:tabLst>
              <a:defRPr sz="3100">
                <a:solidFill>
                  <a:srgbClr val="FFFFFF">
                    <a:alpha val="85000"/>
                  </a:srgbClr>
                </a:solidFill>
                <a:latin typeface="Menlo Regular"/>
                <a:ea typeface="Menlo Regular"/>
                <a:cs typeface="Menlo Regular"/>
                <a:sym typeface="Menlo Regular"/>
              </a:defRPr>
            </a:pPr>
            <a:r>
              <a:t> myFunction { $0 + $1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15">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21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el" backwards="0">
                                    <p:tmAbs val="0"/>
                                  </p:iterate>
                                  <p:childTnLst>
                                    <p:set>
                                      <p:cBhvr>
                                        <p:cTn id="12" fill="hold"/>
                                        <p:tgtEl>
                                          <p:spTgt spid="21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1" fill="hold">
                                  <p:stCondLst>
                                    <p:cond delay="0"/>
                                  </p:stCondLst>
                                  <p:iterate type="el" backwards="0">
                                    <p:tmAbs val="0"/>
                                  </p:iterate>
                                  <p:childTnLst>
                                    <p:set>
                                      <p:cBhvr>
                                        <p:cTn id="16" fill="hold"/>
                                        <p:tgtEl>
                                          <p:spTgt spid="21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1" fill="hold">
                                  <p:stCondLst>
                                    <p:cond delay="0"/>
                                  </p:stCondLst>
                                  <p:iterate type="el" backwards="0">
                                    <p:tmAbs val="0"/>
                                  </p:iterate>
                                  <p:childTnLst>
                                    <p:set>
                                      <p:cBhvr>
                                        <p:cTn id="20" fill="hold"/>
                                        <p:tgtEl>
                                          <p:spTgt spid="21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0" presetID="1" grpId="1" fill="hold">
                                  <p:stCondLst>
                                    <p:cond delay="0"/>
                                  </p:stCondLst>
                                  <p:iterate type="el" backwards="0">
                                    <p:tmAbs val="0"/>
                                  </p:iterate>
                                  <p:childTnLst>
                                    <p:set>
                                      <p:cBhvr>
                                        <p:cTn id="24" fill="hold"/>
                                        <p:tgtEl>
                                          <p:spTgt spid="21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0" presetID="1" grpId="1" fill="hold">
                                  <p:stCondLst>
                                    <p:cond delay="0"/>
                                  </p:stCondLst>
                                  <p:iterate type="el" backwards="0">
                                    <p:tmAbs val="0"/>
                                  </p:iterate>
                                  <p:childTnLst>
                                    <p:set>
                                      <p:cBhvr>
                                        <p:cTn id="28" fill="hold"/>
                                        <p:tgtEl>
                                          <p:spTgt spid="215">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0" presetID="1" grpId="1" fill="hold">
                                  <p:stCondLst>
                                    <p:cond delay="0"/>
                                  </p:stCondLst>
                                  <p:iterate type="el" backwards="0">
                                    <p:tmAbs val="0"/>
                                  </p:iterate>
                                  <p:childTnLst>
                                    <p:set>
                                      <p:cBhvr>
                                        <p:cTn id="32" fill="hold"/>
                                        <p:tgtEl>
                                          <p:spTgt spid="215">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0" presetID="1" grpId="1" fill="hold">
                                  <p:stCondLst>
                                    <p:cond delay="0"/>
                                  </p:stCondLst>
                                  <p:iterate type="el" backwards="0">
                                    <p:tmAbs val="0"/>
                                  </p:iterate>
                                  <p:childTnLst>
                                    <p:set>
                                      <p:cBhvr>
                                        <p:cTn id="36" fill="hold"/>
                                        <p:tgtEl>
                                          <p:spTgt spid="215">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Class="entr" nodeType="clickEffect" presetSubtype="0" presetID="1" grpId="1" fill="hold">
                                  <p:stCondLst>
                                    <p:cond delay="0"/>
                                  </p:stCondLst>
                                  <p:iterate type="el" backwards="0">
                                    <p:tmAbs val="0"/>
                                  </p:iterate>
                                  <p:childTnLst>
                                    <p:set>
                                      <p:cBhvr>
                                        <p:cTn id="40" fill="hold"/>
                                        <p:tgtEl>
                                          <p:spTgt spid="215">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Class="entr" nodeType="clickEffect" presetSubtype="0" presetID="1" grpId="1" fill="hold">
                                  <p:stCondLst>
                                    <p:cond delay="0"/>
                                  </p:stCondLst>
                                  <p:iterate type="el" backwards="0">
                                    <p:tmAbs val="0"/>
                                  </p:iterate>
                                  <p:childTnLst>
                                    <p:set>
                                      <p:cBhvr>
                                        <p:cTn id="44" fill="hold"/>
                                        <p:tgtEl>
                                          <p:spTgt spid="215">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0" presetID="1" grpId="1" fill="hold">
                                  <p:stCondLst>
                                    <p:cond delay="0"/>
                                  </p:stCondLst>
                                  <p:iterate type="el" backwards="0">
                                    <p:tmAbs val="0"/>
                                  </p:iterate>
                                  <p:childTnLst>
                                    <p:set>
                                      <p:cBhvr>
                                        <p:cTn id="48" fill="hold"/>
                                        <p:tgtEl>
                                          <p:spTgt spid="215">
                                            <p:txEl>
                                              <p:pRg st="10" end="1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Class="entr" nodeType="clickEffect" presetSubtype="0" presetID="1" grpId="1" fill="hold">
                                  <p:stCondLst>
                                    <p:cond delay="0"/>
                                  </p:stCondLst>
                                  <p:iterate type="el" backwards="0">
                                    <p:tmAbs val="0"/>
                                  </p:iterate>
                                  <p:childTnLst>
                                    <p:set>
                                      <p:cBhvr>
                                        <p:cTn id="52" fill="hold"/>
                                        <p:tgtEl>
                                          <p:spTgt spid="215">
                                            <p:txEl>
                                              <p:pRg st="11" end="1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Class="entr" nodeType="clickEffect" presetSubtype="0" presetID="1" grpId="1" fill="hold">
                                  <p:stCondLst>
                                    <p:cond delay="0"/>
                                  </p:stCondLst>
                                  <p:iterate type="el" backwards="0">
                                    <p:tmAbs val="0"/>
                                  </p:iterate>
                                  <p:childTnLst>
                                    <p:set>
                                      <p:cBhvr>
                                        <p:cTn id="56" fill="hold"/>
                                        <p:tgtEl>
                                          <p:spTgt spid="215">
                                            <p:txEl>
                                              <p:pRg st="12" end="1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Class="entr" nodeType="clickEffect" presetSubtype="0" presetID="1" grpId="1" fill="hold">
                                  <p:stCondLst>
                                    <p:cond delay="0"/>
                                  </p:stCondLst>
                                  <p:iterate type="el" backwards="0">
                                    <p:tmAbs val="0"/>
                                  </p:iterate>
                                  <p:childTnLst>
                                    <p:set>
                                      <p:cBhvr>
                                        <p:cTn id="60" fill="hold"/>
                                        <p:tgtEl>
                                          <p:spTgt spid="215">
                                            <p:txEl>
                                              <p:pRg st="13" end="13"/>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Class="entr" nodeType="clickEffect" presetSubtype="0" presetID="1" grpId="1" fill="hold">
                                  <p:stCondLst>
                                    <p:cond delay="0"/>
                                  </p:stCondLst>
                                  <p:iterate type="el" backwards="0">
                                    <p:tmAbs val="0"/>
                                  </p:iterate>
                                  <p:childTnLst>
                                    <p:set>
                                      <p:cBhvr>
                                        <p:cTn id="64" fill="hold"/>
                                        <p:tgtEl>
                                          <p:spTgt spid="215">
                                            <p:txEl>
                                              <p:pRg st="14" end="14"/>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Class="entr" nodeType="clickEffect" presetSubtype="0" presetID="1" grpId="1" fill="hold">
                                  <p:stCondLst>
                                    <p:cond delay="0"/>
                                  </p:stCondLst>
                                  <p:iterate type="el" backwards="0">
                                    <p:tmAbs val="0"/>
                                  </p:iterate>
                                  <p:childTnLst>
                                    <p:set>
                                      <p:cBhvr>
                                        <p:cTn id="68" fill="hold"/>
                                        <p:tgtEl>
                                          <p:spTgt spid="215">
                                            <p:txEl>
                                              <p:pRg st="15" end="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215" grpId="1"/>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Trailing Closure"/>
          <p:cNvSpPr txBox="1"/>
          <p:nvPr>
            <p:ph type="title"/>
          </p:nvPr>
        </p:nvSpPr>
        <p:spPr>
          <a:prstGeom prst="rect">
            <a:avLst/>
          </a:prstGeom>
        </p:spPr>
        <p:txBody>
          <a:bodyPr/>
          <a:lstStyle>
            <a:lvl1pPr defTabSz="1828754">
              <a:defRPr spc="-174" sz="8700"/>
            </a:lvl1pPr>
          </a:lstStyle>
          <a:p>
            <a:pPr/>
            <a:r>
              <a:t>Trailing Closure</a:t>
            </a:r>
          </a:p>
        </p:txBody>
      </p:sp>
      <p:sp>
        <p:nvSpPr>
          <p:cNvPr id="218" name="In trailing closure, if a function accepts a closure as its last parameter,…"/>
          <p:cNvSpPr txBox="1"/>
          <p:nvPr>
            <p:ph type="body" idx="1"/>
          </p:nvPr>
        </p:nvSpPr>
        <p:spPr>
          <a:xfrm>
            <a:off x="922138" y="2812719"/>
            <a:ext cx="21971001" cy="9454829"/>
          </a:xfrm>
          <a:prstGeom prst="rect">
            <a:avLst/>
          </a:prstGeom>
        </p:spPr>
        <p:txBody>
          <a:bodyPr/>
          <a:lstStyle/>
          <a:p>
            <a:pPr/>
            <a:r>
              <a:t>In trailing closure, if a function accepts a closure as its last parameter,</a:t>
            </a:r>
          </a:p>
          <a:p>
            <a:pPr marL="0" indent="0">
              <a:buSzTx/>
              <a:buNone/>
              <a:defRPr sz="5000"/>
            </a:pPr>
          </a:p>
          <a:p>
            <a:pPr/>
            <a:r>
              <a:t>We can call the function by passing closure as a function body without mentioning the name of the parameter. For example,</a:t>
            </a:r>
          </a:p>
        </p:txBody>
      </p:sp>
      <p:pic>
        <p:nvPicPr>
          <p:cNvPr id="219" name="pasted-movie.png" descr="pasted-movie.png"/>
          <p:cNvPicPr>
            <a:picLocks noChangeAspect="1"/>
          </p:cNvPicPr>
          <p:nvPr/>
        </p:nvPicPr>
        <p:blipFill>
          <a:blip r:embed="rId2">
            <a:extLst/>
          </a:blip>
          <a:stretch>
            <a:fillRect/>
          </a:stretch>
        </p:blipFill>
        <p:spPr>
          <a:xfrm>
            <a:off x="922138" y="2812719"/>
            <a:ext cx="13563601" cy="3124201"/>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Trailing Closure Example"/>
          <p:cNvSpPr txBox="1"/>
          <p:nvPr>
            <p:ph type="title"/>
          </p:nvPr>
        </p:nvSpPr>
        <p:spPr>
          <a:xfrm>
            <a:off x="1206500" y="927100"/>
            <a:ext cx="21971000" cy="1433163"/>
          </a:xfrm>
          <a:prstGeom prst="rect">
            <a:avLst/>
          </a:prstGeom>
        </p:spPr>
        <p:txBody>
          <a:bodyPr/>
          <a:lstStyle>
            <a:lvl1pPr defTabSz="1828754">
              <a:defRPr spc="-174" sz="8700"/>
            </a:lvl1pPr>
          </a:lstStyle>
          <a:p>
            <a:pPr/>
            <a:r>
              <a:t>Trailing Closure Example</a:t>
            </a:r>
          </a:p>
        </p:txBody>
      </p:sp>
      <p:sp>
        <p:nvSpPr>
          <p:cNvPr id="222" name="Output:…"/>
          <p:cNvSpPr txBox="1"/>
          <p:nvPr>
            <p:ph type="body" idx="1"/>
          </p:nvPr>
        </p:nvSpPr>
        <p:spPr>
          <a:xfrm>
            <a:off x="888561" y="2611333"/>
            <a:ext cx="21971001" cy="9454829"/>
          </a:xfrm>
          <a:prstGeom prst="rect">
            <a:avLst/>
          </a:prstGeom>
        </p:spPr>
        <p:txBody>
          <a:bodyPr/>
          <a:lstStyle/>
          <a:p>
            <a:pPr marL="0" indent="0">
              <a:buSzTx/>
              <a:buNone/>
            </a:pPr>
            <a:r>
              <a:t>                   </a:t>
            </a:r>
          </a:p>
          <a:p>
            <a:pPr/>
            <a:r>
              <a:t>Output:</a:t>
            </a:r>
          </a:p>
          <a:p>
            <a:pPr marL="0" indent="0">
              <a:buSzTx/>
              <a:buNone/>
            </a:pPr>
          </a:p>
          <a:p>
            <a:pPr lvl="7" marL="0" indent="3200400" defTabSz="457200">
              <a:lnSpc>
                <a:spcPct val="100000"/>
              </a:lnSpc>
              <a:spcBef>
                <a:spcPts val="0"/>
              </a:spcBef>
              <a:buSzTx/>
              <a:buNone/>
              <a:defRPr sz="3900">
                <a:solidFill>
                  <a:srgbClr val="D5D5D5"/>
                </a:solidFill>
                <a:latin typeface="Menlo Regular"/>
                <a:ea typeface="Menlo Regular"/>
                <a:cs typeface="Menlo Regular"/>
                <a:sym typeface="Menlo Regular"/>
              </a:defRPr>
            </a:pPr>
            <a:r>
              <a:t>Let's go out for lunch</a:t>
            </a:r>
          </a:p>
          <a:p>
            <a:pPr lvl="7" marL="0" indent="3200400" defTabSz="457200">
              <a:lnSpc>
                <a:spcPct val="100000"/>
              </a:lnSpc>
              <a:spcBef>
                <a:spcPts val="0"/>
              </a:spcBef>
              <a:buSzTx/>
              <a:buNone/>
              <a:defRPr sz="3900">
                <a:solidFill>
                  <a:srgbClr val="D5D5D5"/>
                </a:solidFill>
                <a:latin typeface="Menlo Regular"/>
                <a:ea typeface="Menlo Regular"/>
                <a:cs typeface="Menlo Regular"/>
                <a:sym typeface="Menlo Regular"/>
              </a:defRPr>
            </a:pPr>
            <a:r>
              <a:t>Alfredo's Pizza: 2 miles away</a:t>
            </a:r>
          </a:p>
        </p:txBody>
      </p:sp>
      <p:pic>
        <p:nvPicPr>
          <p:cNvPr id="223" name="pasted-movie.png" descr="pasted-movie.png"/>
          <p:cNvPicPr>
            <a:picLocks noChangeAspect="1"/>
          </p:cNvPicPr>
          <p:nvPr/>
        </p:nvPicPr>
        <p:blipFill>
          <a:blip r:embed="rId3">
            <a:extLst/>
          </a:blip>
          <a:stretch>
            <a:fillRect/>
          </a:stretch>
        </p:blipFill>
        <p:spPr>
          <a:xfrm>
            <a:off x="888561" y="2611333"/>
            <a:ext cx="11872008" cy="5573421"/>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Autoclosure"/>
          <p:cNvSpPr txBox="1"/>
          <p:nvPr>
            <p:ph type="title"/>
          </p:nvPr>
        </p:nvSpPr>
        <p:spPr>
          <a:xfrm>
            <a:off x="1206500" y="927100"/>
            <a:ext cx="21971000" cy="1433163"/>
          </a:xfrm>
          <a:prstGeom prst="rect">
            <a:avLst/>
          </a:prstGeom>
        </p:spPr>
        <p:txBody>
          <a:bodyPr/>
          <a:lstStyle>
            <a:lvl1pPr defTabSz="1828754">
              <a:defRPr spc="-174" sz="8700"/>
            </a:lvl1pPr>
          </a:lstStyle>
          <a:p>
            <a:pPr/>
            <a:r>
              <a:t>Autoclosure</a:t>
            </a:r>
          </a:p>
        </p:txBody>
      </p:sp>
      <p:sp>
        <p:nvSpPr>
          <p:cNvPr id="228" name="While calling a function, we can also pass the closure without using the braces {}.For example,…"/>
          <p:cNvSpPr txBox="1"/>
          <p:nvPr>
            <p:ph type="body" idx="1"/>
          </p:nvPr>
        </p:nvSpPr>
        <p:spPr>
          <a:xfrm>
            <a:off x="888561" y="2611333"/>
            <a:ext cx="21971001" cy="9454829"/>
          </a:xfrm>
          <a:prstGeom prst="rect">
            <a:avLst/>
          </a:prstGeom>
        </p:spPr>
        <p:txBody>
          <a:bodyPr/>
          <a:lstStyle/>
          <a:p>
            <a:pPr marL="304800" indent="-304800" defTabSz="1219169">
              <a:spcBef>
                <a:spcPts val="2200"/>
              </a:spcBef>
              <a:defRPr sz="2400"/>
            </a:pPr>
            <a:r>
              <a:t>While calling a function, we can also pass the closure without using the braces </a:t>
            </a:r>
            <a:r>
              <a:rPr sz="2000">
                <a:latin typeface="Menlo Regular"/>
                <a:ea typeface="Menlo Regular"/>
                <a:cs typeface="Menlo Regular"/>
                <a:sym typeface="Menlo Regular"/>
              </a:rPr>
              <a:t>{}</a:t>
            </a:r>
            <a:r>
              <a:rPr sz="2000"/>
              <a:t>.</a:t>
            </a:r>
            <a:r>
              <a:t>For example,</a:t>
            </a:r>
          </a:p>
          <a:p>
            <a:pPr lvl="8" marL="0" indent="1828800" defTabSz="1219169">
              <a:spcBef>
                <a:spcPts val="2200"/>
              </a:spcBef>
              <a:buSzTx/>
              <a:buNone/>
              <a:defRPr sz="2400"/>
            </a:pPr>
          </a:p>
          <a:p>
            <a:pPr marL="304800" indent="-304800" defTabSz="1219169">
              <a:spcBef>
                <a:spcPts val="2200"/>
              </a:spcBef>
              <a:defRPr sz="2400"/>
            </a:pPr>
            <a:r>
              <a:t>To pass the closure argument without using braces, we must use the </a:t>
            </a:r>
            <a:r>
              <a:rPr sz="2000">
                <a:solidFill>
                  <a:schemeClr val="accent4">
                    <a:hueOff val="475731"/>
                    <a:satOff val="-4338"/>
                    <a:lumOff val="10182"/>
                  </a:schemeClr>
                </a:solidFill>
                <a:latin typeface="Menlo Regular"/>
                <a:ea typeface="Menlo Regular"/>
                <a:cs typeface="Menlo Regular"/>
                <a:sym typeface="Menlo Regular"/>
              </a:rPr>
              <a:t>@autoclosure</a:t>
            </a:r>
            <a:r>
              <a:t> keyword in function definition. For example, </a:t>
            </a:r>
          </a:p>
          <a:p>
            <a:pPr lvl="8" marL="0" indent="1828800" defTabSz="1219169">
              <a:spcBef>
                <a:spcPts val="2200"/>
              </a:spcBef>
              <a:buSzTx/>
              <a:buNone/>
              <a:defRPr sz="2400"/>
            </a:pPr>
          </a:p>
          <a:p>
            <a:pPr marL="304800" indent="-304800" defTabSz="1219169">
              <a:spcBef>
                <a:spcPts val="2200"/>
              </a:spcBef>
              <a:defRPr sz="2400"/>
            </a:pPr>
            <a:r>
              <a:t>An </a:t>
            </a:r>
            <a:r>
              <a:rPr>
                <a:solidFill>
                  <a:schemeClr val="accent4">
                    <a:hueOff val="475731"/>
                    <a:satOff val="-4338"/>
                    <a:lumOff val="10182"/>
                  </a:schemeClr>
                </a:solidFill>
              </a:rPr>
              <a:t>@autoclosure</a:t>
            </a:r>
            <a:r>
              <a:t> in Swift is a special attribute that allows you to pass an expression as an argument to a function, which is automatically wrapped in a closure. </a:t>
            </a:r>
          </a:p>
        </p:txBody>
      </p:sp>
      <p:pic>
        <p:nvPicPr>
          <p:cNvPr id="229" name="pasted-movie.png" descr="pasted-movie.png"/>
          <p:cNvPicPr>
            <a:picLocks noChangeAspect="1"/>
          </p:cNvPicPr>
          <p:nvPr/>
        </p:nvPicPr>
        <p:blipFill>
          <a:blip r:embed="rId3">
            <a:extLst/>
          </a:blip>
          <a:stretch>
            <a:fillRect/>
          </a:stretch>
        </p:blipFill>
        <p:spPr>
          <a:xfrm>
            <a:off x="888561" y="2611333"/>
            <a:ext cx="8813801" cy="4191001"/>
          </a:xfrm>
          <a:prstGeom prst="rect">
            <a:avLst/>
          </a:prstGeom>
          <a:ln w="12700">
            <a:miter lim="400000"/>
          </a:ln>
        </p:spPr>
      </p:pic>
      <p:pic>
        <p:nvPicPr>
          <p:cNvPr id="230" name="pasted-movie.png" descr="pasted-movie.png"/>
          <p:cNvPicPr>
            <a:picLocks noChangeAspect="1"/>
          </p:cNvPicPr>
          <p:nvPr/>
        </p:nvPicPr>
        <p:blipFill>
          <a:blip r:embed="rId4">
            <a:extLst/>
          </a:blip>
          <a:stretch>
            <a:fillRect/>
          </a:stretch>
        </p:blipFill>
        <p:spPr>
          <a:xfrm>
            <a:off x="888561" y="2611333"/>
            <a:ext cx="10337801" cy="2133601"/>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Autoclosure: Example"/>
          <p:cNvSpPr txBox="1"/>
          <p:nvPr>
            <p:ph type="title"/>
          </p:nvPr>
        </p:nvSpPr>
        <p:spPr>
          <a:xfrm>
            <a:off x="1206500" y="927100"/>
            <a:ext cx="21971000" cy="1433163"/>
          </a:xfrm>
          <a:prstGeom prst="rect">
            <a:avLst/>
          </a:prstGeom>
        </p:spPr>
        <p:txBody>
          <a:bodyPr/>
          <a:lstStyle>
            <a:lvl1pPr defTabSz="1828754">
              <a:defRPr spc="-174" sz="8700"/>
            </a:lvl1pPr>
          </a:lstStyle>
          <a:p>
            <a:pPr/>
            <a:r>
              <a:t>Autoclosure: Example</a:t>
            </a:r>
          </a:p>
        </p:txBody>
      </p:sp>
      <p:sp>
        <p:nvSpPr>
          <p:cNvPr id="235" name="Slide bullet text"/>
          <p:cNvSpPr txBox="1"/>
          <p:nvPr>
            <p:ph type="body" idx="1"/>
          </p:nvPr>
        </p:nvSpPr>
        <p:spPr>
          <a:xfrm>
            <a:off x="1206500" y="2759264"/>
            <a:ext cx="21971000" cy="9454829"/>
          </a:xfrm>
          <a:prstGeom prst="rect">
            <a:avLst/>
          </a:prstGeom>
        </p:spPr>
        <p:txBody>
          <a:bodyPr/>
          <a:lstStyle/>
          <a:p>
            <a:pPr/>
          </a:p>
        </p:txBody>
      </p:sp>
      <p:pic>
        <p:nvPicPr>
          <p:cNvPr id="236" name="pasted-movie.png" descr="pasted-movie.png"/>
          <p:cNvPicPr>
            <a:picLocks noChangeAspect="1"/>
          </p:cNvPicPr>
          <p:nvPr/>
        </p:nvPicPr>
        <p:blipFill>
          <a:blip r:embed="rId3">
            <a:extLst/>
          </a:blip>
          <a:stretch>
            <a:fillRect/>
          </a:stretch>
        </p:blipFill>
        <p:spPr>
          <a:xfrm>
            <a:off x="1206500" y="2759264"/>
            <a:ext cx="13620025" cy="6403446"/>
          </a:xfrm>
          <a:prstGeom prst="rect">
            <a:avLst/>
          </a:prstGeom>
          <a:ln w="12700">
            <a:miter lim="400000"/>
          </a:ln>
        </p:spPr>
      </p:pic>
      <p:sp>
        <p:nvSpPr>
          <p:cNvPr id="237" name="//Output: Hello World!"/>
          <p:cNvSpPr txBox="1"/>
          <p:nvPr/>
        </p:nvSpPr>
        <p:spPr>
          <a:xfrm>
            <a:off x="2379759" y="10152065"/>
            <a:ext cx="6040832"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//Output: </a:t>
            </a:r>
            <a:r>
              <a:rPr>
                <a:solidFill>
                  <a:schemeClr val="accent4">
                    <a:hueOff val="475731"/>
                    <a:satOff val="-4338"/>
                    <a:lumOff val="10182"/>
                  </a:schemeClr>
                </a:solidFill>
              </a:rPr>
              <a:t>Hello World!</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0_BasicBlack">
  <a:themeElements>
    <a:clrScheme name="20_BasicBlack">
      <a:dk1>
        <a:srgbClr val="000000"/>
      </a:dk1>
      <a:lt1>
        <a:srgbClr val="FFFFFF"/>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0_BasicBlack">
      <a:majorFont>
        <a:latin typeface="Helvetica Neue"/>
        <a:ea typeface="Helvetica Neue"/>
        <a:cs typeface="Helvetica Neue"/>
      </a:majorFont>
      <a:minorFont>
        <a:latin typeface="Helvetica Neue"/>
        <a:ea typeface="Helvetica Neue"/>
        <a:cs typeface="Helvetica Neue"/>
      </a:minorFont>
    </a:fontScheme>
    <a:fmtScheme name="20_Basic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0_BasicBlack">
  <a:themeElements>
    <a:clrScheme name="20_BasicBlack">
      <a:dk1>
        <a:srgbClr val="000000"/>
      </a:dk1>
      <a:lt1>
        <a:srgbClr val="FFFFFF"/>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0_BasicBlack">
      <a:majorFont>
        <a:latin typeface="Helvetica Neue"/>
        <a:ea typeface="Helvetica Neue"/>
        <a:cs typeface="Helvetica Neue"/>
      </a:majorFont>
      <a:minorFont>
        <a:latin typeface="Helvetica Neue"/>
        <a:ea typeface="Helvetica Neue"/>
        <a:cs typeface="Helvetica Neue"/>
      </a:minorFont>
    </a:fontScheme>
    <a:fmtScheme name="20_Basic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