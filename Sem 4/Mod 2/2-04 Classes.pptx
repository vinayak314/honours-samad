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1pPr>
    <a:lvl2pPr marL="0" marR="0" indent="3429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2pPr>
    <a:lvl3pPr marL="0" marR="0" indent="6858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3pPr>
    <a:lvl4pPr marL="0" marR="0" indent="10287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4pPr>
    <a:lvl5pPr marL="0" marR="0" indent="13716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5pPr>
    <a:lvl6pPr marL="0" marR="0" indent="17145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6pPr>
    <a:lvl7pPr marL="0" marR="0" indent="20574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7pPr>
    <a:lvl8pPr marL="0" marR="0" indent="24003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8pPr>
    <a:lvl9pPr marL="0" marR="0" indent="27432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CF6167B6-03F8-446A-B3CB-FBADF5D9201C}" styleName="">
    <a:tblBg/>
    <a:wholeTbl>
      <a:tcTxStyle b="off" i="off">
        <a:fontRef idx="minor">
          <a:srgbClr val="FFFFFF"/>
        </a:fontRef>
        <a:srgbClr val="FFFFFF"/>
      </a:tcTxStyle>
      <a:tcStyle>
        <a:tcBdr>
          <a:left>
            <a:ln w="12700" cap="flat">
              <a:solidFill>
                <a:srgbClr val="454D52"/>
              </a:solidFill>
              <a:prstDash val="solid"/>
              <a:miter lim="400000"/>
            </a:ln>
          </a:left>
          <a:right>
            <a:ln w="12700" cap="flat">
              <a:solidFill>
                <a:srgbClr val="454D52"/>
              </a:solidFill>
              <a:prstDash val="solid"/>
              <a:miter lim="400000"/>
            </a:ln>
          </a:right>
          <a:top>
            <a:ln w="12700" cap="flat">
              <a:solidFill>
                <a:srgbClr val="6F7980"/>
              </a:solidFill>
              <a:prstDash val="solid"/>
              <a:miter lim="400000"/>
            </a:ln>
          </a:top>
          <a:bottom>
            <a:ln w="12700" cap="flat">
              <a:solidFill>
                <a:srgbClr val="6F7980"/>
              </a:solidFill>
              <a:prstDash val="solid"/>
              <a:miter lim="400000"/>
            </a:ln>
          </a:bottom>
          <a:insideH>
            <a:ln w="12700" cap="flat">
              <a:solidFill>
                <a:srgbClr val="6F7980"/>
              </a:solidFill>
              <a:prstDash val="solid"/>
              <a:miter lim="400000"/>
            </a:ln>
          </a:insideH>
          <a:insideV>
            <a:ln w="12700" cap="flat">
              <a:solidFill>
                <a:srgbClr val="454D52"/>
              </a:solidFill>
              <a:prstDash val="solid"/>
              <a:miter lim="400000"/>
            </a:ln>
          </a:insideV>
        </a:tcBdr>
        <a:fill>
          <a:solidFill>
            <a:srgbClr val="D1DADE">
              <a:alpha val="25000"/>
            </a:srgbClr>
          </a:solidFill>
        </a:fill>
      </a:tcStyle>
    </a:wholeTbl>
    <a:band2H>
      <a:tcTxStyle b="def" i="def"/>
      <a:tcStyle>
        <a:tcBdr/>
        <a:fill>
          <a:solidFill>
            <a:srgbClr val="EFF1F3"/>
          </a:solidFill>
        </a:fill>
      </a:tcStyle>
    </a:band2H>
    <a:firstCol>
      <a:tcTxStyle b="off" i="off">
        <a:fontRef idx="minor">
          <a:srgbClr val="FFFFFF"/>
        </a:fontRef>
        <a:srgbClr val="FFFFFF"/>
      </a:tcTxStyle>
      <a:tcStyle>
        <a:tcBdr>
          <a:left>
            <a:ln w="12700" cap="flat">
              <a:noFill/>
              <a:miter lim="400000"/>
            </a:ln>
          </a:left>
          <a:right>
            <a:ln w="25400" cap="flat">
              <a:solidFill>
                <a:srgbClr val="6F7980"/>
              </a:solidFill>
              <a:prstDash val="solid"/>
              <a:miter lim="400000"/>
            </a:ln>
          </a:right>
          <a:top>
            <a:ln w="12700" cap="flat">
              <a:solidFill>
                <a:srgbClr val="6F7980"/>
              </a:solidFill>
              <a:prstDash val="solid"/>
              <a:miter lim="400000"/>
            </a:ln>
          </a:top>
          <a:bottom>
            <a:ln w="12700" cap="flat">
              <a:solidFill>
                <a:srgbClr val="6F7980"/>
              </a:solidFill>
              <a:prstDash val="solid"/>
              <a:miter lim="400000"/>
            </a:ln>
          </a:bottom>
          <a:insideH>
            <a:ln w="12700" cap="flat">
              <a:solidFill>
                <a:srgbClr val="6F7980"/>
              </a:solidFill>
              <a:prstDash val="solid"/>
              <a:miter lim="400000"/>
            </a:ln>
          </a:insideH>
          <a:insideV>
            <a:ln w="12700" cap="flat">
              <a:solidFill>
                <a:srgbClr val="A3BCCC"/>
              </a:solidFill>
              <a:prstDash val="solid"/>
              <a:miter lim="400000"/>
            </a:ln>
          </a:insideV>
        </a:tcBdr>
        <a:fill>
          <a:noFill/>
        </a:fill>
      </a:tcStyle>
    </a:firstCol>
    <a:lastRow>
      <a:tcTxStyle b="off" i="off">
        <a:fontRef idx="minor">
          <a:srgbClr val="FFFFFF"/>
        </a:fontRef>
        <a:srgbClr val="FFFFFF"/>
      </a:tcTxStyle>
      <a:tcStyle>
        <a:tcBdr>
          <a:left>
            <a:ln w="12700" cap="flat">
              <a:solidFill>
                <a:srgbClr val="A3BCCC"/>
              </a:solidFill>
              <a:prstDash val="solid"/>
              <a:miter lim="400000"/>
            </a:ln>
          </a:left>
          <a:right>
            <a:ln w="12700" cap="flat">
              <a:solidFill>
                <a:srgbClr val="A3BCCC"/>
              </a:solidFill>
              <a:prstDash val="solid"/>
              <a:miter lim="400000"/>
            </a:ln>
          </a:right>
          <a:top>
            <a:ln w="25400" cap="flat">
              <a:solidFill>
                <a:srgbClr val="6F7980"/>
              </a:solidFill>
              <a:prstDash val="solid"/>
              <a:miter lim="400000"/>
            </a:ln>
          </a:top>
          <a:bottom>
            <a:ln w="12700" cap="flat">
              <a:noFill/>
              <a:miter lim="400000"/>
            </a:ln>
          </a:bottom>
          <a:insideH>
            <a:ln w="12700" cap="flat">
              <a:solidFill>
                <a:srgbClr val="A3BCCC"/>
              </a:solidFill>
              <a:prstDash val="solid"/>
              <a:miter lim="400000"/>
            </a:ln>
          </a:insideH>
          <a:insideV>
            <a:ln w="12700" cap="flat">
              <a:solidFill>
                <a:srgbClr val="A3BCCC"/>
              </a:solidFill>
              <a:prstDash val="solid"/>
              <a:miter lim="400000"/>
            </a:ln>
          </a:insideV>
        </a:tcBdr>
        <a:fill>
          <a:noFill/>
        </a:fill>
      </a:tcStyle>
    </a:lastRow>
    <a:firstRow>
      <a:tcTxStyle b="off" i="off">
        <a:fontRef idx="minor">
          <a:srgbClr val="FFFFFF"/>
        </a:fontRef>
        <a:srgbClr val="FFFFFF"/>
      </a:tcTxStyle>
      <a:tcStyle>
        <a:tcBdr>
          <a:left>
            <a:ln w="12700" cap="flat">
              <a:solidFill>
                <a:srgbClr val="6F7980"/>
              </a:solidFill>
              <a:prstDash val="solid"/>
              <a:miter lim="400000"/>
            </a:ln>
          </a:left>
          <a:right>
            <a:ln w="12700" cap="flat">
              <a:solidFill>
                <a:srgbClr val="6F7980"/>
              </a:solidFill>
              <a:prstDash val="solid"/>
              <a:miter lim="400000"/>
            </a:ln>
          </a:right>
          <a:top>
            <a:ln w="12700" cap="flat">
              <a:noFill/>
              <a:miter lim="400000"/>
            </a:ln>
          </a:top>
          <a:bottom>
            <a:ln w="25400" cap="flat">
              <a:solidFill>
                <a:srgbClr val="6F7980"/>
              </a:solidFill>
              <a:prstDash val="solid"/>
              <a:miter lim="400000"/>
            </a:ln>
          </a:bottom>
          <a:insideH>
            <a:ln w="12700" cap="flat">
              <a:solidFill>
                <a:srgbClr val="A3BCCC"/>
              </a:solidFill>
              <a:prstDash val="solid"/>
              <a:miter lim="400000"/>
            </a:ln>
          </a:insideH>
          <a:insideV>
            <a:ln w="12700" cap="flat">
              <a:solidFill>
                <a:srgbClr val="6F798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64" name="Shape 64"/>
          <p:cNvSpPr/>
          <p:nvPr>
            <p:ph type="sldImg"/>
          </p:nvPr>
        </p:nvSpPr>
        <p:spPr>
          <a:xfrm>
            <a:off x="1143000" y="685800"/>
            <a:ext cx="4572000" cy="3429000"/>
          </a:xfrm>
          <a:prstGeom prst="rect">
            <a:avLst/>
          </a:prstGeom>
        </p:spPr>
        <p:txBody>
          <a:bodyPr/>
          <a:lstStyle/>
          <a:p>
            <a:pPr/>
          </a:p>
        </p:txBody>
      </p:sp>
      <p:sp>
        <p:nvSpPr>
          <p:cNvPr id="65" name="Shape 6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spcBef>
        <a:spcPts val="1200"/>
      </a:spcBef>
      <a:defRPr sz="3000">
        <a:latin typeface="+mn-lt"/>
        <a:ea typeface="+mn-ea"/>
        <a:cs typeface="+mn-cs"/>
        <a:sym typeface="Helvetica Neue"/>
      </a:defRPr>
    </a:lvl1pPr>
    <a:lvl2pPr indent="228600" defTabSz="457200" latinLnBrk="0">
      <a:spcBef>
        <a:spcPts val="1200"/>
      </a:spcBef>
      <a:defRPr sz="3000">
        <a:latin typeface="+mn-lt"/>
        <a:ea typeface="+mn-ea"/>
        <a:cs typeface="+mn-cs"/>
        <a:sym typeface="Helvetica Neue"/>
      </a:defRPr>
    </a:lvl2pPr>
    <a:lvl3pPr indent="457200" defTabSz="457200" latinLnBrk="0">
      <a:spcBef>
        <a:spcPts val="1200"/>
      </a:spcBef>
      <a:defRPr sz="3000">
        <a:latin typeface="+mn-lt"/>
        <a:ea typeface="+mn-ea"/>
        <a:cs typeface="+mn-cs"/>
        <a:sym typeface="Helvetica Neue"/>
      </a:defRPr>
    </a:lvl3pPr>
    <a:lvl4pPr indent="685800" defTabSz="457200" latinLnBrk="0">
      <a:spcBef>
        <a:spcPts val="1200"/>
      </a:spcBef>
      <a:defRPr sz="3000">
        <a:latin typeface="+mn-lt"/>
        <a:ea typeface="+mn-ea"/>
        <a:cs typeface="+mn-cs"/>
        <a:sym typeface="Helvetica Neue"/>
      </a:defRPr>
    </a:lvl4pPr>
    <a:lvl5pPr indent="914400" defTabSz="457200" latinLnBrk="0">
      <a:spcBef>
        <a:spcPts val="1200"/>
      </a:spcBef>
      <a:defRPr sz="3000">
        <a:latin typeface="+mn-lt"/>
        <a:ea typeface="+mn-ea"/>
        <a:cs typeface="+mn-cs"/>
        <a:sym typeface="Helvetica Neue"/>
      </a:defRPr>
    </a:lvl5pPr>
    <a:lvl6pPr indent="1143000" defTabSz="457200" latinLnBrk="0">
      <a:spcBef>
        <a:spcPts val="1200"/>
      </a:spcBef>
      <a:defRPr sz="3000">
        <a:latin typeface="+mn-lt"/>
        <a:ea typeface="+mn-ea"/>
        <a:cs typeface="+mn-cs"/>
        <a:sym typeface="Helvetica Neue"/>
      </a:defRPr>
    </a:lvl6pPr>
    <a:lvl7pPr indent="1371600" defTabSz="457200" latinLnBrk="0">
      <a:spcBef>
        <a:spcPts val="1200"/>
      </a:spcBef>
      <a:defRPr sz="3000">
        <a:latin typeface="+mn-lt"/>
        <a:ea typeface="+mn-ea"/>
        <a:cs typeface="+mn-cs"/>
        <a:sym typeface="Helvetica Neue"/>
      </a:defRPr>
    </a:lvl7pPr>
    <a:lvl8pPr indent="1600200" defTabSz="457200" latinLnBrk="0">
      <a:spcBef>
        <a:spcPts val="1200"/>
      </a:spcBef>
      <a:defRPr sz="3000">
        <a:latin typeface="+mn-lt"/>
        <a:ea typeface="+mn-ea"/>
        <a:cs typeface="+mn-cs"/>
        <a:sym typeface="Helvetica Neue"/>
      </a:defRPr>
    </a:lvl8pPr>
    <a:lvl9pPr indent="1828800" defTabSz="457200" latinLnBrk="0">
      <a:spcBef>
        <a:spcPts val="1200"/>
      </a:spcBef>
      <a:defRPr sz="30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 Id="rId3" Type="http://schemas.openxmlformats.org/officeDocument/2006/relationships/hyperlink" Target="https://creativecommons.org/licenses/by-nc-sa/4.0/legalcod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Note</a:t>
            </a:r>
          </a:p>
          <a:p>
            <a:pPr marL="198437" indent="-198437">
              <a:buSzPct val="90000"/>
              <a:buChar char="•"/>
            </a:pPr>
            <a:r>
              <a:t>Depending upon how long it takes for you to go through the early slides, you may want to break after about 15 minutes and ask students to complete a few of the lab exercises. </a:t>
            </a:r>
          </a:p>
          <a:p>
            <a:pPr marL="198437" indent="-198437">
              <a:buSzPct val="90000"/>
              <a:buChar char="•"/>
            </a:pPr>
            <a:r>
              <a:t>Then resume the lecture and complete the remaining exercises at the end.</a:t>
            </a:r>
          </a:p>
          <a:p>
            <a:pPr/>
            <a:r>
              <a:t>Say</a:t>
            </a:r>
          </a:p>
          <a:p>
            <a:pPr marL="228600" indent="-228600">
              <a:buSzPct val="100000"/>
              <a:buChar char="•"/>
            </a:pPr>
            <a:r>
              <a:t>We're going to see that classes and structures are very similar.  </a:t>
            </a:r>
          </a:p>
          <a:p>
            <a:pPr marL="228600" indent="-228600">
              <a:buSzPct val="100000"/>
              <a:buChar char="•"/>
            </a:pPr>
            <a:r>
              <a:t>The main differences we'll see in this lesson are inheritance, and value versus reference types.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 name="Shape 74"/>
          <p:cNvSpPr/>
          <p:nvPr>
            <p:ph type="sldImg"/>
          </p:nvPr>
        </p:nvSpPr>
        <p:spPr>
          <a:prstGeom prst="rect">
            <a:avLst/>
          </a:prstGeom>
        </p:spPr>
        <p:txBody>
          <a:bodyPr/>
          <a:lstStyle/>
          <a:p>
            <a:pPr/>
          </a:p>
        </p:txBody>
      </p:sp>
      <p:sp>
        <p:nvSpPr>
          <p:cNvPr id="75" name="Shape 75"/>
          <p:cNvSpPr/>
          <p:nvPr>
            <p:ph type="body" sz="quarter" idx="1"/>
          </p:nvPr>
        </p:nvSpPr>
        <p:spPr>
          <a:prstGeom prst="rect">
            <a:avLst/>
          </a:prstGeom>
        </p:spPr>
        <p:txBody>
          <a:bodyPr/>
          <a:lstStyle/>
          <a:p>
            <a:pPr/>
            <a:r>
              <a:t>Say</a:t>
            </a:r>
          </a:p>
          <a:p>
            <a:pPr marL="228600" indent="-228600">
              <a:buSzPct val="100000"/>
              <a:buChar char="•"/>
            </a:pPr>
            <a:r>
              <a:t>Use the class keyword to create a class</a:t>
            </a:r>
          </a:p>
          <a:p>
            <a:pPr marL="228600" indent="-228600">
              <a:buSzPct val="100000"/>
              <a:buChar char="•"/>
            </a:pPr>
            <a:r>
              <a:t>In this example, that's the only difference from a struct.</a:t>
            </a:r>
          </a:p>
          <a:p>
            <a:pPr marL="228600" indent="-228600">
              <a:buSzPct val="100000"/>
              <a:buChar char="•"/>
            </a:pPr>
            <a:r>
              <a:t>As part of explanation for class, comparing it to struct, discuss how the capitalization indicates that "Person" is the class or type and "person" is an instance.</a:t>
            </a:r>
          </a:p>
          <a:p>
            <a:pPr/>
            <a:r>
              <a:t>Do</a:t>
            </a:r>
          </a:p>
          <a:p>
            <a:pPr marL="228600" indent="-228600">
              <a:buSzPct val="100000"/>
              <a:buChar char="•"/>
            </a:pPr>
            <a:r>
              <a:t>Ask: "Why is self required in the init?" </a:t>
            </a:r>
          </a:p>
          <a:p>
            <a:pPr marL="228600" indent="-228600">
              <a:buSzPct val="100000"/>
              <a:buChar char="•"/>
            </a:pPr>
            <a:r>
              <a:t>Answer: Because it’s ambiguous otherwise.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 name="Shape 82"/>
          <p:cNvSpPr/>
          <p:nvPr>
            <p:ph type="sldImg"/>
          </p:nvPr>
        </p:nvSpPr>
        <p:spPr>
          <a:prstGeom prst="rect">
            <a:avLst/>
          </a:prstGeom>
        </p:spPr>
        <p:txBody>
          <a:bodyPr/>
          <a:lstStyle/>
          <a:p>
            <a:pPr/>
          </a:p>
        </p:txBody>
      </p:sp>
      <p:sp>
        <p:nvSpPr>
          <p:cNvPr id="83" name="Shape 83"/>
          <p:cNvSpPr/>
          <p:nvPr>
            <p:ph type="body" sz="quarter" idx="1"/>
          </p:nvPr>
        </p:nvSpPr>
        <p:spPr>
          <a:prstGeom prst="rect">
            <a:avLst/>
          </a:prstGeom>
        </p:spPr>
        <p:txBody>
          <a:bodyPr/>
          <a:lstStyle/>
          <a:p>
            <a:pPr/>
            <a:r>
              <a:t>Do</a:t>
            </a:r>
          </a:p>
          <a:p>
            <a:pPr marL="228600" indent="-228600">
              <a:buSzPct val="100000"/>
              <a:buChar char="•"/>
            </a:pPr>
            <a:r>
              <a:t>Cover the definitions of “Base”, “Sub”, and “Super” class and how they fit together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Shape 91"/>
          <p:cNvSpPr/>
          <p:nvPr>
            <p:ph type="sldImg"/>
          </p:nvPr>
        </p:nvSpPr>
        <p:spPr>
          <a:prstGeom prst="rect">
            <a:avLst/>
          </a:prstGeom>
        </p:spPr>
        <p:txBody>
          <a:bodyPr/>
          <a:lstStyle/>
          <a:p>
            <a:pPr/>
          </a:p>
        </p:txBody>
      </p:sp>
      <p:sp>
        <p:nvSpPr>
          <p:cNvPr id="92" name="Shape 92"/>
          <p:cNvSpPr/>
          <p:nvPr>
            <p:ph type="body" sz="quarter" idx="1"/>
          </p:nvPr>
        </p:nvSpPr>
        <p:spPr>
          <a:prstGeom prst="rect">
            <a:avLst/>
          </a:prstGeom>
        </p:spPr>
        <p:txBody>
          <a:bodyPr/>
          <a:lstStyle/>
          <a:p>
            <a:pPr/>
            <a:r>
              <a:t>Note</a:t>
            </a:r>
          </a:p>
          <a:p>
            <a:pPr marL="228600" indent="-228600">
              <a:buSzPct val="100000"/>
              <a:buChar char="•"/>
            </a:pPr>
            <a:r>
              <a:t>This slide shows a </a:t>
            </a:r>
            <a:r>
              <a:rPr>
                <a:latin typeface="Menlo Regular"/>
                <a:ea typeface="Menlo Regular"/>
                <a:cs typeface="Menlo Regular"/>
                <a:sym typeface="Menlo Regular"/>
              </a:rPr>
              <a:t>Vehicle</a:t>
            </a:r>
            <a:r>
              <a:t> class.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Shape 102"/>
          <p:cNvSpPr/>
          <p:nvPr>
            <p:ph type="sldImg"/>
          </p:nvPr>
        </p:nvSpPr>
        <p:spPr>
          <a:prstGeom prst="rect">
            <a:avLst/>
          </a:prstGeom>
        </p:spPr>
        <p:txBody>
          <a:bodyPr/>
          <a:lstStyle/>
          <a:p>
            <a:pPr/>
          </a:p>
        </p:txBody>
      </p:sp>
      <p:sp>
        <p:nvSpPr>
          <p:cNvPr id="103" name="Shape 103"/>
          <p:cNvSpPr/>
          <p:nvPr>
            <p:ph type="body" sz="quarter" idx="1"/>
          </p:nvPr>
        </p:nvSpPr>
        <p:spPr>
          <a:prstGeom prst="rect">
            <a:avLst/>
          </a:prstGeom>
        </p:spPr>
        <p:txBody>
          <a:bodyPr/>
          <a:lstStyle/>
          <a:p>
            <a:pPr/>
            <a:r>
              <a:t>Note</a:t>
            </a:r>
          </a:p>
          <a:p>
            <a:pPr marL="228600" indent="-228600">
              <a:buSzPct val="100000"/>
              <a:buChar char="•"/>
            </a:pPr>
            <a:r>
              <a:t>This slide shows how to make a subclass.</a:t>
            </a:r>
          </a:p>
          <a:p>
            <a:pPr marL="228600" indent="-228600">
              <a:buSzPct val="100000"/>
              <a:buChar char="•"/>
            </a:pPr>
            <a:r>
              <a:t>This slide shows </a:t>
            </a:r>
            <a:r>
              <a:rPr>
                <a:latin typeface="Menlo Regular"/>
                <a:ea typeface="Menlo Regular"/>
                <a:cs typeface="Menlo Regular"/>
                <a:sym typeface="Menlo Regular"/>
              </a:rPr>
              <a:t>Bicycle</a:t>
            </a:r>
            <a:r>
              <a:t> as subclass of </a:t>
            </a:r>
            <a:r>
              <a:rPr>
                <a:latin typeface="Menlo Regular"/>
                <a:ea typeface="Menlo Regular"/>
                <a:cs typeface="Menlo Regular"/>
                <a:sym typeface="Menlo Regular"/>
              </a:rPr>
              <a:t>Vehicle</a:t>
            </a:r>
            <a:r>
              <a:t>: </a:t>
            </a:r>
            <a:r>
              <a:rPr>
                <a:latin typeface="Menlo Regular"/>
                <a:ea typeface="Menlo Regular"/>
                <a:cs typeface="Menlo Regular"/>
                <a:sym typeface="Menlo Regular"/>
              </a:rPr>
              <a:t>Bicycle</a:t>
            </a:r>
            <a:r>
              <a:t> adds a </a:t>
            </a:r>
            <a:r>
              <a:rPr>
                <a:latin typeface="Menlo Regular"/>
                <a:ea typeface="Menlo Regular"/>
                <a:cs typeface="Menlo Regular"/>
                <a:sym typeface="Menlo Regular"/>
              </a:rPr>
              <a:t>hasBasket</a:t>
            </a:r>
            <a:r>
              <a:t> property.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Shape 111"/>
          <p:cNvSpPr/>
          <p:nvPr>
            <p:ph type="sldImg"/>
          </p:nvPr>
        </p:nvSpPr>
        <p:spPr>
          <a:prstGeom prst="rect">
            <a:avLst/>
          </a:prstGeom>
        </p:spPr>
        <p:txBody>
          <a:bodyPr/>
          <a:lstStyle/>
          <a:p>
            <a:pPr/>
          </a:p>
        </p:txBody>
      </p:sp>
      <p:sp>
        <p:nvSpPr>
          <p:cNvPr id="112" name="Shape 112"/>
          <p:cNvSpPr/>
          <p:nvPr>
            <p:ph type="body" sz="quarter" idx="1"/>
          </p:nvPr>
        </p:nvSpPr>
        <p:spPr>
          <a:prstGeom prst="rect">
            <a:avLst/>
          </a:prstGeom>
        </p:spPr>
        <p:txBody>
          <a:bodyPr/>
          <a:lstStyle/>
          <a:p>
            <a:pPr/>
            <a:r>
              <a:t>Note</a:t>
            </a:r>
          </a:p>
          <a:p>
            <a:pPr marL="228600" indent="-228600">
              <a:buSzPct val="100000"/>
              <a:buChar char="•"/>
            </a:pPr>
            <a:r>
              <a:t>This slide shows how to:</a:t>
            </a:r>
          </a:p>
          <a:p>
            <a:pPr marL="419100" indent="-228600">
              <a:buSzPct val="100000"/>
              <a:buChar char="-"/>
            </a:pPr>
            <a:r>
              <a:t>Make an instance of Bicycle</a:t>
            </a:r>
          </a:p>
          <a:p>
            <a:pPr marL="419100" indent="-228600">
              <a:buSzPct val="100000"/>
              <a:buChar char="-"/>
            </a:pPr>
            <a:r>
              <a:t>Set a Vehicle property on bicycle (currentSpeed)</a:t>
            </a:r>
          </a:p>
          <a:p>
            <a:pPr marL="419100" indent="-228600">
              <a:buSzPct val="100000"/>
              <a:buChar char="-"/>
            </a:pPr>
            <a:r>
              <a:t>Set a Bicycle property on bicycle (hasBasket)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Shape 119"/>
          <p:cNvSpPr/>
          <p:nvPr>
            <p:ph type="sldImg"/>
          </p:nvPr>
        </p:nvSpPr>
        <p:spPr>
          <a:prstGeom prst="rect">
            <a:avLst/>
          </a:prstGeom>
        </p:spPr>
        <p:txBody>
          <a:bodyPr/>
          <a:lstStyle/>
          <a:p>
            <a:pPr/>
          </a:p>
        </p:txBody>
      </p:sp>
      <p:sp>
        <p:nvSpPr>
          <p:cNvPr id="120" name="Shape 120"/>
          <p:cNvSpPr/>
          <p:nvPr>
            <p:ph type="body" sz="quarter" idx="1"/>
          </p:nvPr>
        </p:nvSpPr>
        <p:spPr>
          <a:prstGeom prst="rect">
            <a:avLst/>
          </a:prstGeom>
        </p:spPr>
        <p:txBody>
          <a:bodyPr/>
          <a:lstStyle/>
          <a:p>
            <a:pPr/>
            <a:r>
              <a:t>Note</a:t>
            </a:r>
          </a:p>
          <a:p>
            <a:pPr marL="228600" indent="-228600">
              <a:buSzPct val="100000"/>
              <a:buChar char="•"/>
            </a:pPr>
            <a:r>
              <a:t>This slide shows TandemBike as a subclass of </a:t>
            </a:r>
            <a:r>
              <a:rPr>
                <a:latin typeface="Menlo Regular"/>
                <a:ea typeface="Menlo Regular"/>
                <a:cs typeface="Menlo Regular"/>
                <a:sym typeface="Menlo Regular"/>
              </a:rPr>
              <a:t>Bicycle</a:t>
            </a:r>
            <a:r>
              <a:t>.</a:t>
            </a:r>
          </a:p>
          <a:p>
            <a:pPr marL="228600" indent="-228600">
              <a:buSzPct val="100000"/>
              <a:buChar char="•"/>
            </a:pPr>
            <a:r>
              <a:t>Side note: Classes DO get an empty init() if the class has default values for all properties and you don't write any other inits (or if you write extra inits in an extension).</a:t>
            </a:r>
          </a:p>
          <a:p>
            <a:pPr marL="228600" indent="-228600">
              <a:buSzPct val="100000"/>
              <a:buChar char="•"/>
            </a:pPr>
            <a:r>
              <a:t>Side note: Classes get deinit. Value types don’t.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Shape 128"/>
          <p:cNvSpPr/>
          <p:nvPr>
            <p:ph type="sldImg"/>
          </p:nvPr>
        </p:nvSpPr>
        <p:spPr>
          <a:prstGeom prst="rect">
            <a:avLst/>
          </a:prstGeom>
        </p:spPr>
        <p:txBody>
          <a:bodyPr/>
          <a:lstStyle/>
          <a:p>
            <a:pPr/>
          </a:p>
        </p:txBody>
      </p:sp>
      <p:sp>
        <p:nvSpPr>
          <p:cNvPr id="129" name="Shape 129"/>
          <p:cNvSpPr/>
          <p:nvPr>
            <p:ph type="body" sz="quarter" idx="1"/>
          </p:nvPr>
        </p:nvSpPr>
        <p:spPr>
          <a:prstGeom prst="rect">
            <a:avLst/>
          </a:prstGeom>
        </p:spPr>
        <p:txBody>
          <a:bodyPr/>
          <a:lstStyle/>
          <a:p>
            <a:pPr/>
            <a:r>
              <a:t>Note</a:t>
            </a:r>
          </a:p>
          <a:p>
            <a:pPr marL="228600" indent="-228600">
              <a:buSzPct val="100000"/>
              <a:buChar char="•"/>
            </a:pPr>
            <a:r>
              <a:t>This slide shows: </a:t>
            </a:r>
          </a:p>
          <a:p>
            <a:pPr marL="419100" indent="-228600">
              <a:buSzPct val="100000"/>
              <a:buChar char="-"/>
            </a:pPr>
            <a:r>
              <a:t>How to make an instance of </a:t>
            </a:r>
            <a:r>
              <a:rPr>
                <a:latin typeface="Menlo Regular"/>
                <a:ea typeface="Menlo Regular"/>
                <a:cs typeface="Menlo Regular"/>
                <a:sym typeface="Menlo Regular"/>
              </a:rPr>
              <a:t>Tandem</a:t>
            </a:r>
          </a:p>
          <a:p>
            <a:pPr marL="419100" indent="-228600">
              <a:buSzPct val="100000"/>
              <a:buChar char="-"/>
            </a:pPr>
            <a:r>
              <a:t>Setting properties of all levels of the hierarchy</a:t>
            </a:r>
          </a:p>
          <a:p>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Shape 137"/>
          <p:cNvSpPr/>
          <p:nvPr>
            <p:ph type="sldImg"/>
          </p:nvPr>
        </p:nvSpPr>
        <p:spPr>
          <a:prstGeom prst="rect">
            <a:avLst/>
          </a:prstGeom>
        </p:spPr>
        <p:txBody>
          <a:bodyPr/>
          <a:lstStyle/>
          <a:p>
            <a:pPr/>
          </a:p>
        </p:txBody>
      </p:sp>
      <p:sp>
        <p:nvSpPr>
          <p:cNvPr id="138" name="Shape 138"/>
          <p:cNvSpPr/>
          <p:nvPr>
            <p:ph type="body" sz="quarter" idx="1"/>
          </p:nvPr>
        </p:nvSpPr>
        <p:spPr>
          <a:prstGeom prst="rect">
            <a:avLst/>
          </a:prstGeom>
        </p:spPr>
        <p:txBody>
          <a:bodyPr/>
          <a:lstStyle/>
          <a:p>
            <a:pPr/>
            <a:r>
              <a:t>Say</a:t>
            </a:r>
          </a:p>
          <a:p>
            <a:pPr marL="228600" indent="-228600">
              <a:buSzPct val="100000"/>
              <a:buChar char="•"/>
            </a:pPr>
            <a:r>
              <a:t>This slide shows </a:t>
            </a:r>
            <a:r>
              <a:rPr>
                <a:latin typeface="Menlo Regular"/>
                <a:ea typeface="Menlo Regular"/>
                <a:cs typeface="Menlo Regular"/>
                <a:sym typeface="Menlo Regular"/>
              </a:rPr>
              <a:t>Train</a:t>
            </a:r>
            <a:r>
              <a:t> overriding </a:t>
            </a:r>
            <a:r>
              <a:rPr>
                <a:latin typeface="Menlo Regular"/>
                <a:ea typeface="Menlo Regular"/>
                <a:cs typeface="Menlo Regular"/>
                <a:sym typeface="Menlo Regular"/>
              </a:rPr>
              <a:t>makeNoise()</a:t>
            </a:r>
            <a:r>
              <a:t>.</a:t>
            </a:r>
          </a:p>
          <a:p>
            <a:pPr marL="228600" indent="-228600">
              <a:buSzPct val="100000"/>
              <a:buChar char="•"/>
            </a:pPr>
            <a:r>
              <a:t>The </a:t>
            </a:r>
            <a:r>
              <a:rPr>
                <a:latin typeface="Menlo Regular"/>
                <a:ea typeface="Menlo Regular"/>
                <a:cs typeface="Menlo Regular"/>
                <a:sym typeface="Menlo Regular"/>
              </a:rPr>
              <a:t>override</a:t>
            </a:r>
            <a:r>
              <a:t> keyword is required for Swift coding safety.</a:t>
            </a:r>
          </a:p>
          <a:p>
            <a:pPr marL="228600" indent="-228600">
              <a:buSzPct val="100000"/>
              <a:buChar char="•"/>
            </a:pPr>
            <a:r>
              <a:t>You can immediately tell that code is overriding something.</a:t>
            </a:r>
          </a:p>
          <a:p>
            <a:pPr marL="228600" indent="-228600">
              <a:buSzPct val="100000"/>
              <a:buChar char="•"/>
            </a:pPr>
            <a:r>
              <a:t>You can't override something by mistake—the compiler will complain.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Shape 145"/>
          <p:cNvSpPr/>
          <p:nvPr>
            <p:ph type="sldImg"/>
          </p:nvPr>
        </p:nvSpPr>
        <p:spPr>
          <a:prstGeom prst="rect">
            <a:avLst/>
          </a:prstGeom>
        </p:spPr>
        <p:txBody>
          <a:bodyPr/>
          <a:lstStyle/>
          <a:p>
            <a:pPr/>
          </a:p>
        </p:txBody>
      </p:sp>
      <p:sp>
        <p:nvSpPr>
          <p:cNvPr id="146" name="Shape 146"/>
          <p:cNvSpPr/>
          <p:nvPr>
            <p:ph type="body" sz="quarter" idx="1"/>
          </p:nvPr>
        </p:nvSpPr>
        <p:spPr>
          <a:prstGeom prst="rect">
            <a:avLst/>
          </a:prstGeom>
        </p:spPr>
        <p:txBody>
          <a:bodyPr/>
          <a:lstStyle/>
          <a:p>
            <a:pPr/>
            <a:r>
              <a:t>Say</a:t>
            </a:r>
          </a:p>
          <a:p>
            <a:pPr marL="228600" indent="-228600">
              <a:buSzPct val="100000"/>
              <a:buChar char="•"/>
            </a:pPr>
            <a:r>
              <a:t>This slide shows </a:t>
            </a:r>
            <a:r>
              <a:rPr>
                <a:latin typeface="Menlo Regular"/>
                <a:ea typeface="Menlo Regular"/>
                <a:cs typeface="Menlo Regular"/>
                <a:sym typeface="Menlo Regular"/>
              </a:rPr>
              <a:t>Car</a:t>
            </a:r>
            <a:r>
              <a:t> overriding </a:t>
            </a:r>
            <a:r>
              <a:rPr>
                <a:latin typeface="Menlo Regular"/>
                <a:ea typeface="Menlo Regular"/>
                <a:cs typeface="Menlo Regular"/>
                <a:sym typeface="Menlo Regular"/>
              </a:rPr>
              <a:t>description</a:t>
            </a:r>
            <a:r>
              <a:t>.</a:t>
            </a:r>
          </a:p>
          <a:p>
            <a:pPr marL="228600" indent="-228600">
              <a:buSzPct val="100000"/>
              <a:buChar char="•"/>
            </a:pPr>
            <a:r>
              <a:t>Properties can also be overridden with a getter.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a:r>
              <a:t>Note</a:t>
            </a:r>
          </a:p>
          <a:p>
            <a:pPr marL="228600" indent="-228600">
              <a:buSzPct val="100000"/>
              <a:buChar char="•"/>
            </a:pPr>
            <a:r>
              <a:t>This slide shows using </a:t>
            </a:r>
            <a:r>
              <a:rPr>
                <a:latin typeface="Menlo Regular"/>
                <a:ea typeface="Menlo Regular"/>
                <a:cs typeface="Menlo Regular"/>
                <a:sym typeface="Menlo Regular"/>
              </a:rPr>
              <a:t>Car</a:t>
            </a:r>
            <a:r>
              <a:t> and calling </a:t>
            </a:r>
            <a:r>
              <a:rPr>
                <a:latin typeface="Menlo Regular"/>
                <a:ea typeface="Menlo Regular"/>
                <a:cs typeface="Menlo Regular"/>
                <a:sym typeface="Menlo Regular"/>
              </a:rPr>
              <a:t>description</a:t>
            </a:r>
            <a:r>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Shape 169"/>
          <p:cNvSpPr/>
          <p:nvPr>
            <p:ph type="sldImg"/>
          </p:nvPr>
        </p:nvSpPr>
        <p:spPr>
          <a:prstGeom prst="rect">
            <a:avLst/>
          </a:prstGeom>
        </p:spPr>
        <p:txBody>
          <a:bodyPr/>
          <a:lstStyle/>
          <a:p>
            <a:pPr/>
          </a:p>
        </p:txBody>
      </p:sp>
      <p:sp>
        <p:nvSpPr>
          <p:cNvPr id="170" name="Shape 170"/>
          <p:cNvSpPr/>
          <p:nvPr>
            <p:ph type="body" sz="quarter" idx="1"/>
          </p:nvPr>
        </p:nvSpPr>
        <p:spPr>
          <a:prstGeom prst="rect">
            <a:avLst/>
          </a:prstGeom>
        </p:spPr>
        <p:txBody>
          <a:bodyPr/>
          <a:lstStyle/>
          <a:p>
            <a:pPr/>
            <a:r>
              <a:t>Do</a:t>
            </a:r>
          </a:p>
          <a:p>
            <a:pPr marL="198437" indent="-198437">
              <a:buSzPct val="90000"/>
              <a:buChar char="•"/>
            </a:pPr>
            <a:r>
              <a:t>Click to display the error.</a:t>
            </a:r>
          </a:p>
          <a:p>
            <a:pPr/>
            <a:r>
              <a:t>Note</a:t>
            </a:r>
          </a:p>
          <a:p>
            <a:pPr marL="198437" indent="-198437">
              <a:buSzPct val="90000"/>
              <a:buChar char="•"/>
            </a:pPr>
            <a:r>
              <a:t>The fix is on the next slide.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Shape 184"/>
          <p:cNvSpPr/>
          <p:nvPr>
            <p:ph type="sldImg"/>
          </p:nvPr>
        </p:nvSpPr>
        <p:spPr>
          <a:prstGeom prst="rect">
            <a:avLst/>
          </a:prstGeom>
        </p:spPr>
        <p:txBody>
          <a:bodyPr/>
          <a:lstStyle/>
          <a:p>
            <a:pPr/>
          </a:p>
        </p:txBody>
      </p:sp>
      <p:sp>
        <p:nvSpPr>
          <p:cNvPr id="185" name="Shape 185"/>
          <p:cNvSpPr/>
          <p:nvPr>
            <p:ph type="body" sz="quarter" idx="1"/>
          </p:nvPr>
        </p:nvSpPr>
        <p:spPr>
          <a:prstGeom prst="rect">
            <a:avLst/>
          </a:prstGeom>
        </p:spPr>
        <p:txBody>
          <a:bodyPr/>
          <a:lstStyle/>
          <a:p>
            <a:pPr>
              <a:spcBef>
                <a:spcPts val="1500"/>
              </a:spcBef>
            </a:pPr>
            <a:r>
              <a:t>Note</a:t>
            </a:r>
          </a:p>
          <a:p>
            <a:pPr marL="228600" indent="-228600">
              <a:spcBef>
                <a:spcPts val="1500"/>
              </a:spcBef>
              <a:buSzPct val="100000"/>
              <a:buChar char="•"/>
            </a:pPr>
            <a:r>
              <a:t>This slide shows two references to the same instance of a </a:t>
            </a:r>
            <a:r>
              <a:rPr>
                <a:latin typeface="Menlo Regular"/>
                <a:ea typeface="Menlo Regular"/>
                <a:cs typeface="Menlo Regular"/>
                <a:sym typeface="Menlo Regular"/>
              </a:rPr>
              <a:t>Person</a:t>
            </a:r>
            <a:r>
              <a:t> class.</a:t>
            </a:r>
          </a:p>
          <a:p>
            <a:pPr marL="228600" indent="-228600">
              <a:spcBef>
                <a:spcPts val="1500"/>
              </a:spcBef>
              <a:buSzPct val="100000"/>
              <a:buChar char="•"/>
            </a:pPr>
            <a:r>
              <a:t>It also sh</a:t>
            </a:r>
            <a:r>
              <a:t>ows that if you change a property, both references reflect that.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hape 188"/>
          <p:cNvSpPr/>
          <p:nvPr>
            <p:ph type="sldImg"/>
          </p:nvPr>
        </p:nvSpPr>
        <p:spPr>
          <a:prstGeom prst="rect">
            <a:avLst/>
          </a:prstGeom>
        </p:spPr>
        <p:txBody>
          <a:bodyPr/>
          <a:lstStyle/>
          <a:p>
            <a:pPr/>
          </a:p>
        </p:txBody>
      </p:sp>
      <p:sp>
        <p:nvSpPr>
          <p:cNvPr id="189" name="Shape 189"/>
          <p:cNvSpPr/>
          <p:nvPr>
            <p:ph type="body" sz="quarter" idx="1"/>
          </p:nvPr>
        </p:nvSpPr>
        <p:spPr>
          <a:prstGeom prst="rect">
            <a:avLst/>
          </a:prstGeom>
        </p:spPr>
        <p:txBody>
          <a:bodyPr/>
          <a:lstStyle/>
          <a:p>
            <a:pPr>
              <a:spcBef>
                <a:spcPts val="1500"/>
              </a:spcBef>
            </a:pPr>
            <a:r>
              <a:t>Say</a:t>
            </a:r>
          </a:p>
          <a:p>
            <a:pPr marL="228600" indent="-228600">
              <a:spcBef>
                <a:spcPts val="1500"/>
              </a:spcBef>
              <a:buSzPct val="100000"/>
              <a:buChar char="•"/>
            </a:pPr>
            <a:r>
              <a:t>This slide shows: </a:t>
            </a:r>
          </a:p>
          <a:p>
            <a:pPr marL="419100" indent="-228600">
              <a:spcBef>
                <a:spcPts val="1500"/>
              </a:spcBef>
              <a:buSzPct val="100000"/>
              <a:buChar char="-"/>
            </a:pPr>
            <a:r>
              <a:t>The same code implemented as a </a:t>
            </a:r>
            <a:r>
              <a:rPr>
                <a:latin typeface="Menlo Regular"/>
                <a:ea typeface="Menlo Regular"/>
                <a:cs typeface="Menlo Regular"/>
                <a:sym typeface="Menlo Regular"/>
              </a:rPr>
              <a:t>Person</a:t>
            </a:r>
            <a:r>
              <a:t> struct </a:t>
            </a:r>
          </a:p>
          <a:p>
            <a:pPr marL="419100" indent="-228600">
              <a:spcBef>
                <a:spcPts val="1500"/>
              </a:spcBef>
              <a:buSzPct val="100000"/>
              <a:buChar char="-"/>
            </a:pPr>
            <a:r>
              <a:t>That changing the value of a property of one instance doesn't change the other instance</a:t>
            </a:r>
          </a:p>
          <a:p>
            <a:pPr marL="228600" indent="-228600">
              <a:spcBef>
                <a:spcPts val="1500"/>
              </a:spcBef>
              <a:buSzPct val="100000"/>
              <a:buChar char="•"/>
            </a:pPr>
            <a:r>
              <a:t>That's </a:t>
            </a:r>
            <a:r>
              <a:t>because </a:t>
            </a:r>
            <a:r>
              <a:rPr>
                <a:latin typeface="Menlo Regular"/>
                <a:ea typeface="Menlo Regular"/>
                <a:cs typeface="Menlo Regular"/>
                <a:sym typeface="Menlo Regular"/>
              </a:rPr>
              <a:t>myFriend</a:t>
            </a:r>
            <a:r>
              <a:t> is a copy of </a:t>
            </a:r>
            <a:r>
              <a:rPr>
                <a:latin typeface="Menlo Regular"/>
                <a:ea typeface="Menlo Regular"/>
                <a:cs typeface="Menlo Regular"/>
                <a:sym typeface="Menlo Regular"/>
              </a:rPr>
              <a:t>jack</a:t>
            </a:r>
            <a:r>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195"/>
          <p:cNvSpPr/>
          <p:nvPr>
            <p:ph type="sldImg"/>
          </p:nvPr>
        </p:nvSpPr>
        <p:spPr>
          <a:prstGeom prst="rect">
            <a:avLst/>
          </a:prstGeom>
        </p:spPr>
        <p:txBody>
          <a:bodyPr/>
          <a:lstStyle/>
          <a:p>
            <a:pPr/>
          </a:p>
        </p:txBody>
      </p:sp>
      <p:sp>
        <p:nvSpPr>
          <p:cNvPr id="196" name="Shape 196"/>
          <p:cNvSpPr/>
          <p:nvPr>
            <p:ph type="body" sz="quarter" idx="1"/>
          </p:nvPr>
        </p:nvSpPr>
        <p:spPr>
          <a:prstGeom prst="rect">
            <a:avLst/>
          </a:prstGeom>
        </p:spPr>
        <p:txBody>
          <a:bodyPr/>
          <a:lstStyle/>
          <a:p>
            <a:pPr>
              <a:spcBef>
                <a:spcPts val="1500"/>
              </a:spcBef>
            </a:pPr>
            <a:r>
              <a:t>Say</a:t>
            </a:r>
          </a:p>
          <a:p>
            <a:pPr marL="228600" indent="-228600">
              <a:spcBef>
                <a:spcPts val="1500"/>
              </a:spcBef>
              <a:buSzPct val="100000"/>
              <a:buChar char="•"/>
            </a:pPr>
            <a:r>
              <a:t>Classes don't get memberwise initializers.</a:t>
            </a:r>
          </a:p>
          <a:p>
            <a:pPr marL="228600" indent="-228600">
              <a:spcBef>
                <a:spcPts val="1500"/>
              </a:spcBef>
              <a:buSzPct val="100000"/>
              <a:buChar char="•"/>
            </a:pPr>
            <a:r>
              <a:t>Classes DO get an empty </a:t>
            </a:r>
            <a:r>
              <a:rPr>
                <a:latin typeface="Menlo Regular"/>
                <a:ea typeface="Menlo Regular"/>
                <a:cs typeface="Menlo Regular"/>
                <a:sym typeface="Menlo Regular"/>
              </a:rPr>
              <a:t>init()</a:t>
            </a:r>
            <a:r>
              <a:t> if the class has default values for all properties and you don't write any other inits.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Shape 211"/>
          <p:cNvSpPr/>
          <p:nvPr>
            <p:ph type="sldImg"/>
          </p:nvPr>
        </p:nvSpPr>
        <p:spPr>
          <a:prstGeom prst="rect">
            <a:avLst/>
          </a:prstGeom>
        </p:spPr>
        <p:txBody>
          <a:bodyPr/>
          <a:lstStyle/>
          <a:p>
            <a:pPr/>
          </a:p>
        </p:txBody>
      </p:sp>
      <p:sp>
        <p:nvSpPr>
          <p:cNvPr id="212" name="Shape 212"/>
          <p:cNvSpPr/>
          <p:nvPr>
            <p:ph type="body" sz="quarter" idx="1"/>
          </p:nvPr>
        </p:nvSpPr>
        <p:spPr>
          <a:prstGeom prst="rect">
            <a:avLst/>
          </a:prstGeom>
        </p:spPr>
        <p:txBody>
          <a:bodyPr/>
          <a:lstStyle/>
          <a:p>
            <a:pPr>
              <a:spcBef>
                <a:spcPts val="0"/>
              </a:spcBef>
              <a:defRPr sz="2600"/>
            </a:pPr>
            <a:r>
              <a:t>L569805A-en_WW App Development with Swift © 2021 Apple Inc. This work is licensed by Apple Inc. under the </a:t>
            </a:r>
            <a:r>
              <a:rPr u="sng">
                <a:hlinkClick r:id="rId3" invalidUrl="" action="" tgtFrame="" tooltip="" history="1" highlightClick="0" endSnd="0"/>
              </a:rPr>
              <a:t>Creative Commons Attribution-NonCommercial-ShareAlike 4.0 International</a:t>
            </a:r>
            <a:r>
              <a:t> license (</a:t>
            </a:r>
            <a:r>
              <a:rPr u="sng">
                <a:hlinkClick r:id="rId3" invalidUrl="" action="" tgtFrame="" tooltip="" history="1" highlightClick="0" endSnd="0"/>
              </a:rPr>
              <a:t>https://creativecommons.org/licenses/by-nc-sa/4.0/legalcode</a:t>
            </a:r>
            <a:r>
              <a: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nc-sa/4.0/legalcode"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Code">
    <p:spTree>
      <p:nvGrpSpPr>
        <p:cNvPr id="1" name=""/>
        <p:cNvGrpSpPr/>
        <p:nvPr/>
      </p:nvGrpSpPr>
      <p:grpSpPr>
        <a:xfrm>
          <a:off x="0" y="0"/>
          <a:ext cx="0" cy="0"/>
          <a:chOff x="0" y="0"/>
          <a:chExt cx="0" cy="0"/>
        </a:xfrm>
      </p:grpSpPr>
      <p:sp>
        <p:nvSpPr>
          <p:cNvPr id="1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
    <p:bg>
      <p:bgPr>
        <a:solidFill>
          <a:srgbClr val="000000"/>
        </a:solidFill>
      </p:bgPr>
    </p:bg>
    <p:spTree>
      <p:nvGrpSpPr>
        <p:cNvPr id="1" name=""/>
        <p:cNvGrpSpPr/>
        <p:nvPr/>
      </p:nvGrpSpPr>
      <p:grpSpPr>
        <a:xfrm>
          <a:off x="0" y="0"/>
          <a:ext cx="0" cy="0"/>
          <a:chOff x="0" y="0"/>
          <a:chExt cx="0" cy="0"/>
        </a:xfrm>
      </p:grpSpPr>
      <p:sp>
        <p:nvSpPr>
          <p:cNvPr id="19"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0" name="Text"/>
          <p:cNvSpPr/>
          <p:nvPr>
            <p:ph type="body" sz="quarter" idx="22"/>
          </p:nvPr>
        </p:nvSpPr>
        <p:spPr>
          <a:xfrm>
            <a:off x="1143000" y="2057400"/>
            <a:ext cx="22098001" cy="914400"/>
          </a:xfrm>
          <a:prstGeom prst="rect">
            <a:avLst/>
          </a:prstGeom>
          <a:ln w="12700"/>
        </p:spPr>
        <p:txBody>
          <a:bodyPr lIns="50800" tIns="50800" rIns="50800" bIns="50800">
            <a:spAutoFit/>
          </a:bodyPr>
          <a:lstStyle/>
          <a:p>
            <a:pPr defTabSz="825500">
              <a:lnSpc>
                <a:spcPct val="90000"/>
              </a:lnSpc>
              <a:defRPr spc="-136" sz="6800">
                <a:latin typeface="+mn-lt"/>
                <a:ea typeface="+mn-ea"/>
                <a:cs typeface="+mn-cs"/>
                <a:sym typeface="Helvetica Neue"/>
              </a:defRPr>
            </a:pPr>
          </a:p>
        </p:txBody>
      </p:sp>
      <p:sp>
        <p:nvSpPr>
          <p:cNvPr id="21" name="Title Text"/>
          <p:cNvSpPr/>
          <p:nvPr>
            <p:ph type="title"/>
          </p:nvPr>
        </p:nvSpPr>
        <p:spPr>
          <a:xfrm>
            <a:off x="1155700" y="0"/>
            <a:ext cx="22098000" cy="2057400"/>
          </a:xfrm>
          <a:prstGeom prst="rect">
            <a:avLst/>
          </a:prstGeom>
          <a:ln w="12700"/>
        </p:spPr>
        <p:txBody>
          <a:bodyPr lIns="50800" tIns="50800" rIns="50800" bIns="50800" anchor="b"/>
          <a:lstStyle>
            <a:lvl1pPr defTabSz="825500">
              <a:lnSpc>
                <a:spcPts val="7300"/>
              </a:lnSpc>
              <a:spcBef>
                <a:spcPts val="0"/>
              </a:spcBef>
              <a:defRPr b="1" spc="-136" sz="6800">
                <a:latin typeface="+mn-lt"/>
                <a:ea typeface="+mn-ea"/>
                <a:cs typeface="+mn-cs"/>
                <a:sym typeface="Helvetica Neue"/>
              </a:defRPr>
            </a:lvl1pPr>
          </a:lstStyle>
          <a:p>
            <a:pPr/>
            <a:r>
              <a:t>Title Text</a:t>
            </a:r>
          </a:p>
        </p:txBody>
      </p:sp>
      <p:sp>
        <p:nvSpPr>
          <p:cNvPr id="22" name="Body Level One…"/>
          <p:cNvSpPr/>
          <p:nvPr>
            <p:ph type="body" idx="1"/>
          </p:nvPr>
        </p:nvSpPr>
        <p:spPr>
          <a:xfrm>
            <a:off x="1143000" y="3911600"/>
            <a:ext cx="22098000" cy="9118600"/>
          </a:xfrm>
          <a:prstGeom prst="rect">
            <a:avLst/>
          </a:prstGeom>
          <a:ln w="12700"/>
        </p:spPr>
        <p:txBody>
          <a:bodyPr lIns="50800" tIns="50800" rIns="50800" bIns="50800"/>
          <a:lstStyle>
            <a:lvl1pPr marL="317500" indent="-317500" defTabSz="914400">
              <a:lnSpc>
                <a:spcPct val="100000"/>
              </a:lnSpc>
              <a:spcBef>
                <a:spcPts val="2800"/>
              </a:spcBef>
              <a:buSzPct val="90000"/>
              <a:buChar char="•"/>
              <a:defRPr spc="-48" sz="4800">
                <a:latin typeface="+mn-lt"/>
                <a:ea typeface="+mn-ea"/>
                <a:cs typeface="+mn-cs"/>
                <a:sym typeface="Helvetica Neue"/>
              </a:defRPr>
            </a:lvl1pPr>
            <a:lvl2pPr marL="635000" indent="-304800" defTabSz="914400">
              <a:lnSpc>
                <a:spcPct val="100000"/>
              </a:lnSpc>
              <a:spcBef>
                <a:spcPts val="2800"/>
              </a:spcBef>
              <a:buSzPct val="80000"/>
              <a:buChar char="-"/>
              <a:defRPr spc="-48" sz="4800">
                <a:latin typeface="+mn-lt"/>
                <a:ea typeface="+mn-ea"/>
                <a:cs typeface="+mn-cs"/>
                <a:sym typeface="Helvetica Neue"/>
              </a:defRPr>
            </a:lvl2pPr>
            <a:lvl3pPr marL="947419" indent="-299719" defTabSz="914400">
              <a:lnSpc>
                <a:spcPct val="100000"/>
              </a:lnSpc>
              <a:spcBef>
                <a:spcPts val="2800"/>
              </a:spcBef>
              <a:buSzPct val="80000"/>
              <a:buChar char="-"/>
              <a:defRPr spc="-48" sz="4800">
                <a:latin typeface="+mn-lt"/>
                <a:ea typeface="+mn-ea"/>
                <a:cs typeface="+mn-cs"/>
                <a:sym typeface="Helvetica Neue"/>
              </a:defRPr>
            </a:lvl3pPr>
            <a:lvl4pPr marL="1252219" indent="-287019" defTabSz="914400">
              <a:lnSpc>
                <a:spcPct val="100000"/>
              </a:lnSpc>
              <a:spcBef>
                <a:spcPts val="2800"/>
              </a:spcBef>
              <a:buSzPct val="80000"/>
              <a:buChar char="-"/>
              <a:defRPr spc="-48" sz="4800">
                <a:latin typeface="+mn-lt"/>
                <a:ea typeface="+mn-ea"/>
                <a:cs typeface="+mn-cs"/>
                <a:sym typeface="Helvetica Neue"/>
              </a:defRPr>
            </a:lvl4pPr>
            <a:lvl5pPr marL="1550669" indent="-280669" defTabSz="914400">
              <a:lnSpc>
                <a:spcPct val="100000"/>
              </a:lnSpc>
              <a:spcBef>
                <a:spcPts val="2800"/>
              </a:spcBef>
              <a:buSzPct val="80000"/>
              <a:buChar char="-"/>
              <a:defRPr spc="-48" sz="4800">
                <a:latin typeface="+mn-lt"/>
                <a:ea typeface="+mn-ea"/>
                <a:cs typeface="+mn-cs"/>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s-Only">
    <p:bg>
      <p:bgPr>
        <a:solidFill>
          <a:srgbClr val="000000"/>
        </a:solidFill>
      </p:bgPr>
    </p:bg>
    <p:spTree>
      <p:nvGrpSpPr>
        <p:cNvPr id="1" name=""/>
        <p:cNvGrpSpPr/>
        <p:nvPr/>
      </p:nvGrpSpPr>
      <p:grpSpPr>
        <a:xfrm>
          <a:off x="0" y="0"/>
          <a:ext cx="0" cy="0"/>
          <a:chOff x="0" y="0"/>
          <a:chExt cx="0" cy="0"/>
        </a:xfrm>
      </p:grpSpPr>
      <p:sp>
        <p:nvSpPr>
          <p:cNvPr id="30"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1" name="Text"/>
          <p:cNvSpPr/>
          <p:nvPr>
            <p:ph type="body" sz="quarter" idx="22"/>
          </p:nvPr>
        </p:nvSpPr>
        <p:spPr>
          <a:xfrm>
            <a:off x="1140172" y="2057400"/>
            <a:ext cx="22098001" cy="914400"/>
          </a:xfrm>
          <a:prstGeom prst="rect">
            <a:avLst/>
          </a:prstGeom>
          <a:ln w="12700"/>
        </p:spPr>
        <p:txBody>
          <a:bodyPr lIns="50800" tIns="50800" rIns="50800" bIns="50800">
            <a:spAutoFit/>
          </a:bodyPr>
          <a:lstStyle/>
          <a:p>
            <a:pPr defTabSz="825500">
              <a:lnSpc>
                <a:spcPct val="90000"/>
              </a:lnSpc>
              <a:defRPr spc="-136" sz="6800">
                <a:latin typeface="+mn-lt"/>
                <a:ea typeface="+mn-ea"/>
                <a:cs typeface="+mn-cs"/>
                <a:sym typeface="Helvetica Neue"/>
              </a:defRPr>
            </a:pPr>
          </a:p>
        </p:txBody>
      </p:sp>
      <p:sp>
        <p:nvSpPr>
          <p:cNvPr id="32" name="Title Text"/>
          <p:cNvSpPr/>
          <p:nvPr>
            <p:ph type="title"/>
          </p:nvPr>
        </p:nvSpPr>
        <p:spPr>
          <a:xfrm>
            <a:off x="1155700" y="0"/>
            <a:ext cx="22098000" cy="2057400"/>
          </a:xfrm>
          <a:prstGeom prst="rect">
            <a:avLst/>
          </a:prstGeom>
          <a:ln w="12700"/>
        </p:spPr>
        <p:txBody>
          <a:bodyPr lIns="50800" tIns="50800" rIns="50800" bIns="50800" anchor="b"/>
          <a:lstStyle>
            <a:lvl1pPr defTabSz="825500">
              <a:lnSpc>
                <a:spcPts val="7300"/>
              </a:lnSpc>
              <a:spcBef>
                <a:spcPts val="0"/>
              </a:spcBef>
              <a:defRPr b="1" spc="-136" sz="6800">
                <a:latin typeface="+mn-lt"/>
                <a:ea typeface="+mn-ea"/>
                <a:cs typeface="+mn-cs"/>
                <a:sym typeface="Helvetica Neue"/>
              </a:defRPr>
            </a:lvl1pPr>
          </a:lstStyle>
          <a:p>
            <a:pPr/>
            <a:r>
              <a:t>Title Text</a:t>
            </a:r>
          </a:p>
        </p:txBody>
      </p:sp>
      <p:sp>
        <p:nvSpPr>
          <p:cNvPr id="33"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solidFill>
          <a:srgbClr val="000000"/>
        </a:solidFill>
      </p:bgPr>
    </p:bg>
    <p:spTree>
      <p:nvGrpSpPr>
        <p:cNvPr id="1" name=""/>
        <p:cNvGrpSpPr/>
        <p:nvPr/>
      </p:nvGrpSpPr>
      <p:grpSpPr>
        <a:xfrm>
          <a:off x="0" y="0"/>
          <a:ext cx="0" cy="0"/>
          <a:chOff x="0" y="0"/>
          <a:chExt cx="0" cy="0"/>
        </a:xfrm>
      </p:grpSpPr>
      <p:sp>
        <p:nvSpPr>
          <p:cNvPr id="40"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41"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ubtopic">
    <p:bg>
      <p:bgPr>
        <a:solidFill>
          <a:srgbClr val="000000"/>
        </a:solidFill>
      </p:bgPr>
    </p:bg>
    <p:spTree>
      <p:nvGrpSpPr>
        <p:cNvPr id="1" name=""/>
        <p:cNvGrpSpPr/>
        <p:nvPr/>
      </p:nvGrpSpPr>
      <p:grpSpPr>
        <a:xfrm>
          <a:off x="0" y="0"/>
          <a:ext cx="0" cy="0"/>
          <a:chOff x="0" y="0"/>
          <a:chExt cx="0" cy="0"/>
        </a:xfrm>
      </p:grpSpPr>
      <p:sp>
        <p:nvSpPr>
          <p:cNvPr id="48"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49" name="Title Text"/>
          <p:cNvSpPr/>
          <p:nvPr>
            <p:ph type="title"/>
          </p:nvPr>
        </p:nvSpPr>
        <p:spPr>
          <a:xfrm>
            <a:off x="1143000" y="2743200"/>
            <a:ext cx="22098000" cy="8229600"/>
          </a:xfrm>
          <a:prstGeom prst="rect">
            <a:avLst/>
          </a:prstGeom>
          <a:ln w="12700"/>
        </p:spPr>
        <p:txBody>
          <a:bodyPr lIns="50800" tIns="50800" rIns="50800" bIns="50800" anchor="ctr"/>
          <a:lstStyle>
            <a:lvl1pPr defTabSz="914400">
              <a:lnSpc>
                <a:spcPts val="11200"/>
              </a:lnSpc>
              <a:spcBef>
                <a:spcPts val="0"/>
              </a:spcBef>
              <a:defRPr b="1" spc="-200" sz="10000">
                <a:latin typeface="+mn-lt"/>
                <a:ea typeface="+mn-ea"/>
                <a:cs typeface="+mn-cs"/>
                <a:sym typeface="Helvetica Neue"/>
              </a:defRPr>
            </a:lvl1pPr>
          </a:lstStyle>
          <a:p>
            <a:pPr/>
            <a:r>
              <a:t>Title Text</a:t>
            </a:r>
          </a:p>
        </p:txBody>
      </p:sp>
      <p:sp>
        <p:nvSpPr>
          <p:cNvPr id="50"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losing">
    <p:bg>
      <p:bgPr>
        <a:solidFill>
          <a:srgbClr val="000000"/>
        </a:solidFill>
      </p:bgPr>
    </p:bg>
    <p:spTree>
      <p:nvGrpSpPr>
        <p:cNvPr id="1" name=""/>
        <p:cNvGrpSpPr/>
        <p:nvPr/>
      </p:nvGrpSpPr>
      <p:grpSpPr>
        <a:xfrm>
          <a:off x="0" y="0"/>
          <a:ext cx="0" cy="0"/>
          <a:chOff x="0" y="0"/>
          <a:chExt cx="0" cy="0"/>
        </a:xfrm>
      </p:grpSpPr>
      <p:sp>
        <p:nvSpPr>
          <p:cNvPr id="57" name="© 2021 Apple Inc.…"/>
          <p:cNvSpPr txBox="1"/>
          <p:nvPr/>
        </p:nvSpPr>
        <p:spPr>
          <a:xfrm>
            <a:off x="6628320" y="12982076"/>
            <a:ext cx="11127360" cy="553467"/>
          </a:xfrm>
          <a:prstGeom prst="rect">
            <a:avLst/>
          </a:prstGeom>
          <a:ln w="25400">
            <a:miter lim="400000"/>
          </a:ln>
          <a:extLst>
            <a:ext uri="{C572A759-6A51-4108-AA02-DFA0A04FC94B}">
              <ma14:wrappingTextBoxFlag xmlns:ma14="http://schemas.microsoft.com/office/mac/drawingml/2011/main" val="1"/>
            </a:ext>
          </a:extLst>
        </p:spPr>
        <p:txBody>
          <a:bodyPr wrap="none" lIns="63500" tIns="63500" rIns="63500" bIns="63500" anchor="ctr">
            <a:spAutoFit/>
          </a:bodyPr>
          <a:lstStyle/>
          <a:p>
            <a:pPr>
              <a:tabLst>
                <a:tab pos="1651000" algn="l"/>
              </a:tabLst>
              <a:defRPr sz="1500"/>
            </a:pPr>
            <a:r>
              <a:t>© 2021 Apple Inc. </a:t>
            </a:r>
          </a:p>
          <a:p>
            <a:pPr>
              <a:tabLst>
                <a:tab pos="1651000" algn="l"/>
              </a:tabLst>
              <a:defRPr sz="1500"/>
            </a:pPr>
            <a:r>
              <a:t>This work is licensed by Apple Inc. under the </a:t>
            </a:r>
            <a:r>
              <a:rPr>
                <a:hlinkClick r:id="rId2" invalidUrl="" action="" tgtFrame="" tooltip="" history="1" highlightClick="0" endSnd="0"/>
              </a:rPr>
              <a:t>Creative Commons Attribution-NonCommercial-ShareAlike 4.0 International</a:t>
            </a:r>
            <a:r>
              <a:t> license.</a:t>
            </a:r>
          </a:p>
        </p:txBody>
      </p:sp>
      <p:sp>
        <p:nvSpPr>
          <p:cNvPr id="58" name="Slide Number"/>
          <p:cNvSpPr/>
          <p:nvPr>
            <p:ph type="sldNum" sz="quarter" idx="2"/>
          </p:nvPr>
        </p:nvSpPr>
        <p:spPr>
          <a:xfrm>
            <a:off x="23963891" y="133350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292B38"/>
        </a:solidFill>
      </p:bgPr>
    </p:bg>
    <p:spTree>
      <p:nvGrpSpPr>
        <p:cNvPr id="1" name=""/>
        <p:cNvGrpSpPr/>
        <p:nvPr/>
      </p:nvGrpSpPr>
      <p:grpSpPr>
        <a:xfrm>
          <a:off x="0" y="0"/>
          <a:ext cx="0" cy="0"/>
          <a:chOff x="0" y="0"/>
          <a:chExt cx="0" cy="0"/>
        </a:xfrm>
      </p:grpSpPr>
      <p:sp>
        <p:nvSpPr>
          <p:cNvPr id="2" name="Body Level One…"/>
          <p:cNvSpPr txBox="1"/>
          <p:nvPr>
            <p:ph type="body" idx="1"/>
          </p:nvPr>
        </p:nvSpPr>
        <p:spPr>
          <a:xfrm>
            <a:off x="1524000" y="604741"/>
            <a:ext cx="21336000" cy="13914262"/>
          </a:xfrm>
          <a:prstGeom prst="rect">
            <a:avLst/>
          </a:prstGeom>
          <a:ln w="25400">
            <a:miter lim="400000"/>
          </a:ln>
          <a:extLst>
            <a:ext uri="{C572A759-6A51-4108-AA02-DFA0A04FC94B}">
              <ma14:wrappingTextBoxFlag xmlns:ma14="http://schemas.microsoft.com/office/mac/drawingml/2011/main" val="1"/>
            </a:ext>
          </a:extLst>
        </p:spPr>
        <p:txBody>
          <a:bodyPr lIns="57150" tIns="57150" rIns="57150" bIns="57150"/>
          <a:lstStyle/>
          <a:p>
            <a:pPr/>
            <a:r>
              <a:t>Body Level One</a:t>
            </a:r>
          </a:p>
          <a:p>
            <a:pPr lvl="1"/>
            <a:r>
              <a:t>Body Level Two</a:t>
            </a:r>
          </a:p>
          <a:p>
            <a:pPr lvl="2"/>
            <a:r>
              <a:t>Body Level Three</a:t>
            </a:r>
          </a:p>
          <a:p>
            <a:pPr lvl="3"/>
            <a:r>
              <a:t>Body Level Four</a:t>
            </a:r>
          </a:p>
          <a:p>
            <a:pPr lvl="4"/>
            <a:r>
              <a:t>Body Level Five</a:t>
            </a:r>
          </a:p>
        </p:txBody>
      </p:sp>
      <p:sp>
        <p:nvSpPr>
          <p:cNvPr id="3" name="Title Text"/>
          <p:cNvSpPr txBox="1"/>
          <p:nvPr>
            <p:ph type="title"/>
          </p:nvPr>
        </p:nvSpPr>
        <p:spPr>
          <a:xfrm>
            <a:off x="1524000" y="762000"/>
            <a:ext cx="21336000" cy="1409700"/>
          </a:xfrm>
          <a:prstGeom prst="rect">
            <a:avLst/>
          </a:prstGeom>
          <a:ln w="25400">
            <a:miter lim="400000"/>
          </a:ln>
          <a:extLst>
            <a:ext uri="{C572A759-6A51-4108-AA02-DFA0A04FC94B}">
              <ma14:wrappingTextBoxFlag xmlns:ma14="http://schemas.microsoft.com/office/mac/drawingml/2011/main" val="1"/>
            </a:ext>
          </a:extLst>
        </p:spPr>
        <p:txBody>
          <a:bodyPr lIns="0" tIns="0" rIns="0" bIns="0"/>
          <a:lstStyle/>
          <a:p>
            <a:pPr/>
            <a:r>
              <a:t>Title Text</a:t>
            </a:r>
          </a:p>
        </p:txBody>
      </p:sp>
      <p:sp>
        <p:nvSpPr>
          <p:cNvPr id="4" name="Slide Number"/>
          <p:cNvSpPr txBox="1"/>
          <p:nvPr>
            <p:ph type="sldNum" sz="quarter" idx="2"/>
          </p:nvPr>
        </p:nvSpPr>
        <p:spPr>
          <a:xfrm>
            <a:off x="22776924" y="14414500"/>
            <a:ext cx="381204" cy="387070"/>
          </a:xfrm>
          <a:prstGeom prst="rect">
            <a:avLst/>
          </a:prstGeom>
          <a:ln w="25400">
            <a:miter lim="400000"/>
          </a:ln>
        </p:spPr>
        <p:txBody>
          <a:bodyPr wrap="none" lIns="57150" tIns="57150" rIns="57150" bIns="57150">
            <a:spAutoFit/>
          </a:bodyPr>
          <a:lstStyle>
            <a:lvl1pPr algn="l" defTabSz="822960">
              <a:lnSpc>
                <a:spcPct val="120000"/>
              </a:lnSpc>
              <a:spcBef>
                <a:spcPts val="1600"/>
              </a:spcBef>
              <a:defRPr sz="1800">
                <a:solidFill>
                  <a:srgbClr val="A6B0C0"/>
                </a:solidFill>
                <a:latin typeface="Helvetica Neue Thin"/>
                <a:ea typeface="Helvetica Neue Thin"/>
                <a:cs typeface="Helvetica Neue Thin"/>
                <a:sym typeface="Helvetica Neue Thin"/>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transition xmlns:p14="http://schemas.microsoft.com/office/powerpoint/2010/main" spd="med" advClick="1"/>
  <p:txStyles>
    <p:titleStyle>
      <a:lvl1pPr marL="0" marR="0" indent="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1pPr>
      <a:lvl2pPr marL="0" marR="0" indent="2286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2pPr>
      <a:lvl3pPr marL="0" marR="0" indent="4572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3pPr>
      <a:lvl4pPr marL="0" marR="0" indent="6858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4pPr>
      <a:lvl5pPr marL="0" marR="0" indent="9144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5pPr>
      <a:lvl6pPr marL="0" marR="0" indent="11430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6pPr>
      <a:lvl7pPr marL="0" marR="0" indent="13716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7pPr>
      <a:lvl8pPr marL="0" marR="0" indent="16002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8pPr>
      <a:lvl9pPr marL="0" marR="0" indent="18288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9pPr>
    </p:titleStyle>
    <p:bodyStyle>
      <a:lvl1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1pPr>
      <a:lvl2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2pPr>
      <a:lvl3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3pPr>
      <a:lvl4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4pPr>
      <a:lvl5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5pPr>
      <a:lvl6pPr marL="0" marR="0" indent="11430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6pPr>
      <a:lvl7pPr marL="0" marR="0" indent="13716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7pPr>
      <a:lvl8pPr marL="0" marR="0" indent="16002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8pPr>
      <a:lvl9pPr marL="0" marR="0" indent="18288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9pPr>
    </p:bodyStyle>
    <p:otherStyle>
      <a:lvl1pPr marL="0" marR="0" indent="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1pPr>
      <a:lvl2pPr marL="0" marR="0" indent="2286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2pPr>
      <a:lvl3pPr marL="0" marR="0" indent="4572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3pPr>
      <a:lvl4pPr marL="0" marR="0" indent="6858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4pPr>
      <a:lvl5pPr marL="0" marR="0" indent="9144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5pPr>
      <a:lvl6pPr marL="0" marR="0" indent="11430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6pPr>
      <a:lvl7pPr marL="0" marR="0" indent="13716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7pPr>
      <a:lvl8pPr marL="0" marR="0" indent="16002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8pPr>
      <a:lvl9pPr marL="0" marR="0" indent="18288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68" name="Unit 2—Lesson 4:…"/>
          <p:cNvSpPr/>
          <p:nvPr>
            <p:ph type="title"/>
          </p:nvPr>
        </p:nvSpPr>
        <p:spPr>
          <a:prstGeom prst="rect">
            <a:avLst/>
          </a:prstGeom>
        </p:spPr>
        <p:txBody>
          <a:bodyPr/>
          <a:lstStyle/>
          <a:p>
            <a:pPr/>
            <a:r>
              <a:t>Unit 2—Lesson 4:</a:t>
            </a:r>
          </a:p>
          <a:p>
            <a:pPr/>
            <a:r>
              <a:t>Classes, Inheritance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Rectangle"/>
          <p:cNvSpPr/>
          <p:nvPr/>
        </p:nvSpPr>
        <p:spPr>
          <a:xfrm>
            <a:off x="1514561" y="816960"/>
            <a:ext cx="1212642" cy="523046"/>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73" name="class Person {…"/>
          <p:cNvSpPr txBox="1"/>
          <p:nvPr>
            <p:ph type="subTitle" idx="1"/>
          </p:nvPr>
        </p:nvSpPr>
        <p:spPr>
          <a:prstGeom prst="rect">
            <a:avLst/>
          </a:prstGeom>
        </p:spPr>
        <p:txBody>
          <a:bodyPr>
            <a:normAutofit fontScale="100000" lnSpcReduction="0"/>
          </a:bodyPr>
          <a:lstStyle/>
          <a:p>
            <a:pPr>
              <a:defRPr sz="3000"/>
            </a:pPr>
            <a:r>
              <a:rPr>
                <a:solidFill>
                  <a:srgbClr val="3DCCCC"/>
                </a:solidFill>
              </a:rPr>
              <a:t>class</a:t>
            </a:r>
            <a:r>
              <a:t> Person {</a:t>
            </a:r>
          </a:p>
          <a:p>
            <a:pPr>
              <a:defRPr sz="3000"/>
            </a:pPr>
            <a:r>
              <a:t>  </a:t>
            </a:r>
            <a:r>
              <a:rPr>
                <a:solidFill>
                  <a:srgbClr val="3DCCCC"/>
                </a:solidFill>
              </a:rPr>
              <a:t>let</a:t>
            </a:r>
            <a:r>
              <a:t> name: </a:t>
            </a:r>
            <a:r>
              <a:rPr>
                <a:solidFill>
                  <a:srgbClr val="6CCE66"/>
                </a:solidFill>
              </a:rPr>
              <a:t>String</a:t>
            </a:r>
          </a:p>
          <a:p>
            <a:pPr>
              <a:defRPr sz="3000"/>
            </a:pPr>
          </a:p>
          <a:p>
            <a:pPr>
              <a:defRPr sz="3000"/>
            </a:pPr>
            <a:r>
              <a:t>  </a:t>
            </a:r>
            <a:r>
              <a:rPr>
                <a:solidFill>
                  <a:srgbClr val="3DCCCC"/>
                </a:solidFill>
              </a:rPr>
              <a:t>init</a:t>
            </a:r>
            <a:r>
              <a:t>(name: </a:t>
            </a:r>
            <a:r>
              <a:rPr>
                <a:solidFill>
                  <a:srgbClr val="6CCE66"/>
                </a:solidFill>
              </a:rPr>
              <a:t>String</a:t>
            </a:r>
            <a:r>
              <a:t>) {</a:t>
            </a:r>
          </a:p>
          <a:p>
            <a:pPr>
              <a:defRPr sz="3000"/>
            </a:pPr>
            <a:r>
              <a:t>    </a:t>
            </a:r>
            <a:r>
              <a:rPr>
                <a:solidFill>
                  <a:srgbClr val="3DCCCC"/>
                </a:solidFill>
              </a:rPr>
              <a:t>self</a:t>
            </a:r>
            <a:r>
              <a:t>.</a:t>
            </a:r>
            <a:r>
              <a:rPr>
                <a:solidFill>
                  <a:srgbClr val="6CCE66"/>
                </a:solidFill>
              </a:rPr>
              <a:t>name</a:t>
            </a:r>
            <a:r>
              <a:t> = name</a:t>
            </a:r>
          </a:p>
          <a:p>
            <a:pPr>
              <a:defRPr sz="3000"/>
            </a:pPr>
            <a:r>
              <a:t>  }</a:t>
            </a:r>
          </a:p>
          <a:p>
            <a:pPr>
              <a:defRPr sz="3000"/>
            </a:pPr>
          </a:p>
          <a:p>
            <a:pPr>
              <a:defRPr sz="3000"/>
            </a:pPr>
            <a:r>
              <a:t>  </a:t>
            </a:r>
            <a:r>
              <a:rPr>
                <a:solidFill>
                  <a:srgbClr val="3DCCCC"/>
                </a:solidFill>
              </a:rPr>
              <a:t>func</a:t>
            </a:r>
            <a:r>
              <a:t> sayHello() {</a:t>
            </a:r>
          </a:p>
          <a:p>
            <a:pPr>
              <a:defRPr sz="3000"/>
            </a:pPr>
            <a:r>
              <a:t>    </a:t>
            </a:r>
            <a:r>
              <a:rPr>
                <a:solidFill>
                  <a:srgbClr val="6CCE66"/>
                </a:solidFill>
              </a:rPr>
              <a:t>print</a:t>
            </a:r>
            <a:r>
              <a:t>(</a:t>
            </a:r>
            <a:r>
              <a:rPr>
                <a:solidFill>
                  <a:srgbClr val="F95B57"/>
                </a:solidFill>
              </a:rPr>
              <a:t>"Hello there!"</a:t>
            </a:r>
            <a:r>
              <a:t>)</a:t>
            </a:r>
          </a:p>
          <a:p>
            <a:pPr>
              <a:defRPr sz="3000"/>
            </a:pPr>
            <a:r>
              <a:t>  }</a:t>
            </a:r>
          </a:p>
          <a:p>
            <a:pPr>
              <a:defRPr sz="3000"/>
            </a:pPr>
            <a:r>
              <a:t>}</a:t>
            </a:r>
          </a:p>
          <a:p>
            <a:pPr>
              <a:defRPr sz="3000"/>
            </a:pPr>
          </a:p>
          <a:p>
            <a:pPr>
              <a:defRPr sz="3000"/>
            </a:pPr>
            <a:r>
              <a:rPr>
                <a:solidFill>
                  <a:srgbClr val="3DCCCC"/>
                </a:solidFill>
              </a:rPr>
              <a:t>let</a:t>
            </a:r>
            <a:r>
              <a:t> person = </a:t>
            </a:r>
            <a:r>
              <a:rPr>
                <a:solidFill>
                  <a:srgbClr val="6CCE66"/>
                </a:solidFill>
              </a:rPr>
              <a:t>Person</a:t>
            </a:r>
            <a:r>
              <a:t>(name: </a:t>
            </a:r>
            <a:r>
              <a:rPr>
                <a:solidFill>
                  <a:srgbClr val="F95B57"/>
                </a:solidFill>
              </a:rPr>
              <a:t>"Jasmine"</a:t>
            </a:r>
            <a:r>
              <a:t>)</a:t>
            </a:r>
          </a:p>
          <a:p>
            <a:pPr>
              <a:defRPr sz="3000"/>
            </a:pPr>
            <a:r>
              <a:rPr>
                <a:solidFill>
                  <a:srgbClr val="6CCE66"/>
                </a:solidFill>
              </a:rPr>
              <a:t>print</a:t>
            </a:r>
            <a:r>
              <a:t>(</a:t>
            </a:r>
            <a:r>
              <a:rPr>
                <a:solidFill>
                  <a:srgbClr val="6CCE66"/>
                </a:solidFill>
              </a:rPr>
              <a:t>person</a:t>
            </a:r>
            <a:r>
              <a:t>.</a:t>
            </a:r>
            <a:r>
              <a:rPr>
                <a:solidFill>
                  <a:srgbClr val="6CCE66"/>
                </a:solidFill>
              </a:rPr>
              <a:t>name</a:t>
            </a:r>
            <a:r>
              <a:t>)</a:t>
            </a:r>
          </a:p>
          <a:p>
            <a:pPr>
              <a:defRPr sz="3000"/>
            </a:pPr>
            <a:r>
              <a:rPr>
                <a:solidFill>
                  <a:srgbClr val="6CCE66"/>
                </a:solidFill>
              </a:rPr>
              <a:t>person</a:t>
            </a:r>
            <a:r>
              <a:t>.</a:t>
            </a:r>
            <a:r>
              <a:rPr>
                <a:solidFill>
                  <a:srgbClr val="6CCE66"/>
                </a:solidFill>
              </a:rPr>
              <a:t>sayHello</a:t>
            </a:r>
            <a:r>
              <a:t>()</a:t>
            </a:r>
          </a:p>
          <a:p>
            <a:pPr>
              <a:defRPr sz="3000"/>
            </a:pPr>
          </a:p>
          <a:p>
            <a:pPr>
              <a:defRPr sz="3000"/>
            </a:pPr>
            <a:r>
              <a:t>Jasmine</a:t>
            </a:r>
          </a:p>
          <a:p>
            <a:pPr>
              <a:defRPr sz="3000"/>
            </a:pPr>
            <a:r>
              <a:t>Hello there!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78"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79" name="Inheritance"/>
          <p:cNvSpPr/>
          <p:nvPr>
            <p:ph type="title"/>
          </p:nvPr>
        </p:nvSpPr>
        <p:spPr>
          <a:prstGeom prst="rect">
            <a:avLst/>
          </a:prstGeom>
        </p:spPr>
        <p:txBody>
          <a:bodyPr/>
          <a:lstStyle/>
          <a:p>
            <a:pPr/>
            <a:r>
              <a:t>Inheritance</a:t>
            </a:r>
          </a:p>
        </p:txBody>
      </p:sp>
      <p:sp>
        <p:nvSpPr>
          <p:cNvPr id="80" name="Base class…"/>
          <p:cNvSpPr/>
          <p:nvPr>
            <p:ph type="body" idx="1"/>
          </p:nvPr>
        </p:nvSpPr>
        <p:spPr>
          <a:prstGeom prst="rect">
            <a:avLst/>
          </a:prstGeom>
        </p:spPr>
        <p:txBody>
          <a:bodyPr/>
          <a:lstStyle/>
          <a:p>
            <a:pPr marL="0" indent="0">
              <a:buSzTx/>
              <a:buNone/>
            </a:pPr>
            <a:r>
              <a:t>Base class</a:t>
            </a:r>
          </a:p>
          <a:p>
            <a:pPr marL="0" indent="0">
              <a:buSzTx/>
              <a:buNone/>
            </a:pPr>
            <a:r>
              <a:t>Subclass</a:t>
            </a:r>
          </a:p>
          <a:p>
            <a:pPr marL="0" indent="0">
              <a:buSzTx/>
              <a:buNone/>
            </a:pPr>
            <a:r>
              <a:t>Superclass</a:t>
            </a:r>
          </a:p>
        </p:txBody>
      </p:sp>
      <p:sp>
        <p:nvSpPr>
          <p:cNvPr id="81" name="Vehicle…"/>
          <p:cNvSpPr txBox="1"/>
          <p:nvPr/>
        </p:nvSpPr>
        <p:spPr>
          <a:xfrm>
            <a:off x="5428072" y="3916818"/>
            <a:ext cx="8016996" cy="8128001"/>
          </a:xfrm>
          <a:prstGeom prst="rect">
            <a:avLst/>
          </a:prstGeom>
          <a:ln w="25400">
            <a:miter lim="400000"/>
          </a:ln>
          <a:extLst>
            <a:ext uri="{C572A759-6A51-4108-AA02-DFA0A04FC94B}">
              <ma14:wrappingTextBoxFlag xmlns:ma14="http://schemas.microsoft.com/office/mac/drawingml/2011/main" val="1"/>
            </a:ext>
          </a:extLst>
        </p:spPr>
        <p:txBody>
          <a:bodyPr lIns="63500" tIns="63500" rIns="63500" bIns="63500"/>
          <a:lstStyle/>
          <a:p>
            <a:pPr lvl="1" indent="0" algn="l">
              <a:lnSpc>
                <a:spcPts val="5600"/>
              </a:lnSpc>
              <a:spcBef>
                <a:spcPts val="2800"/>
              </a:spcBef>
            </a:pPr>
            <a:r>
              <a:t> </a:t>
            </a:r>
            <a:r>
              <a:rPr sz="4200">
                <a:latin typeface="Menlo Regular"/>
                <a:ea typeface="Menlo Regular"/>
                <a:cs typeface="Menlo Regular"/>
                <a:sym typeface="Menlo Regular"/>
              </a:rPr>
              <a:t>Vehicle</a:t>
            </a:r>
            <a:endParaRPr sz="4200">
              <a:latin typeface="Menlo Regular"/>
              <a:ea typeface="Menlo Regular"/>
              <a:cs typeface="Menlo Regular"/>
              <a:sym typeface="Menlo Regular"/>
            </a:endParaRPr>
          </a:p>
          <a:p>
            <a:pPr algn="l">
              <a:lnSpc>
                <a:spcPts val="5600"/>
              </a:lnSpc>
              <a:spcBef>
                <a:spcPts val="2800"/>
              </a:spcBef>
            </a:pPr>
            <a:r>
              <a:t> </a:t>
            </a:r>
            <a:r>
              <a:rPr sz="4200">
                <a:latin typeface="Menlo Regular"/>
                <a:ea typeface="Menlo Regular"/>
                <a:cs typeface="Menlo Regular"/>
                <a:sym typeface="Menlo Regular"/>
              </a:rPr>
              <a:t>TandemBicycle</a:t>
            </a:r>
            <a:endParaRPr sz="4200">
              <a:latin typeface="Menlo Regular"/>
              <a:ea typeface="Menlo Regular"/>
              <a:cs typeface="Menlo Regular"/>
              <a:sym typeface="Menlo Regular"/>
            </a:endParaRPr>
          </a:p>
          <a:p>
            <a:pPr algn="l">
              <a:lnSpc>
                <a:spcPts val="5600"/>
              </a:lnSpc>
              <a:spcBef>
                <a:spcPts val="2800"/>
              </a:spcBef>
            </a:pPr>
            <a:r>
              <a:t> </a:t>
            </a:r>
            <a:r>
              <a:rPr sz="4200">
                <a:latin typeface="Menlo Regular"/>
                <a:ea typeface="Menlo Regular"/>
                <a:cs typeface="Menlo Regular"/>
                <a:sym typeface="Menlo Regular"/>
              </a:rPr>
              <a:t>Bicycle</a:t>
            </a:r>
            <a:endParaRPr sz="4200">
              <a:latin typeface="Menlo Regular"/>
              <a:ea typeface="Menlo Regular"/>
              <a:cs typeface="Menlo Regular"/>
              <a:sym typeface="Menlo Regular"/>
            </a:endParaR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 name="Rectangle"/>
          <p:cNvSpPr/>
          <p:nvPr/>
        </p:nvSpPr>
        <p:spPr>
          <a:xfrm>
            <a:off x="761517" y="12406111"/>
            <a:ext cx="22860968" cy="718261"/>
          </a:xfrm>
          <a:prstGeom prst="rect">
            <a:avLst/>
          </a:prstGeom>
          <a:solidFill>
            <a:srgbClr val="292B38"/>
          </a:solidFill>
          <a:ln w="25400">
            <a:miter lim="400000"/>
          </a:ln>
        </p:spPr>
        <p:txBody>
          <a:bodyPr lIns="63500" tIns="63500" rIns="63500" bIns="63500" anchor="ctr"/>
          <a:lstStyle/>
          <a:p>
            <a:pPr>
              <a:spcBef>
                <a:spcPts val="1200"/>
              </a:spcBef>
              <a:defRPr sz="3600">
                <a:solidFill>
                  <a:srgbClr val="F7F6FF"/>
                </a:solidFill>
              </a:defRPr>
            </a:pPr>
          </a:p>
        </p:txBody>
      </p:sp>
      <p:sp>
        <p:nvSpPr>
          <p:cNvPr id="86"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87" name="Defining a base clas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Defining a base class</a:t>
            </a:r>
          </a:p>
        </p:txBody>
      </p:sp>
      <p:sp>
        <p:nvSpPr>
          <p:cNvPr id="88" name="Rectangle"/>
          <p:cNvSpPr/>
          <p:nvPr/>
        </p:nvSpPr>
        <p:spPr>
          <a:xfrm>
            <a:off x="761516" y="3898900"/>
            <a:ext cx="22860968" cy="8045844"/>
          </a:xfrm>
          <a:prstGeom prst="rect">
            <a:avLst/>
          </a:prstGeom>
          <a:solidFill>
            <a:srgbClr val="292B38"/>
          </a:solidFill>
          <a:ln w="25400">
            <a:miter lim="400000"/>
          </a:ln>
        </p:spPr>
        <p:txBody>
          <a:bodyPr lIns="63500" tIns="63500" rIns="63500" bIns="63500" anchor="ctr"/>
          <a:lstStyle/>
          <a:p>
            <a:pPr>
              <a:spcBef>
                <a:spcPts val="1200"/>
              </a:spcBef>
              <a:defRPr sz="3600">
                <a:solidFill>
                  <a:srgbClr val="F7F6FF"/>
                </a:solidFill>
              </a:defRPr>
            </a:pPr>
          </a:p>
        </p:txBody>
      </p:sp>
      <p:sp>
        <p:nvSpPr>
          <p:cNvPr id="89" name="Inheritance"/>
          <p:cNvSpPr/>
          <p:nvPr>
            <p:ph type="title"/>
          </p:nvPr>
        </p:nvSpPr>
        <p:spPr>
          <a:prstGeom prst="rect">
            <a:avLst/>
          </a:prstGeom>
        </p:spPr>
        <p:txBody>
          <a:bodyPr/>
          <a:lstStyle/>
          <a:p>
            <a:pPr/>
            <a:r>
              <a:t>Inheritance</a:t>
            </a:r>
          </a:p>
        </p:txBody>
      </p:sp>
      <p:sp>
        <p:nvSpPr>
          <p:cNvPr id="90" name="class Vehicle {…"/>
          <p:cNvSpPr/>
          <p:nvPr>
            <p:ph type="body" idx="1"/>
          </p:nvPr>
        </p:nvSpPr>
        <p:spPr>
          <a:prstGeom prst="rect">
            <a:avLst/>
          </a:prstGeom>
        </p:spPr>
        <p:txBody>
          <a:bodyPr>
            <a:normAutofit fontScale="100000" lnSpcReduction="0"/>
          </a:bodyPr>
          <a:lstStyle/>
          <a:p>
            <a:pPr marL="0" indent="0" defTabSz="724204">
              <a:lnSpc>
                <a:spcPts val="4400"/>
              </a:lnSpc>
              <a:spcBef>
                <a:spcPts val="0"/>
              </a:spcBef>
              <a:buSzTx/>
              <a:buNone/>
              <a:defRPr spc="0" sz="2640">
                <a:latin typeface="Menlo Regular"/>
                <a:ea typeface="Menlo Regular"/>
                <a:cs typeface="Menlo Regular"/>
                <a:sym typeface="Menlo Regular"/>
              </a:defRPr>
            </a:pPr>
            <a:r>
              <a:rPr>
                <a:solidFill>
                  <a:srgbClr val="3DCCCC"/>
                </a:solidFill>
              </a:rPr>
              <a:t>class</a:t>
            </a:r>
            <a:r>
              <a:t> Vehicle {</a:t>
            </a:r>
          </a:p>
          <a:p>
            <a:pPr marL="0" indent="0" defTabSz="724204">
              <a:lnSpc>
                <a:spcPts val="4400"/>
              </a:lnSpc>
              <a:spcBef>
                <a:spcPts val="0"/>
              </a:spcBef>
              <a:buSzTx/>
              <a:buNone/>
              <a:defRPr spc="0" sz="2640">
                <a:latin typeface="Menlo Regular"/>
                <a:ea typeface="Menlo Regular"/>
                <a:cs typeface="Menlo Regular"/>
                <a:sym typeface="Menlo Regular"/>
              </a:defRPr>
            </a:pPr>
            <a:r>
              <a:t>   </a:t>
            </a:r>
            <a:r>
              <a:rPr>
                <a:solidFill>
                  <a:srgbClr val="3DCCCC"/>
                </a:solidFill>
              </a:rPr>
              <a:t>var</a:t>
            </a:r>
            <a:r>
              <a:t> currentSpeed = 0.0</a:t>
            </a:r>
          </a:p>
          <a:p>
            <a:pPr marL="0" indent="0" defTabSz="724204">
              <a:lnSpc>
                <a:spcPts val="4400"/>
              </a:lnSpc>
              <a:spcBef>
                <a:spcPts val="0"/>
              </a:spcBef>
              <a:buSzTx/>
              <a:buNone/>
              <a:defRPr spc="0" sz="2640">
                <a:latin typeface="Menlo Regular"/>
                <a:ea typeface="Menlo Regular"/>
                <a:cs typeface="Menlo Regular"/>
                <a:sym typeface="Menlo Regular"/>
              </a:defRPr>
            </a:pPr>
          </a:p>
          <a:p>
            <a:pPr marL="0" indent="0" defTabSz="724204">
              <a:lnSpc>
                <a:spcPts val="4400"/>
              </a:lnSpc>
              <a:spcBef>
                <a:spcPts val="0"/>
              </a:spcBef>
              <a:buSzTx/>
              <a:buNone/>
              <a:defRPr spc="0" sz="2640">
                <a:latin typeface="Menlo Regular"/>
                <a:ea typeface="Menlo Regular"/>
                <a:cs typeface="Menlo Regular"/>
                <a:sym typeface="Menlo Regular"/>
              </a:defRPr>
            </a:pPr>
            <a:r>
              <a:t>   </a:t>
            </a:r>
            <a:r>
              <a:rPr>
                <a:solidFill>
                  <a:srgbClr val="3DCCCC"/>
                </a:solidFill>
              </a:rPr>
              <a:t>var</a:t>
            </a:r>
            <a:r>
              <a:t> description: </a:t>
            </a:r>
            <a:r>
              <a:rPr>
                <a:solidFill>
                  <a:srgbClr val="6CCE66"/>
                </a:solidFill>
              </a:rPr>
              <a:t>String</a:t>
            </a:r>
            <a:r>
              <a:t> {</a:t>
            </a:r>
          </a:p>
          <a:p>
            <a:pPr marL="0" indent="0" defTabSz="724204">
              <a:lnSpc>
                <a:spcPts val="4400"/>
              </a:lnSpc>
              <a:spcBef>
                <a:spcPts val="0"/>
              </a:spcBef>
              <a:buSzTx/>
              <a:buNone/>
              <a:defRPr spc="0" sz="2640">
                <a:latin typeface="Menlo Regular"/>
                <a:ea typeface="Menlo Regular"/>
                <a:cs typeface="Menlo Regular"/>
                <a:sym typeface="Menlo Regular"/>
              </a:defRPr>
            </a:pPr>
            <a:r>
              <a:t>     </a:t>
            </a:r>
            <a:r>
              <a:rPr>
                <a:solidFill>
                  <a:srgbClr val="F95B57"/>
                </a:solidFill>
              </a:rPr>
              <a:t>"traveling at \(</a:t>
            </a:r>
            <a:r>
              <a:rPr>
                <a:solidFill>
                  <a:srgbClr val="6CCE66"/>
                </a:solidFill>
              </a:rPr>
              <a:t>currentSpeed</a:t>
            </a:r>
            <a:r>
              <a:rPr>
                <a:solidFill>
                  <a:srgbClr val="F95B57"/>
                </a:solidFill>
              </a:rPr>
              <a:t>) miles per hour"</a:t>
            </a:r>
            <a:endParaRPr>
              <a:solidFill>
                <a:srgbClr val="F95B57"/>
              </a:solidFill>
            </a:endParaRPr>
          </a:p>
          <a:p>
            <a:pPr marL="0" indent="0" defTabSz="724204">
              <a:lnSpc>
                <a:spcPts val="4400"/>
              </a:lnSpc>
              <a:spcBef>
                <a:spcPts val="0"/>
              </a:spcBef>
              <a:buSzTx/>
              <a:buNone/>
              <a:defRPr spc="0" sz="2640">
                <a:latin typeface="Menlo Regular"/>
                <a:ea typeface="Menlo Regular"/>
                <a:cs typeface="Menlo Regular"/>
                <a:sym typeface="Menlo Regular"/>
              </a:defRPr>
            </a:pPr>
            <a:r>
              <a:rPr>
                <a:solidFill>
                  <a:srgbClr val="F95B57"/>
                </a:solidFill>
              </a:rPr>
              <a:t>   </a:t>
            </a:r>
            <a:r>
              <a:t>}</a:t>
            </a:r>
          </a:p>
          <a:p>
            <a:pPr lvl="2" marL="0" indent="402336" defTabSz="724204">
              <a:lnSpc>
                <a:spcPts val="4400"/>
              </a:lnSpc>
              <a:spcBef>
                <a:spcPts val="0"/>
              </a:spcBef>
              <a:buSzTx/>
              <a:buNone/>
              <a:defRPr spc="0" sz="2640">
                <a:latin typeface="Menlo Regular"/>
                <a:ea typeface="Menlo Regular"/>
                <a:cs typeface="Menlo Regular"/>
                <a:sym typeface="Menlo Regular"/>
              </a:defRPr>
            </a:pPr>
          </a:p>
          <a:p>
            <a:pPr marL="0" indent="0" defTabSz="724204">
              <a:lnSpc>
                <a:spcPts val="4400"/>
              </a:lnSpc>
              <a:spcBef>
                <a:spcPts val="0"/>
              </a:spcBef>
              <a:buSzTx/>
              <a:buNone/>
              <a:defRPr spc="0" sz="2640">
                <a:latin typeface="Menlo Regular"/>
                <a:ea typeface="Menlo Regular"/>
                <a:cs typeface="Menlo Regular"/>
                <a:sym typeface="Menlo Regular"/>
              </a:defRPr>
            </a:pPr>
            <a:r>
              <a:t>   </a:t>
            </a:r>
            <a:r>
              <a:rPr>
                <a:solidFill>
                  <a:srgbClr val="3DCCCC"/>
                </a:solidFill>
              </a:rPr>
              <a:t>func</a:t>
            </a:r>
            <a:r>
              <a:t> makeNoise() { </a:t>
            </a:r>
          </a:p>
          <a:p>
            <a:pPr marL="0" indent="0" defTabSz="724204">
              <a:lnSpc>
                <a:spcPts val="4400"/>
              </a:lnSpc>
              <a:spcBef>
                <a:spcPts val="0"/>
              </a:spcBef>
              <a:buSzTx/>
              <a:buNone/>
              <a:defRPr spc="0" sz="2640">
                <a:latin typeface="Menlo Regular"/>
                <a:ea typeface="Menlo Regular"/>
                <a:cs typeface="Menlo Regular"/>
                <a:sym typeface="Menlo Regular"/>
              </a:defRPr>
            </a:pPr>
            <a:r>
              <a:t>      </a:t>
            </a:r>
            <a:r>
              <a:rPr>
                <a:solidFill>
                  <a:srgbClr val="979BB2"/>
                </a:solidFill>
              </a:rPr>
              <a:t>// do nothing - an arbitrary vehicle doesn't necessarily make a noise</a:t>
            </a:r>
            <a:endParaRPr>
              <a:solidFill>
                <a:srgbClr val="979BB2"/>
              </a:solidFill>
            </a:endParaRPr>
          </a:p>
          <a:p>
            <a:pPr marL="0" indent="0" defTabSz="724204">
              <a:lnSpc>
                <a:spcPts val="4400"/>
              </a:lnSpc>
              <a:spcBef>
                <a:spcPts val="0"/>
              </a:spcBef>
              <a:buSzTx/>
              <a:buNone/>
              <a:defRPr spc="0" sz="2640">
                <a:latin typeface="Menlo Regular"/>
                <a:ea typeface="Menlo Regular"/>
                <a:cs typeface="Menlo Regular"/>
                <a:sym typeface="Menlo Regular"/>
              </a:defRPr>
            </a:pPr>
            <a:r>
              <a:t>   }</a:t>
            </a:r>
          </a:p>
          <a:p>
            <a:pPr marL="0" indent="0" defTabSz="724204">
              <a:lnSpc>
                <a:spcPts val="4400"/>
              </a:lnSpc>
              <a:spcBef>
                <a:spcPts val="0"/>
              </a:spcBef>
              <a:buSzTx/>
              <a:buNone/>
              <a:defRPr spc="0" sz="2640">
                <a:latin typeface="Menlo Regular"/>
                <a:ea typeface="Menlo Regular"/>
                <a:cs typeface="Menlo Regular"/>
                <a:sym typeface="Menlo Regular"/>
              </a:defRPr>
            </a:pPr>
            <a:r>
              <a:t>}</a:t>
            </a:r>
          </a:p>
          <a:p>
            <a:pPr marL="0" indent="0" defTabSz="724204">
              <a:lnSpc>
                <a:spcPts val="4400"/>
              </a:lnSpc>
              <a:spcBef>
                <a:spcPts val="0"/>
              </a:spcBef>
              <a:buSzTx/>
              <a:buNone/>
              <a:defRPr spc="0" sz="2640">
                <a:latin typeface="Menlo Regular"/>
                <a:ea typeface="Menlo Regular"/>
                <a:cs typeface="Menlo Regular"/>
                <a:sym typeface="Menlo Regular"/>
              </a:defRPr>
            </a:pPr>
          </a:p>
          <a:p>
            <a:pPr marL="0" indent="0" defTabSz="724204">
              <a:lnSpc>
                <a:spcPts val="4400"/>
              </a:lnSpc>
              <a:spcBef>
                <a:spcPts val="0"/>
              </a:spcBef>
              <a:buSzTx/>
              <a:buNone/>
              <a:defRPr spc="0" sz="2640">
                <a:latin typeface="Menlo Regular"/>
                <a:ea typeface="Menlo Regular"/>
                <a:cs typeface="Menlo Regular"/>
                <a:sym typeface="Menlo Regular"/>
              </a:defRPr>
            </a:pPr>
            <a:r>
              <a:rPr>
                <a:solidFill>
                  <a:srgbClr val="3DCCCC"/>
                </a:solidFill>
              </a:rPr>
              <a:t>let</a:t>
            </a:r>
            <a:r>
              <a:t> someVehicle = </a:t>
            </a:r>
            <a:r>
              <a:rPr>
                <a:solidFill>
                  <a:srgbClr val="6CCE66"/>
                </a:solidFill>
              </a:rPr>
              <a:t>Vehicle</a:t>
            </a:r>
            <a:r>
              <a:t>()</a:t>
            </a:r>
          </a:p>
          <a:p>
            <a:pPr marL="0" indent="0" defTabSz="724204">
              <a:lnSpc>
                <a:spcPts val="4400"/>
              </a:lnSpc>
              <a:spcBef>
                <a:spcPts val="0"/>
              </a:spcBef>
              <a:buSzTx/>
              <a:buNone/>
              <a:defRPr spc="0" sz="2640">
                <a:latin typeface="Menlo Regular"/>
                <a:ea typeface="Menlo Regular"/>
                <a:cs typeface="Menlo Regular"/>
                <a:sym typeface="Menlo Regular"/>
              </a:defRPr>
            </a:pPr>
            <a:r>
              <a:rPr>
                <a:solidFill>
                  <a:srgbClr val="6CCE66"/>
                </a:solidFill>
              </a:rPr>
              <a:t>print</a:t>
            </a:r>
            <a:r>
              <a:t>(</a:t>
            </a:r>
            <a:r>
              <a:rPr>
                <a:solidFill>
                  <a:srgbClr val="F95B57"/>
                </a:solidFill>
              </a:rPr>
              <a:t>"Vehicle: \(</a:t>
            </a:r>
            <a:r>
              <a:t>someVehicle.description</a:t>
            </a:r>
            <a:r>
              <a:rPr>
                <a:solidFill>
                  <a:srgbClr val="F95B57"/>
                </a:solidFill>
              </a:rPr>
              <a:t>)"</a:t>
            </a:r>
            <a:r>
              <a:t>)</a:t>
            </a:r>
          </a:p>
          <a:p>
            <a:pPr marL="0" indent="0" defTabSz="724204">
              <a:lnSpc>
                <a:spcPts val="4400"/>
              </a:lnSpc>
              <a:spcBef>
                <a:spcPts val="0"/>
              </a:spcBef>
              <a:buSzTx/>
              <a:buNone/>
              <a:defRPr spc="0" sz="2640">
                <a:latin typeface="Menlo Regular"/>
                <a:ea typeface="Menlo Regular"/>
                <a:cs typeface="Menlo Regular"/>
                <a:sym typeface="Menlo Regular"/>
              </a:defRPr>
            </a:pPr>
          </a:p>
          <a:p>
            <a:pPr marL="0" indent="0" defTabSz="724204">
              <a:lnSpc>
                <a:spcPts val="4400"/>
              </a:lnSpc>
              <a:spcBef>
                <a:spcPts val="0"/>
              </a:spcBef>
              <a:buSzTx/>
              <a:buNone/>
              <a:defRPr spc="0" sz="2640">
                <a:latin typeface="Menlo Regular"/>
                <a:ea typeface="Menlo Regular"/>
                <a:cs typeface="Menlo Regular"/>
                <a:sym typeface="Menlo Regular"/>
              </a:defRPr>
            </a:pPr>
            <a:r>
              <a:t>Vehicle: traveling at 0.0 miles per hour</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95" name="Create a subclas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Create a subclass</a:t>
            </a:r>
          </a:p>
        </p:txBody>
      </p:sp>
      <p:sp>
        <p:nvSpPr>
          <p:cNvPr id="96" name="Rectangle"/>
          <p:cNvSpPr/>
          <p:nvPr/>
        </p:nvSpPr>
        <p:spPr>
          <a:xfrm>
            <a:off x="761516" y="3898900"/>
            <a:ext cx="22860968" cy="2303244"/>
          </a:xfrm>
          <a:prstGeom prst="rect">
            <a:avLst/>
          </a:prstGeom>
          <a:solidFill>
            <a:srgbClr val="292B38"/>
          </a:solidFill>
          <a:ln w="25400">
            <a:miter lim="400000"/>
          </a:ln>
        </p:spPr>
        <p:txBody>
          <a:bodyPr lIns="63500" tIns="63500" rIns="63500" bIns="63500" anchor="ctr"/>
          <a:lstStyle/>
          <a:p>
            <a:pPr>
              <a:spcBef>
                <a:spcPts val="1200"/>
              </a:spcBef>
              <a:defRPr sz="3600">
                <a:solidFill>
                  <a:srgbClr val="F7F6FF"/>
                </a:solidFill>
              </a:defRPr>
            </a:pPr>
          </a:p>
        </p:txBody>
      </p:sp>
      <p:sp>
        <p:nvSpPr>
          <p:cNvPr id="97" name="Rectangle"/>
          <p:cNvSpPr/>
          <p:nvPr/>
        </p:nvSpPr>
        <p:spPr>
          <a:xfrm>
            <a:off x="761517" y="6961409"/>
            <a:ext cx="22860968" cy="2303245"/>
          </a:xfrm>
          <a:prstGeom prst="rect">
            <a:avLst/>
          </a:prstGeom>
          <a:solidFill>
            <a:srgbClr val="292B38"/>
          </a:solidFill>
          <a:ln w="25400">
            <a:miter lim="400000"/>
          </a:ln>
        </p:spPr>
        <p:txBody>
          <a:bodyPr lIns="63500" tIns="63500" rIns="63500" bIns="63500" anchor="ctr"/>
          <a:lstStyle/>
          <a:p>
            <a:pPr>
              <a:spcBef>
                <a:spcPts val="1200"/>
              </a:spcBef>
              <a:defRPr sz="3600">
                <a:solidFill>
                  <a:srgbClr val="F7F6FF"/>
                </a:solidFill>
              </a:defRPr>
            </a:pPr>
          </a:p>
        </p:txBody>
      </p:sp>
      <p:sp>
        <p:nvSpPr>
          <p:cNvPr id="98" name="Inheritance"/>
          <p:cNvSpPr/>
          <p:nvPr>
            <p:ph type="title"/>
          </p:nvPr>
        </p:nvSpPr>
        <p:spPr>
          <a:prstGeom prst="rect">
            <a:avLst/>
          </a:prstGeom>
        </p:spPr>
        <p:txBody>
          <a:bodyPr/>
          <a:lstStyle/>
          <a:p>
            <a:pPr/>
            <a:r>
              <a:t>Inheritance</a:t>
            </a:r>
          </a:p>
        </p:txBody>
      </p:sp>
      <p:sp>
        <p:nvSpPr>
          <p:cNvPr id="99" name="Rectangle"/>
          <p:cNvSpPr/>
          <p:nvPr/>
        </p:nvSpPr>
        <p:spPr>
          <a:xfrm>
            <a:off x="5385005" y="4084265"/>
            <a:ext cx="3723412" cy="555544"/>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00" name="Rectangle"/>
          <p:cNvSpPr/>
          <p:nvPr/>
        </p:nvSpPr>
        <p:spPr>
          <a:xfrm>
            <a:off x="4190157" y="7278728"/>
            <a:ext cx="2217571" cy="555544"/>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01" name="class SomeSubclass: SomeSuperclass {…"/>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class</a:t>
            </a:r>
            <a:r>
              <a:t> SomeSubclass: </a:t>
            </a:r>
            <a:r>
              <a:rPr>
                <a:solidFill>
                  <a:srgbClr val="6CCE66"/>
                </a:solidFill>
              </a:rPr>
              <a:t>SomeSuperclass</a:t>
            </a:r>
            <a:r>
              <a:t> {</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979BB2"/>
                </a:solidFill>
              </a:rPr>
              <a:t>    // subclass definition goes here</a:t>
            </a:r>
            <a:endParaRPr>
              <a:solidFill>
                <a:srgbClr val="979BB2"/>
              </a:solidFill>
            </a:endParaRP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class</a:t>
            </a:r>
            <a:r>
              <a:t> Bicycle: </a:t>
            </a:r>
            <a:r>
              <a:rPr>
                <a:solidFill>
                  <a:srgbClr val="6CCE66"/>
                </a:solidFill>
              </a:rPr>
              <a:t>Vehicle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hasBasket = </a:t>
            </a:r>
            <a:r>
              <a:rPr>
                <a:solidFill>
                  <a:srgbClr val="3DCCCC"/>
                </a:solidFill>
              </a:rPr>
              <a:t>false</a:t>
            </a:r>
          </a:p>
          <a:p>
            <a:pPr marL="0" indent="0" defTabSz="822960">
              <a:lnSpc>
                <a:spcPts val="5000"/>
              </a:lnSpc>
              <a:spcBef>
                <a:spcPts val="0"/>
              </a:spcBef>
              <a:buSzTx/>
              <a:buNone/>
              <a:defRPr spc="0" sz="3000">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Rectangle"/>
          <p:cNvSpPr/>
          <p:nvPr/>
        </p:nvSpPr>
        <p:spPr>
          <a:xfrm>
            <a:off x="761517" y="10410342"/>
            <a:ext cx="22860968" cy="702912"/>
          </a:xfrm>
          <a:prstGeom prst="rect">
            <a:avLst/>
          </a:prstGeom>
          <a:solidFill>
            <a:srgbClr val="292B38"/>
          </a:solidFill>
          <a:ln w="25400">
            <a:miter lim="400000"/>
          </a:ln>
        </p:spPr>
        <p:txBody>
          <a:bodyPr lIns="63500" tIns="63500" rIns="63500" bIns="63500" anchor="ctr"/>
          <a:lstStyle/>
          <a:p>
            <a:pPr>
              <a:defRPr b="1"/>
            </a:pPr>
          </a:p>
        </p:txBody>
      </p:sp>
      <p:sp>
        <p:nvSpPr>
          <p:cNvPr id="106"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07" name="Create a subclas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Create a subclass</a:t>
            </a:r>
          </a:p>
        </p:txBody>
      </p:sp>
      <p:sp>
        <p:nvSpPr>
          <p:cNvPr id="108" name="Rectangle"/>
          <p:cNvSpPr/>
          <p:nvPr/>
        </p:nvSpPr>
        <p:spPr>
          <a:xfrm>
            <a:off x="761517" y="3835000"/>
            <a:ext cx="22860968" cy="6045999"/>
          </a:xfrm>
          <a:prstGeom prst="rect">
            <a:avLst/>
          </a:prstGeom>
          <a:solidFill>
            <a:srgbClr val="292B38"/>
          </a:solidFill>
          <a:ln w="25400">
            <a:miter lim="400000"/>
          </a:ln>
        </p:spPr>
        <p:txBody>
          <a:bodyPr lIns="63500" tIns="63500" rIns="63500" bIns="63500" anchor="ctr"/>
          <a:lstStyle/>
          <a:p>
            <a:pPr>
              <a:defRPr b="1"/>
            </a:pPr>
          </a:p>
        </p:txBody>
      </p:sp>
      <p:sp>
        <p:nvSpPr>
          <p:cNvPr id="109" name="Inheritance"/>
          <p:cNvSpPr/>
          <p:nvPr>
            <p:ph type="title"/>
          </p:nvPr>
        </p:nvSpPr>
        <p:spPr>
          <a:prstGeom prst="rect">
            <a:avLst/>
          </a:prstGeom>
        </p:spPr>
        <p:txBody>
          <a:bodyPr/>
          <a:lstStyle/>
          <a:p>
            <a:pPr/>
            <a:r>
              <a:t>Inheritance</a:t>
            </a:r>
          </a:p>
        </p:txBody>
      </p:sp>
      <p:sp>
        <p:nvSpPr>
          <p:cNvPr id="110" name="class Bicycle: Vehicle {…"/>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class</a:t>
            </a:r>
            <a:r>
              <a:t> Bicycle: </a:t>
            </a:r>
            <a:r>
              <a:rPr>
                <a:solidFill>
                  <a:srgbClr val="6CCE66"/>
                </a:solidFill>
              </a:rPr>
              <a:t>Vehicle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hasBasket = </a:t>
            </a:r>
            <a:r>
              <a:rPr>
                <a:solidFill>
                  <a:srgbClr val="3DCCCC"/>
                </a:solidFill>
              </a:rPr>
              <a:t>false</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bicycle = </a:t>
            </a:r>
            <a:r>
              <a:rPr>
                <a:solidFill>
                  <a:srgbClr val="6CCE66"/>
                </a:solidFill>
              </a:rPr>
              <a:t>Bicycle</a:t>
            </a:r>
            <a:r>
              <a:t>()</a:t>
            </a:r>
          </a:p>
          <a:p>
            <a:pPr marL="0" indent="0" defTabSz="822960">
              <a:lnSpc>
                <a:spcPts val="5000"/>
              </a:lnSpc>
              <a:spcBef>
                <a:spcPts val="0"/>
              </a:spcBef>
              <a:buSzTx/>
              <a:buNone/>
              <a:defRPr spc="0" sz="3000">
                <a:latin typeface="Menlo Regular"/>
                <a:ea typeface="Menlo Regular"/>
                <a:cs typeface="Menlo Regular"/>
                <a:sym typeface="Menlo Regular"/>
              </a:defRPr>
            </a:pPr>
            <a:r>
              <a:t>bicycle.</a:t>
            </a:r>
            <a:r>
              <a:rPr>
                <a:solidFill>
                  <a:srgbClr val="6CCE66"/>
                </a:solidFill>
              </a:rPr>
              <a:t>hasBasket</a:t>
            </a:r>
            <a:r>
              <a:t> = </a:t>
            </a:r>
            <a:r>
              <a:rPr>
                <a:solidFill>
                  <a:srgbClr val="3DCCCC"/>
                </a:solidFill>
              </a:rPr>
              <a:t>true</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bicycle.</a:t>
            </a:r>
            <a:r>
              <a:rPr>
                <a:solidFill>
                  <a:srgbClr val="6CCE66"/>
                </a:solidFill>
              </a:rPr>
              <a:t>currentSpeed</a:t>
            </a:r>
            <a:r>
              <a:t> = 15.0</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F95B57"/>
                </a:solidFill>
              </a:rPr>
              <a:t>"Bicycle: </a:t>
            </a:r>
            <a:r>
              <a:t>\</a:t>
            </a:r>
            <a:r>
              <a:rPr>
                <a:solidFill>
                  <a:srgbClr val="F95B57"/>
                </a:solidFill>
              </a:rPr>
              <a:t>(</a:t>
            </a:r>
            <a:r>
              <a:t>bicycle.</a:t>
            </a:r>
            <a:r>
              <a:rPr>
                <a:solidFill>
                  <a:srgbClr val="6CCE66"/>
                </a:solidFill>
              </a:rPr>
              <a:t>description</a:t>
            </a:r>
            <a:r>
              <a:rPr>
                <a:solidFill>
                  <a:srgbClr val="F95B57"/>
                </a:solidFill>
              </a:rPr>
              <a:t>)"</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Bicycle: traveling at 15.0 miles per hour</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15" name="Create a subclas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Create a subclass</a:t>
            </a:r>
          </a:p>
        </p:txBody>
      </p:sp>
      <p:sp>
        <p:nvSpPr>
          <p:cNvPr id="116" name="Rectangle"/>
          <p:cNvSpPr/>
          <p:nvPr/>
        </p:nvSpPr>
        <p:spPr>
          <a:xfrm>
            <a:off x="761516" y="3898900"/>
            <a:ext cx="22860968" cy="2197342"/>
          </a:xfrm>
          <a:prstGeom prst="rect">
            <a:avLst/>
          </a:prstGeom>
          <a:solidFill>
            <a:srgbClr val="292B38"/>
          </a:solidFill>
          <a:ln w="25400">
            <a:miter lim="400000"/>
          </a:ln>
        </p:spPr>
        <p:txBody>
          <a:bodyPr lIns="63500" tIns="63500" rIns="63500" bIns="63500" anchor="ctr"/>
          <a:lstStyle/>
          <a:p>
            <a:pPr/>
          </a:p>
        </p:txBody>
      </p:sp>
      <p:sp>
        <p:nvSpPr>
          <p:cNvPr id="117" name="Inheritance"/>
          <p:cNvSpPr/>
          <p:nvPr>
            <p:ph type="title"/>
          </p:nvPr>
        </p:nvSpPr>
        <p:spPr>
          <a:prstGeom prst="rect">
            <a:avLst/>
          </a:prstGeom>
        </p:spPr>
        <p:txBody>
          <a:bodyPr/>
          <a:lstStyle/>
          <a:p>
            <a:pPr/>
            <a:r>
              <a:t>Inheritance</a:t>
            </a:r>
          </a:p>
        </p:txBody>
      </p:sp>
      <p:sp>
        <p:nvSpPr>
          <p:cNvPr id="118" name="class Tandem: Bicycle {…"/>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class</a:t>
            </a:r>
            <a:r>
              <a:t> Tandem: </a:t>
            </a:r>
            <a:r>
              <a:rPr>
                <a:solidFill>
                  <a:srgbClr val="6CCE66"/>
                </a:solidFill>
              </a:rPr>
              <a:t>Bicycle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currentNumberOfPassengers = 0</a:t>
            </a:r>
          </a:p>
          <a:p>
            <a:pPr marL="0" indent="0" defTabSz="822960">
              <a:lnSpc>
                <a:spcPts val="5000"/>
              </a:lnSpc>
              <a:spcBef>
                <a:spcPts val="0"/>
              </a:spcBef>
              <a:buSzTx/>
              <a:buNone/>
              <a:defRPr spc="0" sz="3000">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23" name="Create a subclas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Create a subclass</a:t>
            </a:r>
          </a:p>
        </p:txBody>
      </p:sp>
      <p:sp>
        <p:nvSpPr>
          <p:cNvPr id="124" name="Rectangle"/>
          <p:cNvSpPr/>
          <p:nvPr/>
        </p:nvSpPr>
        <p:spPr>
          <a:xfrm>
            <a:off x="761517" y="10364435"/>
            <a:ext cx="22860968" cy="800131"/>
          </a:xfrm>
          <a:prstGeom prst="rect">
            <a:avLst/>
          </a:prstGeom>
          <a:solidFill>
            <a:srgbClr val="292B38"/>
          </a:solidFill>
          <a:ln w="25400">
            <a:miter lim="400000"/>
          </a:ln>
        </p:spPr>
        <p:txBody>
          <a:bodyPr lIns="63500" tIns="63500" rIns="63500" bIns="63500" anchor="ctr"/>
          <a:lstStyle/>
          <a:p>
            <a:pPr/>
          </a:p>
        </p:txBody>
      </p:sp>
      <p:sp>
        <p:nvSpPr>
          <p:cNvPr id="125" name="Rectangle"/>
          <p:cNvSpPr/>
          <p:nvPr/>
        </p:nvSpPr>
        <p:spPr>
          <a:xfrm>
            <a:off x="761516" y="3898900"/>
            <a:ext cx="22860968" cy="6104711"/>
          </a:xfrm>
          <a:prstGeom prst="rect">
            <a:avLst/>
          </a:prstGeom>
          <a:solidFill>
            <a:srgbClr val="292B38"/>
          </a:solidFill>
          <a:ln w="25400">
            <a:miter lim="400000"/>
          </a:ln>
        </p:spPr>
        <p:txBody>
          <a:bodyPr lIns="63500" tIns="63500" rIns="63500" bIns="63500" anchor="ctr"/>
          <a:lstStyle/>
          <a:p>
            <a:pPr/>
          </a:p>
        </p:txBody>
      </p:sp>
      <p:sp>
        <p:nvSpPr>
          <p:cNvPr id="126" name="Inheritance"/>
          <p:cNvSpPr/>
          <p:nvPr>
            <p:ph type="title"/>
          </p:nvPr>
        </p:nvSpPr>
        <p:spPr>
          <a:prstGeom prst="rect">
            <a:avLst/>
          </a:prstGeom>
        </p:spPr>
        <p:txBody>
          <a:bodyPr/>
          <a:lstStyle/>
          <a:p>
            <a:pPr/>
            <a:r>
              <a:t>Inheritance</a:t>
            </a:r>
          </a:p>
        </p:txBody>
      </p:sp>
      <p:sp>
        <p:nvSpPr>
          <p:cNvPr id="127" name="class Tandem: Bicycle {…"/>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class</a:t>
            </a:r>
            <a:r>
              <a:t> Tandem: </a:t>
            </a:r>
            <a:r>
              <a:rPr>
                <a:solidFill>
                  <a:srgbClr val="6CCE66"/>
                </a:solidFill>
              </a:rPr>
              <a:t>Bicycle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currentNumberOfPassengers = 0</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tandem = </a:t>
            </a:r>
            <a:r>
              <a:rPr>
                <a:solidFill>
                  <a:srgbClr val="6CCE66"/>
                </a:solidFill>
              </a:rPr>
              <a:t>Tandem</a:t>
            </a:r>
            <a:r>
              <a:t>()</a:t>
            </a:r>
          </a:p>
          <a:p>
            <a:pPr marL="0" indent="0" defTabSz="822960">
              <a:lnSpc>
                <a:spcPts val="5000"/>
              </a:lnSpc>
              <a:spcBef>
                <a:spcPts val="0"/>
              </a:spcBef>
              <a:buSzTx/>
              <a:buNone/>
              <a:defRPr spc="0" sz="3000">
                <a:latin typeface="Menlo Regular"/>
                <a:ea typeface="Menlo Regular"/>
                <a:cs typeface="Menlo Regular"/>
                <a:sym typeface="Menlo Regular"/>
              </a:defRPr>
            </a:pPr>
            <a:r>
              <a:t>tandem.</a:t>
            </a:r>
            <a:r>
              <a:rPr>
                <a:solidFill>
                  <a:srgbClr val="6CCE66"/>
                </a:solidFill>
              </a:rPr>
              <a:t>hasBasket</a:t>
            </a:r>
            <a:r>
              <a:t> = true</a:t>
            </a:r>
          </a:p>
          <a:p>
            <a:pPr marL="0" indent="0" defTabSz="822960">
              <a:lnSpc>
                <a:spcPts val="5000"/>
              </a:lnSpc>
              <a:spcBef>
                <a:spcPts val="0"/>
              </a:spcBef>
              <a:buSzTx/>
              <a:buNone/>
              <a:defRPr spc="0" sz="3000">
                <a:latin typeface="Menlo Regular"/>
                <a:ea typeface="Menlo Regular"/>
                <a:cs typeface="Menlo Regular"/>
                <a:sym typeface="Menlo Regular"/>
              </a:defRPr>
            </a:pPr>
            <a:r>
              <a:t>tandem.</a:t>
            </a:r>
            <a:r>
              <a:rPr>
                <a:solidFill>
                  <a:srgbClr val="6CCE66"/>
                </a:solidFill>
              </a:rPr>
              <a:t>currentNumberOfPassengers</a:t>
            </a:r>
            <a:r>
              <a:t> = 2</a:t>
            </a:r>
          </a:p>
          <a:p>
            <a:pPr marL="0" indent="0" defTabSz="822960">
              <a:lnSpc>
                <a:spcPts val="5000"/>
              </a:lnSpc>
              <a:spcBef>
                <a:spcPts val="0"/>
              </a:spcBef>
              <a:buSzTx/>
              <a:buNone/>
              <a:defRPr spc="0" sz="3000">
                <a:latin typeface="Menlo Regular"/>
                <a:ea typeface="Menlo Regular"/>
                <a:cs typeface="Menlo Regular"/>
                <a:sym typeface="Menlo Regular"/>
              </a:defRPr>
            </a:pPr>
            <a:r>
              <a:t>tandem.</a:t>
            </a:r>
            <a:r>
              <a:rPr>
                <a:solidFill>
                  <a:srgbClr val="6CCE66"/>
                </a:solidFill>
              </a:rPr>
              <a:t>currentSpeed</a:t>
            </a:r>
            <a:r>
              <a:t> = 22.0</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F95B57"/>
                </a:solidFill>
              </a:rPr>
              <a:t>"Tandem: </a:t>
            </a:r>
            <a:r>
              <a:t>\</a:t>
            </a:r>
            <a:r>
              <a:rPr>
                <a:solidFill>
                  <a:srgbClr val="F95B57"/>
                </a:solidFill>
              </a:rPr>
              <a:t>(</a:t>
            </a:r>
            <a:r>
              <a:t>tandem.</a:t>
            </a:r>
            <a:r>
              <a:rPr>
                <a:solidFill>
                  <a:srgbClr val="6CCE66"/>
                </a:solidFill>
              </a:rPr>
              <a:t>description</a:t>
            </a:r>
            <a:r>
              <a:rPr>
                <a:solidFill>
                  <a:srgbClr val="F95B57"/>
                </a:solidFill>
              </a:rPr>
              <a:t>)"</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Tandem: traveling at 22.0 miles per hour</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32" name="Override methods and propertie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Override methods and properties</a:t>
            </a:r>
          </a:p>
        </p:txBody>
      </p:sp>
      <p:sp>
        <p:nvSpPr>
          <p:cNvPr id="133" name="Rectangle"/>
          <p:cNvSpPr/>
          <p:nvPr/>
        </p:nvSpPr>
        <p:spPr>
          <a:xfrm>
            <a:off x="761517" y="9714190"/>
            <a:ext cx="22860968" cy="800130"/>
          </a:xfrm>
          <a:prstGeom prst="rect">
            <a:avLst/>
          </a:prstGeom>
          <a:solidFill>
            <a:srgbClr val="292B38"/>
          </a:solidFill>
          <a:ln w="25400">
            <a:miter lim="400000"/>
          </a:ln>
        </p:spPr>
        <p:txBody>
          <a:bodyPr lIns="63500" tIns="63500" rIns="63500" bIns="63500" anchor="ctr"/>
          <a:lstStyle/>
          <a:p>
            <a:pPr/>
          </a:p>
        </p:txBody>
      </p:sp>
      <p:sp>
        <p:nvSpPr>
          <p:cNvPr id="134" name="Rectangle"/>
          <p:cNvSpPr/>
          <p:nvPr/>
        </p:nvSpPr>
        <p:spPr>
          <a:xfrm>
            <a:off x="761516" y="3898900"/>
            <a:ext cx="22860968" cy="5457416"/>
          </a:xfrm>
          <a:prstGeom prst="rect">
            <a:avLst/>
          </a:prstGeom>
          <a:solidFill>
            <a:srgbClr val="292B38"/>
          </a:solidFill>
          <a:ln w="25400">
            <a:miter lim="400000"/>
          </a:ln>
        </p:spPr>
        <p:txBody>
          <a:bodyPr lIns="63500" tIns="63500" rIns="63500" bIns="63500" anchor="ctr"/>
          <a:lstStyle/>
          <a:p>
            <a:pPr/>
          </a:p>
        </p:txBody>
      </p:sp>
      <p:sp>
        <p:nvSpPr>
          <p:cNvPr id="135" name="Inheritance"/>
          <p:cNvSpPr/>
          <p:nvPr>
            <p:ph type="title"/>
          </p:nvPr>
        </p:nvSpPr>
        <p:spPr>
          <a:prstGeom prst="rect">
            <a:avLst/>
          </a:prstGeom>
        </p:spPr>
        <p:txBody>
          <a:bodyPr/>
          <a:lstStyle/>
          <a:p>
            <a:pPr/>
            <a:r>
              <a:t>Inheritance</a:t>
            </a:r>
          </a:p>
        </p:txBody>
      </p:sp>
      <p:sp>
        <p:nvSpPr>
          <p:cNvPr id="136" name="class Train: Vehicle {…"/>
          <p:cNvSpPr/>
          <p:nvPr>
            <p:ph type="body" idx="1"/>
          </p:nvPr>
        </p:nvSpPr>
        <p:spPr>
          <a:prstGeom prst="rect">
            <a:avLst/>
          </a:prstGeom>
        </p:spPr>
        <p:txBody>
          <a:bodyPr>
            <a:normAutofit fontScale="100000" lnSpcReduction="0"/>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class</a:t>
            </a:r>
            <a:r>
              <a:t> Train: </a:t>
            </a:r>
            <a:r>
              <a:rPr>
                <a:solidFill>
                  <a:srgbClr val="6CCE66"/>
                </a:solidFill>
              </a:rPr>
              <a:t>Vehicle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override func</a:t>
            </a:r>
            <a:r>
              <a:t> makeNoise()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"Choo Choo!"</a:t>
            </a:r>
            <a:r>
              <a:t>)</a:t>
            </a:r>
          </a:p>
          <a:p>
            <a:pPr marL="0" indent="0" defTabSz="822960">
              <a:lnSpc>
                <a:spcPts val="5000"/>
              </a:lnSpc>
              <a:spcBef>
                <a:spcPts val="0"/>
              </a:spcBef>
              <a:buSzTx/>
              <a:buNone/>
              <a:defRPr spc="0" sz="3000">
                <a:latin typeface="Menlo Regular"/>
                <a:ea typeface="Menlo Regular"/>
                <a:cs typeface="Menlo Regular"/>
                <a:sym typeface="Menlo Regular"/>
              </a:defRPr>
            </a:pPr>
            <a:r>
              <a:t>    }</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train = </a:t>
            </a:r>
            <a:r>
              <a:rPr>
                <a:solidFill>
                  <a:srgbClr val="6CCE66"/>
                </a:solidFill>
              </a:rPr>
              <a:t>Train</a:t>
            </a:r>
            <a:r>
              <a:t>()</a:t>
            </a:r>
          </a:p>
          <a:p>
            <a:pPr marL="0" indent="0" defTabSz="822960">
              <a:lnSpc>
                <a:spcPts val="5000"/>
              </a:lnSpc>
              <a:spcBef>
                <a:spcPts val="0"/>
              </a:spcBef>
              <a:buSzTx/>
              <a:buNone/>
              <a:defRPr spc="0" sz="3000">
                <a:latin typeface="Menlo Regular"/>
                <a:ea typeface="Menlo Regular"/>
                <a:cs typeface="Menlo Regular"/>
                <a:sym typeface="Menlo Regular"/>
              </a:defRPr>
            </a:pPr>
            <a:r>
              <a:t>train.</a:t>
            </a:r>
            <a:r>
              <a:rPr>
                <a:solidFill>
                  <a:srgbClr val="6CCE66"/>
                </a:solidFill>
              </a:rPr>
              <a:t>makeNoise</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Choo Choo!</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41" name="Override methods and propertie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Override methods and properties</a:t>
            </a:r>
          </a:p>
        </p:txBody>
      </p:sp>
      <p:sp>
        <p:nvSpPr>
          <p:cNvPr id="142" name="Rectangle"/>
          <p:cNvSpPr/>
          <p:nvPr/>
        </p:nvSpPr>
        <p:spPr>
          <a:xfrm>
            <a:off x="761516" y="3898900"/>
            <a:ext cx="22860968" cy="4019936"/>
          </a:xfrm>
          <a:prstGeom prst="rect">
            <a:avLst/>
          </a:prstGeom>
          <a:solidFill>
            <a:srgbClr val="292B38"/>
          </a:solidFill>
          <a:ln w="25400">
            <a:miter lim="400000"/>
          </a:ln>
        </p:spPr>
        <p:txBody>
          <a:bodyPr lIns="63500" tIns="63500" rIns="63500" bIns="63500" anchor="ctr"/>
          <a:lstStyle/>
          <a:p>
            <a:pPr/>
          </a:p>
        </p:txBody>
      </p:sp>
      <p:sp>
        <p:nvSpPr>
          <p:cNvPr id="143" name="Inheritance"/>
          <p:cNvSpPr/>
          <p:nvPr>
            <p:ph type="title"/>
          </p:nvPr>
        </p:nvSpPr>
        <p:spPr>
          <a:prstGeom prst="rect">
            <a:avLst/>
          </a:prstGeom>
        </p:spPr>
        <p:txBody>
          <a:bodyPr/>
          <a:lstStyle/>
          <a:p>
            <a:pPr/>
            <a:r>
              <a:t>Inheritance</a:t>
            </a:r>
          </a:p>
        </p:txBody>
      </p:sp>
      <p:sp>
        <p:nvSpPr>
          <p:cNvPr id="144" name="class Car: Vehicle {…"/>
          <p:cNvSpPr/>
          <p:nvPr>
            <p:ph type="body" idx="1"/>
          </p:nvPr>
        </p:nvSpPr>
        <p:spPr>
          <a:prstGeom prst="rect">
            <a:avLst/>
          </a:prstGeom>
        </p:spPr>
        <p:txBody>
          <a:bodyPr>
            <a:normAutofit fontScale="100000" lnSpcReduction="0"/>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class</a:t>
            </a:r>
            <a:r>
              <a:t> Car: </a:t>
            </a:r>
            <a:r>
              <a:rPr>
                <a:solidFill>
                  <a:srgbClr val="6CCE66"/>
                </a:solidFill>
              </a:rPr>
              <a:t>Vehicle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gear = 1</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override</a:t>
            </a:r>
            <a:r>
              <a:t> </a:t>
            </a:r>
            <a:r>
              <a:rPr>
                <a:solidFill>
                  <a:srgbClr val="3DCCCC"/>
                </a:solidFill>
              </a:rPr>
              <a:t>var</a:t>
            </a:r>
            <a:r>
              <a:t> description: </a:t>
            </a:r>
            <a:r>
              <a:rPr>
                <a:solidFill>
                  <a:srgbClr val="6CCE66"/>
                </a:solidFill>
              </a:rPr>
              <a:t>String</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super</a:t>
            </a:r>
            <a:r>
              <a:t>.</a:t>
            </a:r>
            <a:r>
              <a:rPr>
                <a:solidFill>
                  <a:srgbClr val="6CCE66"/>
                </a:solidFill>
              </a:rPr>
              <a:t>description</a:t>
            </a:r>
            <a:r>
              <a:t> + </a:t>
            </a:r>
            <a:r>
              <a:rPr>
                <a:solidFill>
                  <a:srgbClr val="F95B57"/>
                </a:solidFill>
              </a:rPr>
              <a:t>" in gear </a:t>
            </a:r>
            <a:r>
              <a:t>\</a:t>
            </a:r>
            <a:r>
              <a:rPr>
                <a:solidFill>
                  <a:srgbClr val="F95B57"/>
                </a:solidFill>
              </a:rPr>
              <a:t>(</a:t>
            </a:r>
            <a:r>
              <a:rPr>
                <a:solidFill>
                  <a:srgbClr val="6CCE66"/>
                </a:solidFill>
              </a:rPr>
              <a:t>gear</a:t>
            </a:r>
            <a:r>
              <a:rPr>
                <a:solidFill>
                  <a:srgbClr val="F95B57"/>
                </a:solidFill>
              </a:rPr>
              <a:t>)"</a:t>
            </a:r>
          </a:p>
          <a:p>
            <a:pPr marL="0" indent="0" defTabSz="822960">
              <a:lnSpc>
                <a:spcPts val="5000"/>
              </a:lnSpc>
              <a:spcBef>
                <a:spcPts val="0"/>
              </a:spcBef>
              <a:buSzTx/>
              <a:buNone/>
              <a:defRPr spc="0" sz="3000">
                <a:latin typeface="Menlo Regular"/>
                <a:ea typeface="Menlo Regular"/>
                <a:cs typeface="Menlo Regular"/>
                <a:sym typeface="Menlo Regular"/>
              </a:defRPr>
            </a:pPr>
            <a:r>
              <a:t>    }</a:t>
            </a:r>
          </a:p>
          <a:p>
            <a:pPr marL="0" indent="0" defTabSz="822960">
              <a:lnSpc>
                <a:spcPts val="5000"/>
              </a:lnSpc>
              <a:spcBef>
                <a:spcPts val="0"/>
              </a:spcBef>
              <a:buSzTx/>
              <a:buNone/>
              <a:defRPr spc="0" sz="3000">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49" name="Override methods and propertie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Override methods and properties</a:t>
            </a:r>
          </a:p>
        </p:txBody>
      </p:sp>
      <p:sp>
        <p:nvSpPr>
          <p:cNvPr id="150" name="Rectangle"/>
          <p:cNvSpPr/>
          <p:nvPr/>
        </p:nvSpPr>
        <p:spPr>
          <a:xfrm>
            <a:off x="761517" y="11627447"/>
            <a:ext cx="22860968" cy="812657"/>
          </a:xfrm>
          <a:prstGeom prst="rect">
            <a:avLst/>
          </a:prstGeom>
          <a:solidFill>
            <a:srgbClr val="292B38"/>
          </a:solidFill>
          <a:ln w="25400">
            <a:miter lim="400000"/>
          </a:ln>
        </p:spPr>
        <p:txBody>
          <a:bodyPr lIns="63500" tIns="63500" rIns="63500" bIns="63500" anchor="ctr"/>
          <a:lstStyle/>
          <a:p>
            <a:pPr/>
          </a:p>
        </p:txBody>
      </p:sp>
      <p:sp>
        <p:nvSpPr>
          <p:cNvPr id="151" name="Rectangle"/>
          <p:cNvSpPr/>
          <p:nvPr/>
        </p:nvSpPr>
        <p:spPr>
          <a:xfrm>
            <a:off x="761516" y="3898900"/>
            <a:ext cx="22860968" cy="7438362"/>
          </a:xfrm>
          <a:prstGeom prst="rect">
            <a:avLst/>
          </a:prstGeom>
          <a:solidFill>
            <a:srgbClr val="292B38"/>
          </a:solidFill>
          <a:ln w="25400">
            <a:miter lim="400000"/>
          </a:ln>
        </p:spPr>
        <p:txBody>
          <a:bodyPr lIns="63500" tIns="63500" rIns="63500" bIns="63500" anchor="ctr"/>
          <a:lstStyle/>
          <a:p>
            <a:pPr/>
          </a:p>
        </p:txBody>
      </p:sp>
      <p:sp>
        <p:nvSpPr>
          <p:cNvPr id="152" name="Inheritance"/>
          <p:cNvSpPr/>
          <p:nvPr>
            <p:ph type="title"/>
          </p:nvPr>
        </p:nvSpPr>
        <p:spPr>
          <a:prstGeom prst="rect">
            <a:avLst/>
          </a:prstGeom>
        </p:spPr>
        <p:txBody>
          <a:bodyPr/>
          <a:lstStyle/>
          <a:p>
            <a:pPr/>
            <a:r>
              <a:t>Inheritance</a:t>
            </a:r>
          </a:p>
        </p:txBody>
      </p:sp>
      <p:sp>
        <p:nvSpPr>
          <p:cNvPr id="153" name="class Car: Vehicle {…"/>
          <p:cNvSpPr/>
          <p:nvPr>
            <p:ph type="body" idx="1"/>
          </p:nvPr>
        </p:nvSpPr>
        <p:spPr>
          <a:prstGeom prst="rect">
            <a:avLst/>
          </a:prstGeom>
        </p:spPr>
        <p:txBody>
          <a:bodyPr>
            <a:normAutofit fontScale="100000" lnSpcReduction="0"/>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class</a:t>
            </a:r>
            <a:r>
              <a:t> Car: </a:t>
            </a:r>
            <a:r>
              <a:rPr>
                <a:solidFill>
                  <a:srgbClr val="6CCE66"/>
                </a:solidFill>
              </a:rPr>
              <a:t>Vehicle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gear = 1</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override</a:t>
            </a:r>
            <a:r>
              <a:t> </a:t>
            </a:r>
            <a:r>
              <a:rPr>
                <a:solidFill>
                  <a:srgbClr val="3DCCCC"/>
                </a:solidFill>
              </a:rPr>
              <a:t>var</a:t>
            </a:r>
            <a:r>
              <a:t> description: </a:t>
            </a:r>
            <a:r>
              <a:rPr>
                <a:solidFill>
                  <a:srgbClr val="6CCE66"/>
                </a:solidFill>
              </a:rPr>
              <a:t>String</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super</a:t>
            </a:r>
            <a:r>
              <a:t>.</a:t>
            </a:r>
            <a:r>
              <a:rPr>
                <a:solidFill>
                  <a:srgbClr val="6CCE66"/>
                </a:solidFill>
              </a:rPr>
              <a:t>description</a:t>
            </a:r>
            <a:r>
              <a:t> + </a:t>
            </a:r>
            <a:r>
              <a:rPr>
                <a:solidFill>
                  <a:srgbClr val="F95B57"/>
                </a:solidFill>
              </a:rPr>
              <a:t>" in gear </a:t>
            </a:r>
            <a:r>
              <a:t>\</a:t>
            </a:r>
            <a:r>
              <a:rPr>
                <a:solidFill>
                  <a:srgbClr val="F95B57"/>
                </a:solidFill>
              </a:rPr>
              <a:t>(</a:t>
            </a:r>
            <a:r>
              <a:rPr>
                <a:solidFill>
                  <a:srgbClr val="6CCE66"/>
                </a:solidFill>
              </a:rPr>
              <a:t>gear</a:t>
            </a:r>
            <a:r>
              <a:rPr>
                <a:solidFill>
                  <a:srgbClr val="F95B57"/>
                </a:solidFill>
              </a:rPr>
              <a:t>)"</a:t>
            </a:r>
          </a:p>
          <a:p>
            <a:pPr marL="0" indent="0" defTabSz="822960">
              <a:lnSpc>
                <a:spcPts val="5000"/>
              </a:lnSpc>
              <a:spcBef>
                <a:spcPts val="0"/>
              </a:spcBef>
              <a:buSzTx/>
              <a:buNone/>
              <a:defRPr spc="0" sz="3000">
                <a:latin typeface="Menlo Regular"/>
                <a:ea typeface="Menlo Regular"/>
                <a:cs typeface="Menlo Regular"/>
                <a:sym typeface="Menlo Regular"/>
              </a:defRPr>
            </a:pPr>
            <a:r>
              <a:t>    }</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car = </a:t>
            </a:r>
            <a:r>
              <a:rPr>
                <a:solidFill>
                  <a:srgbClr val="6CCE66"/>
                </a:solidFill>
              </a:rPr>
              <a:t>Car</a:t>
            </a:r>
            <a:r>
              <a:t>()</a:t>
            </a:r>
          </a:p>
          <a:p>
            <a:pPr marL="0" indent="0" defTabSz="822960">
              <a:lnSpc>
                <a:spcPts val="5000"/>
              </a:lnSpc>
              <a:spcBef>
                <a:spcPts val="0"/>
              </a:spcBef>
              <a:buSzTx/>
              <a:buNone/>
              <a:defRPr spc="0" sz="3000">
                <a:latin typeface="Menlo Regular"/>
                <a:ea typeface="Menlo Regular"/>
                <a:cs typeface="Menlo Regular"/>
                <a:sym typeface="Menlo Regular"/>
              </a:defRPr>
            </a:pPr>
            <a:r>
              <a:t>car.</a:t>
            </a:r>
            <a:r>
              <a:rPr>
                <a:solidFill>
                  <a:srgbClr val="6CCE66"/>
                </a:solidFill>
              </a:rPr>
              <a:t>currentSpeed</a:t>
            </a:r>
            <a:r>
              <a:t> = 25.0</a:t>
            </a:r>
          </a:p>
          <a:p>
            <a:pPr marL="0" indent="0" defTabSz="822960">
              <a:lnSpc>
                <a:spcPts val="5000"/>
              </a:lnSpc>
              <a:spcBef>
                <a:spcPts val="0"/>
              </a:spcBef>
              <a:buSzTx/>
              <a:buNone/>
              <a:defRPr spc="0" sz="3000">
                <a:latin typeface="Menlo Regular"/>
                <a:ea typeface="Menlo Regular"/>
                <a:cs typeface="Menlo Regular"/>
                <a:sym typeface="Menlo Regular"/>
              </a:defRPr>
            </a:pPr>
            <a:r>
              <a:t>car.</a:t>
            </a:r>
            <a:r>
              <a:rPr>
                <a:solidFill>
                  <a:srgbClr val="6CCE66"/>
                </a:solidFill>
              </a:rPr>
              <a:t>gear</a:t>
            </a:r>
            <a:r>
              <a:t> = 3</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F95B57"/>
                </a:solidFill>
              </a:rPr>
              <a:t>"Car:</a:t>
            </a:r>
            <a:r>
              <a:t> \</a:t>
            </a:r>
            <a:r>
              <a:rPr>
                <a:solidFill>
                  <a:srgbClr val="F95B57"/>
                </a:solidFill>
              </a:rPr>
              <a:t>(</a:t>
            </a:r>
            <a:r>
              <a:t>car.</a:t>
            </a:r>
            <a:r>
              <a:rPr>
                <a:solidFill>
                  <a:srgbClr val="6CCE66"/>
                </a:solidFill>
              </a:rPr>
              <a:t>description</a:t>
            </a:r>
            <a:r>
              <a:rPr>
                <a:solidFill>
                  <a:srgbClr val="F95B57"/>
                </a:solidFill>
              </a:rPr>
              <a:t>)"</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Car: traveling at 25.0 miles per hour in gear 3</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Rectangle"/>
          <p:cNvSpPr/>
          <p:nvPr/>
        </p:nvSpPr>
        <p:spPr>
          <a:xfrm>
            <a:off x="761516" y="3898900"/>
            <a:ext cx="22860968" cy="6871978"/>
          </a:xfrm>
          <a:prstGeom prst="rect">
            <a:avLst/>
          </a:prstGeom>
          <a:solidFill>
            <a:srgbClr val="292B38"/>
          </a:solidFill>
          <a:ln w="25400">
            <a:miter lim="400000"/>
          </a:ln>
        </p:spPr>
        <p:txBody>
          <a:bodyPr lIns="63500" tIns="63500" rIns="63500" bIns="63500" anchor="ctr"/>
          <a:lstStyle/>
          <a:p>
            <a:pPr/>
          </a:p>
        </p:txBody>
      </p:sp>
      <p:sp>
        <p:nvSpPr>
          <p:cNvPr id="158"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59" name="Override initializer"/>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Override initializer</a:t>
            </a:r>
          </a:p>
        </p:txBody>
      </p:sp>
      <p:sp>
        <p:nvSpPr>
          <p:cNvPr id="160" name="Inheritance"/>
          <p:cNvSpPr/>
          <p:nvPr>
            <p:ph type="title"/>
          </p:nvPr>
        </p:nvSpPr>
        <p:spPr>
          <a:prstGeom prst="rect">
            <a:avLst/>
          </a:prstGeom>
        </p:spPr>
        <p:txBody>
          <a:bodyPr/>
          <a:lstStyle/>
          <a:p>
            <a:pPr/>
            <a:r>
              <a:t>Inheritance</a:t>
            </a:r>
          </a:p>
        </p:txBody>
      </p:sp>
      <p:sp>
        <p:nvSpPr>
          <p:cNvPr id="161" name="class Person {…"/>
          <p:cNvSpPr/>
          <p:nvPr>
            <p:ph type="body" idx="1"/>
          </p:nvPr>
        </p:nvSpPr>
        <p:spPr>
          <a:prstGeom prst="rect">
            <a:avLst/>
          </a:prstGeom>
        </p:spPr>
        <p:txBody>
          <a:bodyPr>
            <a:normAutofit fontScale="100000" lnSpcReduction="0"/>
          </a:bodyPr>
          <a:lstStyle/>
          <a:p>
            <a:pPr marL="0" indent="0" defTabSz="773582">
              <a:lnSpc>
                <a:spcPts val="4700"/>
              </a:lnSpc>
              <a:spcBef>
                <a:spcPts val="0"/>
              </a:spcBef>
              <a:buSzTx/>
              <a:buNone/>
              <a:defRPr spc="0" sz="2820">
                <a:latin typeface="Menlo Regular"/>
                <a:ea typeface="Menlo Regular"/>
                <a:cs typeface="Menlo Regular"/>
                <a:sym typeface="Menlo Regular"/>
              </a:defRPr>
            </a:pPr>
            <a:r>
              <a:rPr>
                <a:solidFill>
                  <a:srgbClr val="3DCCCC"/>
                </a:solidFill>
              </a:rPr>
              <a:t>class</a:t>
            </a:r>
            <a:r>
              <a:t> Person {</a:t>
            </a:r>
          </a:p>
          <a:p>
            <a:pPr marL="0" indent="0" defTabSz="773582">
              <a:lnSpc>
                <a:spcPts val="4700"/>
              </a:lnSpc>
              <a:spcBef>
                <a:spcPts val="0"/>
              </a:spcBef>
              <a:buSzTx/>
              <a:buNone/>
              <a:defRPr spc="0" sz="2820">
                <a:latin typeface="Menlo Regular"/>
                <a:ea typeface="Menlo Regular"/>
                <a:cs typeface="Menlo Regular"/>
                <a:sym typeface="Menlo Regular"/>
              </a:defRPr>
            </a:pPr>
            <a:r>
              <a:t>  </a:t>
            </a:r>
            <a:r>
              <a:rPr>
                <a:solidFill>
                  <a:srgbClr val="3DCCCC"/>
                </a:solidFill>
              </a:rPr>
              <a:t>let</a:t>
            </a:r>
            <a:r>
              <a:t> name: </a:t>
            </a:r>
            <a:r>
              <a:rPr>
                <a:solidFill>
                  <a:srgbClr val="6CCE66"/>
                </a:solidFill>
              </a:rPr>
              <a:t>String</a:t>
            </a:r>
          </a:p>
          <a:p>
            <a:pPr marL="0" indent="0" defTabSz="773582">
              <a:lnSpc>
                <a:spcPts val="4700"/>
              </a:lnSpc>
              <a:spcBef>
                <a:spcPts val="0"/>
              </a:spcBef>
              <a:buSzTx/>
              <a:buNone/>
              <a:defRPr spc="0" sz="2820">
                <a:latin typeface="Menlo Regular"/>
                <a:ea typeface="Menlo Regular"/>
                <a:cs typeface="Menlo Regular"/>
                <a:sym typeface="Menlo Regular"/>
              </a:defRPr>
            </a:pPr>
          </a:p>
          <a:p>
            <a:pPr marL="0" indent="0" defTabSz="773582">
              <a:lnSpc>
                <a:spcPts val="4700"/>
              </a:lnSpc>
              <a:spcBef>
                <a:spcPts val="0"/>
              </a:spcBef>
              <a:buSzTx/>
              <a:buNone/>
              <a:defRPr spc="0" sz="2820">
                <a:latin typeface="Menlo Regular"/>
                <a:ea typeface="Menlo Regular"/>
                <a:cs typeface="Menlo Regular"/>
                <a:sym typeface="Menlo Regular"/>
              </a:defRPr>
            </a:pPr>
            <a:r>
              <a:t>  </a:t>
            </a:r>
            <a:r>
              <a:rPr>
                <a:solidFill>
                  <a:srgbClr val="3DCCCC"/>
                </a:solidFill>
              </a:rPr>
              <a:t>init</a:t>
            </a:r>
            <a:r>
              <a:t>(name: </a:t>
            </a:r>
            <a:r>
              <a:rPr>
                <a:solidFill>
                  <a:srgbClr val="6CCE66"/>
                </a:solidFill>
              </a:rPr>
              <a:t>String</a:t>
            </a:r>
            <a:r>
              <a:t>) {</a:t>
            </a:r>
          </a:p>
          <a:p>
            <a:pPr marL="0" indent="0" defTabSz="773582">
              <a:lnSpc>
                <a:spcPts val="4700"/>
              </a:lnSpc>
              <a:spcBef>
                <a:spcPts val="0"/>
              </a:spcBef>
              <a:buSzTx/>
              <a:buNone/>
              <a:defRPr spc="0" sz="2820">
                <a:latin typeface="Menlo Regular"/>
                <a:ea typeface="Menlo Regular"/>
                <a:cs typeface="Menlo Regular"/>
                <a:sym typeface="Menlo Regular"/>
              </a:defRPr>
            </a:pPr>
            <a:r>
              <a:t>    </a:t>
            </a:r>
            <a:r>
              <a:rPr>
                <a:solidFill>
                  <a:srgbClr val="3DCCCC"/>
                </a:solidFill>
              </a:rPr>
              <a:t>self</a:t>
            </a:r>
            <a:r>
              <a:t>.</a:t>
            </a:r>
            <a:r>
              <a:rPr>
                <a:solidFill>
                  <a:srgbClr val="6CCE66"/>
                </a:solidFill>
              </a:rPr>
              <a:t>name</a:t>
            </a:r>
            <a:r>
              <a:t> = name</a:t>
            </a:r>
          </a:p>
          <a:p>
            <a:pPr marL="0" indent="0" defTabSz="773582">
              <a:lnSpc>
                <a:spcPts val="4700"/>
              </a:lnSpc>
              <a:spcBef>
                <a:spcPts val="0"/>
              </a:spcBef>
              <a:buSzTx/>
              <a:buNone/>
              <a:defRPr spc="0" sz="2820">
                <a:latin typeface="Menlo Regular"/>
                <a:ea typeface="Menlo Regular"/>
                <a:cs typeface="Menlo Regular"/>
                <a:sym typeface="Menlo Regular"/>
              </a:defRPr>
            </a:pPr>
            <a:r>
              <a:t>  }</a:t>
            </a:r>
          </a:p>
          <a:p>
            <a:pPr marL="0" indent="0" defTabSz="773582">
              <a:lnSpc>
                <a:spcPts val="4700"/>
              </a:lnSpc>
              <a:spcBef>
                <a:spcPts val="0"/>
              </a:spcBef>
              <a:buSzTx/>
              <a:buNone/>
              <a:defRPr spc="0" sz="2820">
                <a:latin typeface="Menlo Regular"/>
                <a:ea typeface="Menlo Regular"/>
                <a:cs typeface="Menlo Regular"/>
                <a:sym typeface="Menlo Regular"/>
              </a:defRPr>
            </a:pPr>
            <a:r>
              <a:t>}</a:t>
            </a:r>
          </a:p>
          <a:p>
            <a:pPr marL="0" indent="0" defTabSz="773582">
              <a:lnSpc>
                <a:spcPts val="4700"/>
              </a:lnSpc>
              <a:spcBef>
                <a:spcPts val="0"/>
              </a:spcBef>
              <a:buSzTx/>
              <a:buNone/>
              <a:defRPr spc="0" sz="2820">
                <a:latin typeface="Menlo Regular"/>
                <a:ea typeface="Menlo Regular"/>
                <a:cs typeface="Menlo Regular"/>
                <a:sym typeface="Menlo Regular"/>
              </a:defRPr>
            </a:pPr>
          </a:p>
          <a:p>
            <a:pPr marL="0" indent="0" defTabSz="773582">
              <a:lnSpc>
                <a:spcPts val="4700"/>
              </a:lnSpc>
              <a:spcBef>
                <a:spcPts val="0"/>
              </a:spcBef>
              <a:buSzTx/>
              <a:buNone/>
              <a:defRPr spc="0" sz="2820">
                <a:latin typeface="Menlo Regular"/>
                <a:ea typeface="Menlo Regular"/>
                <a:cs typeface="Menlo Regular"/>
                <a:sym typeface="Menlo Regular"/>
              </a:defRPr>
            </a:pPr>
            <a:r>
              <a:rPr>
                <a:solidFill>
                  <a:srgbClr val="3DCCCC"/>
                </a:solidFill>
              </a:rPr>
              <a:t>class</a:t>
            </a:r>
            <a:r>
              <a:t> Student: </a:t>
            </a:r>
            <a:r>
              <a:rPr>
                <a:solidFill>
                  <a:srgbClr val="6CCE66"/>
                </a:solidFill>
              </a:rPr>
              <a:t>Person</a:t>
            </a:r>
            <a:r>
              <a:t> {</a:t>
            </a:r>
          </a:p>
          <a:p>
            <a:pPr marL="0" indent="0" defTabSz="773582">
              <a:lnSpc>
                <a:spcPts val="4700"/>
              </a:lnSpc>
              <a:spcBef>
                <a:spcPts val="0"/>
              </a:spcBef>
              <a:buSzTx/>
              <a:buNone/>
              <a:defRPr spc="0" sz="2820">
                <a:latin typeface="Menlo Regular"/>
                <a:ea typeface="Menlo Regular"/>
                <a:cs typeface="Menlo Regular"/>
                <a:sym typeface="Menlo Regular"/>
              </a:defRPr>
            </a:pPr>
            <a:r>
              <a:t>  </a:t>
            </a:r>
            <a:r>
              <a:rPr>
                <a:solidFill>
                  <a:srgbClr val="3DCCCC"/>
                </a:solidFill>
              </a:rPr>
              <a:t>var</a:t>
            </a:r>
            <a:r>
              <a:t> favoriteSubject: </a:t>
            </a:r>
            <a:r>
              <a:rPr>
                <a:solidFill>
                  <a:srgbClr val="6CCE66"/>
                </a:solidFill>
              </a:rPr>
              <a:t>String</a:t>
            </a:r>
          </a:p>
          <a:p>
            <a:pPr marL="0" indent="0" defTabSz="773582">
              <a:lnSpc>
                <a:spcPts val="4700"/>
              </a:lnSpc>
              <a:spcBef>
                <a:spcPts val="0"/>
              </a:spcBef>
              <a:buSzTx/>
              <a:buNone/>
              <a:defRPr spc="0" sz="2820">
                <a:latin typeface="Menlo Regular"/>
                <a:ea typeface="Menlo Regular"/>
                <a:cs typeface="Menlo Regular"/>
                <a:sym typeface="Menlo Regular"/>
              </a:defRPr>
            </a:pPr>
            <a:r>
              <a:t>}</a:t>
            </a:r>
          </a:p>
          <a:p>
            <a:pPr marL="0" indent="0" defTabSz="773582">
              <a:lnSpc>
                <a:spcPts val="4700"/>
              </a:lnSpc>
              <a:spcBef>
                <a:spcPts val="0"/>
              </a:spcBef>
              <a:buSzTx/>
              <a:buNone/>
              <a:defRPr spc="0" sz="2820">
                <a:latin typeface="Menlo Regular"/>
                <a:ea typeface="Menlo Regular"/>
                <a:cs typeface="Menlo Regular"/>
                <a:sym typeface="Menlo Regular"/>
              </a:defRPr>
            </a:pPr>
          </a:p>
          <a:p>
            <a:pPr marL="0" indent="0" defTabSz="773582">
              <a:lnSpc>
                <a:spcPts val="4700"/>
              </a:lnSpc>
              <a:spcBef>
                <a:spcPts val="0"/>
              </a:spcBef>
              <a:buSzTx/>
              <a:buNone/>
              <a:defRPr spc="0" sz="2820">
                <a:latin typeface="Menlo Regular"/>
                <a:ea typeface="Menlo Regular"/>
                <a:cs typeface="Menlo Regular"/>
                <a:sym typeface="Menlo Regular"/>
              </a:defRPr>
            </a:pPr>
          </a:p>
          <a:p>
            <a:pPr marL="0" indent="0" defTabSz="773582">
              <a:lnSpc>
                <a:spcPts val="4700"/>
              </a:lnSpc>
              <a:spcBef>
                <a:spcPts val="0"/>
              </a:spcBef>
              <a:buSzTx/>
              <a:buNone/>
              <a:defRPr spc="0" sz="2820">
                <a:latin typeface="Menlo Regular"/>
                <a:ea typeface="Menlo Regular"/>
                <a:cs typeface="Menlo Regular"/>
                <a:sym typeface="Menlo Regular"/>
              </a:defRPr>
            </a:pPr>
          </a:p>
        </p:txBody>
      </p:sp>
      <p:grpSp>
        <p:nvGrpSpPr>
          <p:cNvPr id="168" name="Group"/>
          <p:cNvGrpSpPr/>
          <p:nvPr/>
        </p:nvGrpSpPr>
        <p:grpSpPr>
          <a:xfrm>
            <a:off x="13474700" y="9149779"/>
            <a:ext cx="9477717" cy="747599"/>
            <a:chOff x="0" y="0"/>
            <a:chExt cx="9477716" cy="747597"/>
          </a:xfrm>
        </p:grpSpPr>
        <p:sp>
          <p:nvSpPr>
            <p:cNvPr id="162" name="Rectangle"/>
            <p:cNvSpPr/>
            <p:nvPr/>
          </p:nvSpPr>
          <p:spPr>
            <a:xfrm>
              <a:off x="419464" y="79952"/>
              <a:ext cx="8050623" cy="587694"/>
            </a:xfrm>
            <a:prstGeom prst="rect">
              <a:avLst/>
            </a:prstGeom>
            <a:solidFill>
              <a:srgbClr val="FFAD99"/>
            </a:solidFill>
            <a:ln w="25400" cap="flat">
              <a:noFill/>
              <a:miter lim="400000"/>
            </a:ln>
            <a:effectLst/>
          </p:spPr>
          <p:txBody>
            <a:bodyPr wrap="square" lIns="50800" tIns="50800" rIns="50800" bIns="50800" numCol="1" anchor="ctr">
              <a:noAutofit/>
            </a:bodyPr>
            <a:lstStyle/>
            <a:p>
              <a:pPr algn="l" defTabSz="800100">
                <a:defRPr sz="3000"/>
              </a:pPr>
            </a:p>
          </p:txBody>
        </p:sp>
        <p:sp>
          <p:nvSpPr>
            <p:cNvPr id="163" name="Shape"/>
            <p:cNvSpPr/>
            <p:nvPr/>
          </p:nvSpPr>
          <p:spPr>
            <a:xfrm>
              <a:off x="0" y="80954"/>
              <a:ext cx="459271" cy="5856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505" y="84"/>
                  </a:moveTo>
                  <a:lnTo>
                    <a:pt x="0" y="11041"/>
                  </a:lnTo>
                  <a:lnTo>
                    <a:pt x="19505" y="21590"/>
                  </a:lnTo>
                  <a:lnTo>
                    <a:pt x="21219" y="21600"/>
                  </a:lnTo>
                  <a:lnTo>
                    <a:pt x="21600" y="0"/>
                  </a:lnTo>
                  <a:lnTo>
                    <a:pt x="19505" y="84"/>
                  </a:lnTo>
                  <a:close/>
                </a:path>
              </a:pathLst>
            </a:custGeom>
            <a:solidFill>
              <a:srgbClr val="FFAD99"/>
            </a:solidFill>
            <a:ln w="12700" cap="flat">
              <a:noFill/>
              <a:miter lim="400000"/>
            </a:ln>
            <a:effectLst/>
          </p:spPr>
          <p:txBody>
            <a:bodyPr wrap="square" lIns="0" tIns="0" rIns="0" bIns="0" numCol="1" anchor="t">
              <a:noAutofit/>
            </a:bodyPr>
            <a:lstStyle/>
            <a:p>
              <a:pPr algn="l" defTabSz="800100">
                <a:defRPr sz="3000"/>
              </a:pPr>
            </a:p>
          </p:txBody>
        </p:sp>
        <p:sp>
          <p:nvSpPr>
            <p:cNvPr id="164" name="Class ‘Student’ has no initializers"/>
            <p:cNvSpPr txBox="1"/>
            <p:nvPr/>
          </p:nvSpPr>
          <p:spPr>
            <a:xfrm>
              <a:off x="1101498" y="137128"/>
              <a:ext cx="8376219" cy="473341"/>
            </a:xfrm>
            <a:prstGeom prst="rect">
              <a:avLst/>
            </a:prstGeom>
            <a:noFill/>
            <a:ln w="25400" cap="flat">
              <a:noFill/>
              <a:miter lim="400000"/>
            </a:ln>
            <a:effectLst/>
            <a:extLst>
              <a:ext uri="{C572A759-6A51-4108-AA02-DFA0A04FC94B}">
                <ma14:wrappingTextBoxFlag xmlns:ma14="http://schemas.microsoft.com/office/mac/drawingml/2011/main" val="1"/>
              </a:ext>
            </a:extLst>
          </p:spPr>
          <p:txBody>
            <a:bodyPr wrap="square" lIns="0" tIns="0" rIns="0" bIns="0" numCol="1" anchor="t">
              <a:noAutofit/>
            </a:bodyPr>
            <a:lstStyle>
              <a:lvl1pPr algn="l">
                <a:defRPr>
                  <a:solidFill>
                    <a:srgbClr val="000000"/>
                  </a:solidFill>
                </a:defRPr>
              </a:lvl1pPr>
            </a:lstStyle>
            <a:p>
              <a:pPr/>
              <a:r>
                <a:t>Class ‘Student’ has no initializers</a:t>
              </a:r>
            </a:p>
          </p:txBody>
        </p:sp>
        <p:grpSp>
          <p:nvGrpSpPr>
            <p:cNvPr id="167" name="Group"/>
            <p:cNvGrpSpPr/>
            <p:nvPr/>
          </p:nvGrpSpPr>
          <p:grpSpPr>
            <a:xfrm>
              <a:off x="361227" y="0"/>
              <a:ext cx="747599" cy="747598"/>
              <a:chOff x="0" y="0"/>
              <a:chExt cx="747597" cy="747597"/>
            </a:xfrm>
          </p:grpSpPr>
          <p:sp>
            <p:nvSpPr>
              <p:cNvPr id="165" name="Polygon"/>
              <p:cNvSpPr/>
              <p:nvPr/>
            </p:nvSpPr>
            <p:spPr>
              <a:xfrm rot="20220000">
                <a:off x="88725" y="88725"/>
                <a:ext cx="570148" cy="5701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18437" y="3163"/>
                    </a:lnTo>
                    <a:lnTo>
                      <a:pt x="21600" y="10800"/>
                    </a:lnTo>
                    <a:lnTo>
                      <a:pt x="18437" y="18437"/>
                    </a:lnTo>
                    <a:lnTo>
                      <a:pt x="10800" y="21600"/>
                    </a:lnTo>
                    <a:lnTo>
                      <a:pt x="3163" y="18437"/>
                    </a:lnTo>
                    <a:lnTo>
                      <a:pt x="0" y="10800"/>
                    </a:lnTo>
                    <a:lnTo>
                      <a:pt x="3163" y="3163"/>
                    </a:lnTo>
                    <a:close/>
                  </a:path>
                </a:pathLst>
              </a:custGeom>
              <a:solidFill>
                <a:srgbClr val="FF2600"/>
              </a:solidFill>
              <a:ln w="25400" cap="flat">
                <a:noFill/>
                <a:miter lim="400000"/>
              </a:ln>
              <a:effectLst/>
            </p:spPr>
            <p:txBody>
              <a:bodyPr wrap="square" lIns="50800" tIns="50800" rIns="50800" bIns="50800" numCol="1" anchor="ctr">
                <a:noAutofit/>
              </a:bodyPr>
              <a:lstStyle/>
              <a:p>
                <a:pPr algn="l" defTabSz="800100">
                  <a:defRPr sz="3000"/>
                </a:pPr>
              </a:p>
            </p:txBody>
          </p:sp>
          <p:sp>
            <p:nvSpPr>
              <p:cNvPr id="166" name="!"/>
              <p:cNvSpPr txBox="1"/>
              <p:nvPr/>
            </p:nvSpPr>
            <p:spPr>
              <a:xfrm>
                <a:off x="303686" y="44129"/>
                <a:ext cx="159938" cy="635663"/>
              </a:xfrm>
              <a:prstGeom prst="rect">
                <a:avLst/>
              </a:prstGeom>
              <a:noFill/>
              <a:ln w="25400" cap="flat">
                <a:noFill/>
                <a:miter lim="400000"/>
              </a:ln>
              <a:effectLst/>
              <a:extLst>
                <a:ext uri="{C572A759-6A51-4108-AA02-DFA0A04FC94B}">
                  <ma14:wrappingTextBoxFlag xmlns:ma14="http://schemas.microsoft.com/office/mac/drawingml/2011/main" val="1"/>
                </a:ext>
              </a:extLst>
            </p:spPr>
            <p:txBody>
              <a:bodyPr wrap="square" lIns="0" tIns="0" rIns="0" bIns="0" numCol="1" anchor="t">
                <a:noAutofit/>
              </a:bodyPr>
              <a:lstStyle>
                <a:lvl1pPr algn="l" defTabSz="800100">
                  <a:spcBef>
                    <a:spcPts val="3000"/>
                  </a:spcBef>
                  <a:defRPr b="1" sz="4200"/>
                </a:lvl1pPr>
              </a:lstStyle>
              <a:p>
                <a:pPr/>
                <a:r>
                  <a:t>!</a:t>
                </a:r>
              </a:p>
            </p:txBody>
          </p:sp>
        </p:gr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68" grpId="1"/>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Rectangle"/>
          <p:cNvSpPr/>
          <p:nvPr/>
        </p:nvSpPr>
        <p:spPr>
          <a:xfrm>
            <a:off x="761516" y="3898900"/>
            <a:ext cx="22860968" cy="9261262"/>
          </a:xfrm>
          <a:prstGeom prst="rect">
            <a:avLst/>
          </a:prstGeom>
          <a:solidFill>
            <a:srgbClr val="292B38"/>
          </a:solidFill>
          <a:ln w="25400">
            <a:miter lim="400000"/>
          </a:ln>
        </p:spPr>
        <p:txBody>
          <a:bodyPr lIns="63500" tIns="63500" rIns="63500" bIns="63500" anchor="ctr"/>
          <a:lstStyle/>
          <a:p>
            <a:pPr/>
          </a:p>
        </p:txBody>
      </p:sp>
      <p:sp>
        <p:nvSpPr>
          <p:cNvPr id="173"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74" name="Override initializer"/>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Override initializer</a:t>
            </a:r>
          </a:p>
        </p:txBody>
      </p:sp>
      <p:sp>
        <p:nvSpPr>
          <p:cNvPr id="175" name="Inheritance"/>
          <p:cNvSpPr/>
          <p:nvPr>
            <p:ph type="title"/>
          </p:nvPr>
        </p:nvSpPr>
        <p:spPr>
          <a:prstGeom prst="rect">
            <a:avLst/>
          </a:prstGeom>
        </p:spPr>
        <p:txBody>
          <a:bodyPr/>
          <a:lstStyle/>
          <a:p>
            <a:pPr/>
            <a:r>
              <a:t>Inheritance</a:t>
            </a:r>
          </a:p>
        </p:txBody>
      </p:sp>
      <p:sp>
        <p:nvSpPr>
          <p:cNvPr id="176" name="class Person {…"/>
          <p:cNvSpPr/>
          <p:nvPr>
            <p:ph type="body" idx="1"/>
          </p:nvPr>
        </p:nvSpPr>
        <p:spPr>
          <a:prstGeom prst="rect">
            <a:avLst/>
          </a:prstGeom>
        </p:spPr>
        <p:txBody>
          <a:bodyPr>
            <a:normAutofit fontScale="100000" lnSpcReduction="0"/>
          </a:bodyPr>
          <a:lstStyle/>
          <a:p>
            <a:pPr marL="0" indent="0" defTabSz="773582">
              <a:lnSpc>
                <a:spcPts val="4700"/>
              </a:lnSpc>
              <a:spcBef>
                <a:spcPts val="0"/>
              </a:spcBef>
              <a:buSzTx/>
              <a:buNone/>
              <a:defRPr spc="0" sz="2820">
                <a:latin typeface="Menlo Regular"/>
                <a:ea typeface="Menlo Regular"/>
                <a:cs typeface="Menlo Regular"/>
                <a:sym typeface="Menlo Regular"/>
              </a:defRPr>
            </a:pPr>
            <a:r>
              <a:rPr>
                <a:solidFill>
                  <a:srgbClr val="3DCCCC"/>
                </a:solidFill>
              </a:rPr>
              <a:t>class</a:t>
            </a:r>
            <a:r>
              <a:t> Person {</a:t>
            </a:r>
          </a:p>
          <a:p>
            <a:pPr marL="0" indent="0" defTabSz="773582">
              <a:lnSpc>
                <a:spcPts val="4700"/>
              </a:lnSpc>
              <a:spcBef>
                <a:spcPts val="0"/>
              </a:spcBef>
              <a:buSzTx/>
              <a:buNone/>
              <a:defRPr spc="0" sz="2820">
                <a:latin typeface="Menlo Regular"/>
                <a:ea typeface="Menlo Regular"/>
                <a:cs typeface="Menlo Regular"/>
                <a:sym typeface="Menlo Regular"/>
              </a:defRPr>
            </a:pPr>
            <a:r>
              <a:t>  </a:t>
            </a:r>
            <a:r>
              <a:rPr>
                <a:solidFill>
                  <a:srgbClr val="3DCCCC"/>
                </a:solidFill>
              </a:rPr>
              <a:t>let</a:t>
            </a:r>
            <a:r>
              <a:t> name: </a:t>
            </a:r>
            <a:r>
              <a:rPr>
                <a:solidFill>
                  <a:srgbClr val="6CCE66"/>
                </a:solidFill>
              </a:rPr>
              <a:t>String</a:t>
            </a:r>
          </a:p>
          <a:p>
            <a:pPr marL="0" indent="0" defTabSz="773582">
              <a:lnSpc>
                <a:spcPts val="4700"/>
              </a:lnSpc>
              <a:spcBef>
                <a:spcPts val="0"/>
              </a:spcBef>
              <a:buSzTx/>
              <a:buNone/>
              <a:defRPr spc="0" sz="2820">
                <a:latin typeface="Menlo Regular"/>
                <a:ea typeface="Menlo Regular"/>
                <a:cs typeface="Menlo Regular"/>
                <a:sym typeface="Menlo Regular"/>
              </a:defRPr>
            </a:pPr>
          </a:p>
          <a:p>
            <a:pPr marL="0" indent="0" defTabSz="773582">
              <a:lnSpc>
                <a:spcPts val="4700"/>
              </a:lnSpc>
              <a:spcBef>
                <a:spcPts val="0"/>
              </a:spcBef>
              <a:buSzTx/>
              <a:buNone/>
              <a:defRPr spc="0" sz="2820">
                <a:latin typeface="Menlo Regular"/>
                <a:ea typeface="Menlo Regular"/>
                <a:cs typeface="Menlo Regular"/>
                <a:sym typeface="Menlo Regular"/>
              </a:defRPr>
            </a:pPr>
            <a:r>
              <a:t>  </a:t>
            </a:r>
            <a:r>
              <a:rPr>
                <a:solidFill>
                  <a:srgbClr val="3DCCCC"/>
                </a:solidFill>
              </a:rPr>
              <a:t>init</a:t>
            </a:r>
            <a:r>
              <a:t>(name: </a:t>
            </a:r>
            <a:r>
              <a:rPr>
                <a:solidFill>
                  <a:srgbClr val="6CCE66"/>
                </a:solidFill>
              </a:rPr>
              <a:t>String</a:t>
            </a:r>
            <a:r>
              <a:t>) {</a:t>
            </a:r>
          </a:p>
          <a:p>
            <a:pPr marL="0" indent="0" defTabSz="773582">
              <a:lnSpc>
                <a:spcPts val="4700"/>
              </a:lnSpc>
              <a:spcBef>
                <a:spcPts val="0"/>
              </a:spcBef>
              <a:buSzTx/>
              <a:buNone/>
              <a:defRPr spc="0" sz="2820">
                <a:latin typeface="Menlo Regular"/>
                <a:ea typeface="Menlo Regular"/>
                <a:cs typeface="Menlo Regular"/>
                <a:sym typeface="Menlo Regular"/>
              </a:defRPr>
            </a:pPr>
            <a:r>
              <a:t>    </a:t>
            </a:r>
            <a:r>
              <a:rPr>
                <a:solidFill>
                  <a:srgbClr val="3DCCCC"/>
                </a:solidFill>
              </a:rPr>
              <a:t>self</a:t>
            </a:r>
            <a:r>
              <a:t>.</a:t>
            </a:r>
            <a:r>
              <a:rPr>
                <a:solidFill>
                  <a:srgbClr val="6CCE66"/>
                </a:solidFill>
              </a:rPr>
              <a:t>name</a:t>
            </a:r>
            <a:r>
              <a:t> = name</a:t>
            </a:r>
          </a:p>
          <a:p>
            <a:pPr marL="0" indent="0" defTabSz="773582">
              <a:lnSpc>
                <a:spcPts val="4700"/>
              </a:lnSpc>
              <a:spcBef>
                <a:spcPts val="0"/>
              </a:spcBef>
              <a:buSzTx/>
              <a:buNone/>
              <a:defRPr spc="0" sz="2820">
                <a:latin typeface="Menlo Regular"/>
                <a:ea typeface="Menlo Regular"/>
                <a:cs typeface="Menlo Regular"/>
                <a:sym typeface="Menlo Regular"/>
              </a:defRPr>
            </a:pPr>
            <a:r>
              <a:t>  }</a:t>
            </a:r>
          </a:p>
          <a:p>
            <a:pPr marL="0" indent="0" defTabSz="773582">
              <a:lnSpc>
                <a:spcPts val="4700"/>
              </a:lnSpc>
              <a:spcBef>
                <a:spcPts val="0"/>
              </a:spcBef>
              <a:buSzTx/>
              <a:buNone/>
              <a:defRPr spc="0" sz="2820">
                <a:latin typeface="Menlo Regular"/>
                <a:ea typeface="Menlo Regular"/>
                <a:cs typeface="Menlo Regular"/>
                <a:sym typeface="Menlo Regular"/>
              </a:defRPr>
            </a:pPr>
            <a:r>
              <a:t>}</a:t>
            </a:r>
          </a:p>
          <a:p>
            <a:pPr marL="0" indent="0" defTabSz="773582">
              <a:lnSpc>
                <a:spcPts val="4700"/>
              </a:lnSpc>
              <a:spcBef>
                <a:spcPts val="0"/>
              </a:spcBef>
              <a:buSzTx/>
              <a:buNone/>
              <a:defRPr spc="0" sz="2820">
                <a:latin typeface="Menlo Regular"/>
                <a:ea typeface="Menlo Regular"/>
                <a:cs typeface="Menlo Regular"/>
                <a:sym typeface="Menlo Regular"/>
              </a:defRPr>
            </a:pPr>
          </a:p>
          <a:p>
            <a:pPr marL="0" indent="0" defTabSz="773582">
              <a:lnSpc>
                <a:spcPts val="4700"/>
              </a:lnSpc>
              <a:spcBef>
                <a:spcPts val="0"/>
              </a:spcBef>
              <a:buSzTx/>
              <a:buNone/>
              <a:defRPr spc="0" sz="2820">
                <a:latin typeface="Menlo Regular"/>
                <a:ea typeface="Menlo Regular"/>
                <a:cs typeface="Menlo Regular"/>
                <a:sym typeface="Menlo Regular"/>
              </a:defRPr>
            </a:pPr>
            <a:r>
              <a:rPr>
                <a:solidFill>
                  <a:srgbClr val="3DCCCC"/>
                </a:solidFill>
              </a:rPr>
              <a:t>class</a:t>
            </a:r>
            <a:r>
              <a:t> Student: </a:t>
            </a:r>
            <a:r>
              <a:rPr>
                <a:solidFill>
                  <a:srgbClr val="6CCE66"/>
                </a:solidFill>
              </a:rPr>
              <a:t>Person</a:t>
            </a:r>
            <a:r>
              <a:t> {</a:t>
            </a:r>
          </a:p>
          <a:p>
            <a:pPr marL="0" indent="0" defTabSz="773582">
              <a:lnSpc>
                <a:spcPts val="4700"/>
              </a:lnSpc>
              <a:spcBef>
                <a:spcPts val="0"/>
              </a:spcBef>
              <a:buSzTx/>
              <a:buNone/>
              <a:defRPr spc="0" sz="2820">
                <a:latin typeface="Menlo Regular"/>
                <a:ea typeface="Menlo Regular"/>
                <a:cs typeface="Menlo Regular"/>
                <a:sym typeface="Menlo Regular"/>
              </a:defRPr>
            </a:pPr>
            <a:r>
              <a:t>  </a:t>
            </a:r>
            <a:r>
              <a:rPr>
                <a:solidFill>
                  <a:srgbClr val="3DCCCC"/>
                </a:solidFill>
              </a:rPr>
              <a:t>var</a:t>
            </a:r>
            <a:r>
              <a:t> favoriteSubject: </a:t>
            </a:r>
            <a:r>
              <a:rPr>
                <a:solidFill>
                  <a:srgbClr val="6CCE66"/>
                </a:solidFill>
              </a:rPr>
              <a:t>String</a:t>
            </a:r>
            <a:endParaRPr>
              <a:solidFill>
                <a:srgbClr val="6CCE66"/>
              </a:solidFill>
            </a:endParaRPr>
          </a:p>
          <a:p>
            <a:pPr marL="0" indent="0" defTabSz="773582">
              <a:lnSpc>
                <a:spcPts val="4700"/>
              </a:lnSpc>
              <a:spcBef>
                <a:spcPts val="0"/>
              </a:spcBef>
              <a:buSzTx/>
              <a:buNone/>
              <a:defRPr spc="0" sz="2820">
                <a:latin typeface="Menlo Regular"/>
                <a:ea typeface="Menlo Regular"/>
                <a:cs typeface="Menlo Regular"/>
                <a:sym typeface="Menlo Regular"/>
              </a:defRPr>
            </a:pPr>
            <a:r>
              <a:t>  </a:t>
            </a:r>
            <a:r>
              <a:rPr>
                <a:solidFill>
                  <a:srgbClr val="3DCCCC"/>
                </a:solidFill>
              </a:rPr>
              <a:t>init</a:t>
            </a:r>
            <a:r>
              <a:t>(name: </a:t>
            </a:r>
            <a:r>
              <a:rPr>
                <a:solidFill>
                  <a:srgbClr val="6CCE66"/>
                </a:solidFill>
              </a:rPr>
              <a:t>String</a:t>
            </a:r>
            <a:r>
              <a:t>, favoriteSubject: </a:t>
            </a:r>
            <a:r>
              <a:rPr>
                <a:solidFill>
                  <a:srgbClr val="6CCE66"/>
                </a:solidFill>
              </a:rPr>
              <a:t>String</a:t>
            </a:r>
            <a:r>
              <a:t>) {</a:t>
            </a:r>
          </a:p>
          <a:p>
            <a:pPr marL="0" indent="0" defTabSz="773582">
              <a:lnSpc>
                <a:spcPts val="4700"/>
              </a:lnSpc>
              <a:spcBef>
                <a:spcPts val="0"/>
              </a:spcBef>
              <a:buSzTx/>
              <a:buNone/>
              <a:defRPr spc="0" sz="2820">
                <a:latin typeface="Menlo Regular"/>
                <a:ea typeface="Menlo Regular"/>
                <a:cs typeface="Menlo Regular"/>
                <a:sym typeface="Menlo Regular"/>
              </a:defRPr>
            </a:pPr>
            <a:r>
              <a:t>    </a:t>
            </a:r>
            <a:r>
              <a:rPr>
                <a:solidFill>
                  <a:srgbClr val="3DCCCC"/>
                </a:solidFill>
              </a:rPr>
              <a:t>self</a:t>
            </a:r>
            <a:r>
              <a:t>.</a:t>
            </a:r>
            <a:r>
              <a:rPr>
                <a:solidFill>
                  <a:srgbClr val="6CCE66"/>
                </a:solidFill>
              </a:rPr>
              <a:t>favoriteSubject</a:t>
            </a:r>
            <a:r>
              <a:t> = favoriteSubject</a:t>
            </a:r>
          </a:p>
          <a:p>
            <a:pPr marL="0" indent="0" defTabSz="773582">
              <a:lnSpc>
                <a:spcPts val="4700"/>
              </a:lnSpc>
              <a:spcBef>
                <a:spcPts val="0"/>
              </a:spcBef>
              <a:buSzTx/>
              <a:buNone/>
              <a:defRPr spc="0" sz="2820">
                <a:latin typeface="Menlo Regular"/>
                <a:ea typeface="Menlo Regular"/>
                <a:cs typeface="Menlo Regular"/>
                <a:sym typeface="Menlo Regular"/>
              </a:defRPr>
            </a:pPr>
            <a:r>
              <a:t>    </a:t>
            </a:r>
            <a:r>
              <a:rPr>
                <a:solidFill>
                  <a:srgbClr val="3DCCCC"/>
                </a:solidFill>
              </a:rPr>
              <a:t>super</a:t>
            </a:r>
            <a:r>
              <a:t>.</a:t>
            </a:r>
            <a:r>
              <a:rPr>
                <a:solidFill>
                  <a:srgbClr val="3DCCCC"/>
                </a:solidFill>
              </a:rPr>
              <a:t>init</a:t>
            </a:r>
            <a:r>
              <a:t>(name: name)</a:t>
            </a:r>
          </a:p>
          <a:p>
            <a:pPr marL="0" indent="0" defTabSz="773582">
              <a:lnSpc>
                <a:spcPts val="4700"/>
              </a:lnSpc>
              <a:spcBef>
                <a:spcPts val="0"/>
              </a:spcBef>
              <a:buSzTx/>
              <a:buNone/>
              <a:defRPr spc="0" sz="2820">
                <a:latin typeface="Menlo Regular"/>
                <a:ea typeface="Menlo Regular"/>
                <a:cs typeface="Menlo Regular"/>
                <a:sym typeface="Menlo Regular"/>
              </a:defRPr>
            </a:pPr>
            <a:r>
              <a:t>  }</a:t>
            </a:r>
          </a:p>
          <a:p>
            <a:pPr marL="0" indent="0" defTabSz="773582">
              <a:lnSpc>
                <a:spcPts val="4700"/>
              </a:lnSpc>
              <a:spcBef>
                <a:spcPts val="0"/>
              </a:spcBef>
              <a:buSzTx/>
              <a:buNone/>
              <a:defRPr spc="0" sz="2820">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79"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180" name="References"/>
          <p:cNvSpPr/>
          <p:nvPr>
            <p:ph type="title"/>
          </p:nvPr>
        </p:nvSpPr>
        <p:spPr>
          <a:prstGeom prst="rect">
            <a:avLst/>
          </a:prstGeom>
        </p:spPr>
        <p:txBody>
          <a:bodyPr/>
          <a:lstStyle/>
          <a:p>
            <a:pPr/>
            <a:r>
              <a:t>References</a:t>
            </a:r>
          </a:p>
        </p:txBody>
      </p:sp>
      <p:sp>
        <p:nvSpPr>
          <p:cNvPr id="181" name="When you create an instance of a class:…"/>
          <p:cNvSpPr/>
          <p:nvPr>
            <p:ph type="body" idx="1"/>
          </p:nvPr>
        </p:nvSpPr>
        <p:spPr>
          <a:prstGeom prst="rect">
            <a:avLst/>
          </a:prstGeom>
        </p:spPr>
        <p:txBody>
          <a:bodyPr/>
          <a:lstStyle/>
          <a:p>
            <a:pPr/>
            <a:r>
              <a:t>When you create an instance of a class: </a:t>
            </a:r>
          </a:p>
          <a:p>
            <a:pPr lvl="1"/>
            <a:r>
              <a:t>Swift returns the address of that instance </a:t>
            </a:r>
          </a:p>
          <a:p>
            <a:pPr lvl="1"/>
            <a:r>
              <a:t>The returned address is assigned to the variable</a:t>
            </a:r>
          </a:p>
          <a:p>
            <a:pPr/>
            <a:r>
              <a:t>When you assign the address of an instance to multiple variables:</a:t>
            </a:r>
          </a:p>
          <a:p>
            <a:pPr lvl="1"/>
            <a:r>
              <a:t>Each variable contains the same address</a:t>
            </a:r>
          </a:p>
          <a:p>
            <a:pPr lvl="1"/>
            <a:r>
              <a:t>Update one instance, and all variables refer to the updated instance</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class Person {…"/>
          <p:cNvSpPr txBox="1"/>
          <p:nvPr>
            <p:ph type="subTitle" idx="1"/>
          </p:nvPr>
        </p:nvSpPr>
        <p:spPr>
          <a:xfrm>
            <a:off x="1524000" y="453565"/>
            <a:ext cx="19641002" cy="12808870"/>
          </a:xfrm>
          <a:prstGeom prst="rect">
            <a:avLst/>
          </a:prstGeom>
        </p:spPr>
        <p:txBody>
          <a:bodyPr>
            <a:normAutofit fontScale="100000" lnSpcReduction="0"/>
          </a:bodyPr>
          <a:lstStyle/>
          <a:p>
            <a:pPr defTabSz="813816">
              <a:lnSpc>
                <a:spcPts val="4900"/>
              </a:lnSpc>
              <a:defRPr sz="2670"/>
            </a:pPr>
            <a:r>
              <a:rPr>
                <a:solidFill>
                  <a:srgbClr val="3DCCCC"/>
                </a:solidFill>
              </a:rPr>
              <a:t>class</a:t>
            </a:r>
            <a:r>
              <a:t> Person {</a:t>
            </a:r>
          </a:p>
          <a:p>
            <a:pPr defTabSz="813816">
              <a:lnSpc>
                <a:spcPts val="4900"/>
              </a:lnSpc>
              <a:defRPr sz="2670"/>
            </a:pPr>
            <a:r>
              <a:t>  </a:t>
            </a:r>
            <a:r>
              <a:rPr>
                <a:solidFill>
                  <a:srgbClr val="3DCCCC"/>
                </a:solidFill>
              </a:rPr>
              <a:t>let</a:t>
            </a:r>
            <a:r>
              <a:t> name: </a:t>
            </a:r>
            <a:r>
              <a:rPr>
                <a:solidFill>
                  <a:srgbClr val="6CCE66"/>
                </a:solidFill>
              </a:rPr>
              <a:t>String</a:t>
            </a:r>
          </a:p>
          <a:p>
            <a:pPr defTabSz="813816">
              <a:lnSpc>
                <a:spcPts val="4900"/>
              </a:lnSpc>
              <a:defRPr sz="2670"/>
            </a:pPr>
            <a:r>
              <a:t>  </a:t>
            </a:r>
            <a:r>
              <a:rPr>
                <a:solidFill>
                  <a:srgbClr val="3DCCCC"/>
                </a:solidFill>
              </a:rPr>
              <a:t>var</a:t>
            </a:r>
            <a:r>
              <a:t> age: </a:t>
            </a:r>
            <a:r>
              <a:rPr>
                <a:solidFill>
                  <a:srgbClr val="6CCE66"/>
                </a:solidFill>
              </a:rPr>
              <a:t>Int</a:t>
            </a:r>
          </a:p>
          <a:p>
            <a:pPr defTabSz="813816">
              <a:lnSpc>
                <a:spcPts val="4900"/>
              </a:lnSpc>
              <a:defRPr sz="2670"/>
            </a:pPr>
          </a:p>
          <a:p>
            <a:pPr defTabSz="813816">
              <a:lnSpc>
                <a:spcPts val="4900"/>
              </a:lnSpc>
              <a:defRPr sz="2670"/>
            </a:pPr>
            <a:r>
              <a:t>  init(name: </a:t>
            </a:r>
            <a:r>
              <a:rPr>
                <a:solidFill>
                  <a:srgbClr val="6CCE66"/>
                </a:solidFill>
              </a:rPr>
              <a:t>String</a:t>
            </a:r>
            <a:r>
              <a:t>, age: </a:t>
            </a:r>
            <a:r>
              <a:rPr>
                <a:solidFill>
                  <a:srgbClr val="6CCE66"/>
                </a:solidFill>
              </a:rPr>
              <a:t>Int</a:t>
            </a:r>
            <a:r>
              <a:t>) {</a:t>
            </a:r>
          </a:p>
          <a:p>
            <a:pPr defTabSz="813816">
              <a:lnSpc>
                <a:spcPts val="4900"/>
              </a:lnSpc>
              <a:defRPr sz="2670"/>
            </a:pPr>
            <a:r>
              <a:t>    </a:t>
            </a:r>
            <a:r>
              <a:rPr>
                <a:solidFill>
                  <a:srgbClr val="3DCCCC"/>
                </a:solidFill>
              </a:rPr>
              <a:t>self</a:t>
            </a:r>
            <a:r>
              <a:t>.</a:t>
            </a:r>
            <a:r>
              <a:rPr>
                <a:solidFill>
                  <a:srgbClr val="6CCE66"/>
                </a:solidFill>
              </a:rPr>
              <a:t>name</a:t>
            </a:r>
            <a:r>
              <a:t> = name</a:t>
            </a:r>
          </a:p>
          <a:p>
            <a:pPr defTabSz="813816">
              <a:lnSpc>
                <a:spcPts val="4900"/>
              </a:lnSpc>
              <a:defRPr sz="2670"/>
            </a:pPr>
            <a:r>
              <a:t>    </a:t>
            </a:r>
            <a:r>
              <a:rPr>
                <a:solidFill>
                  <a:srgbClr val="3DCCCC"/>
                </a:solidFill>
              </a:rPr>
              <a:t>self</a:t>
            </a:r>
            <a:r>
              <a:t>.</a:t>
            </a:r>
            <a:r>
              <a:rPr>
                <a:solidFill>
                  <a:srgbClr val="6CCE66"/>
                </a:solidFill>
              </a:rPr>
              <a:t>age</a:t>
            </a:r>
            <a:r>
              <a:t> = age</a:t>
            </a:r>
          </a:p>
          <a:p>
            <a:pPr defTabSz="813816">
              <a:lnSpc>
                <a:spcPts val="4900"/>
              </a:lnSpc>
              <a:defRPr sz="2670"/>
            </a:pPr>
            <a:r>
              <a:t>  }</a:t>
            </a:r>
          </a:p>
          <a:p>
            <a:pPr defTabSz="813816">
              <a:lnSpc>
                <a:spcPts val="4900"/>
              </a:lnSpc>
              <a:defRPr sz="2670"/>
            </a:pPr>
            <a:r>
              <a:t>}</a:t>
            </a:r>
          </a:p>
          <a:p>
            <a:pPr defTabSz="813816">
              <a:lnSpc>
                <a:spcPts val="4900"/>
              </a:lnSpc>
              <a:defRPr sz="2670"/>
            </a:pPr>
          </a:p>
          <a:p>
            <a:pPr defTabSz="813816">
              <a:lnSpc>
                <a:spcPts val="4900"/>
              </a:lnSpc>
              <a:defRPr sz="2670"/>
            </a:pPr>
            <a:r>
              <a:rPr>
                <a:solidFill>
                  <a:srgbClr val="3DCCCC"/>
                </a:solidFill>
              </a:rPr>
              <a:t>var</a:t>
            </a:r>
            <a:r>
              <a:t> jack = </a:t>
            </a:r>
            <a:r>
              <a:rPr>
                <a:solidFill>
                  <a:srgbClr val="6CCE66"/>
                </a:solidFill>
              </a:rPr>
              <a:t>Person</a:t>
            </a:r>
            <a:r>
              <a:t>(name: </a:t>
            </a:r>
            <a:r>
              <a:rPr>
                <a:solidFill>
                  <a:srgbClr val="F95B57"/>
                </a:solidFill>
              </a:rPr>
              <a:t>"Jack"</a:t>
            </a:r>
            <a:r>
              <a:t>, age: 24)</a:t>
            </a:r>
          </a:p>
          <a:p>
            <a:pPr defTabSz="813816">
              <a:lnSpc>
                <a:spcPts val="4900"/>
              </a:lnSpc>
              <a:defRPr sz="2670"/>
            </a:pPr>
            <a:r>
              <a:rPr>
                <a:solidFill>
                  <a:srgbClr val="3DCCCC"/>
                </a:solidFill>
              </a:rPr>
              <a:t>var</a:t>
            </a:r>
            <a:r>
              <a:t> myFriend = </a:t>
            </a:r>
            <a:r>
              <a:rPr>
                <a:solidFill>
                  <a:srgbClr val="6CCE66"/>
                </a:solidFill>
              </a:rPr>
              <a:t>jack</a:t>
            </a:r>
          </a:p>
          <a:p>
            <a:pPr defTabSz="813816">
              <a:lnSpc>
                <a:spcPts val="4900"/>
              </a:lnSpc>
              <a:defRPr sz="2670"/>
            </a:pPr>
          </a:p>
          <a:p>
            <a:pPr defTabSz="813816">
              <a:lnSpc>
                <a:spcPts val="4900"/>
              </a:lnSpc>
              <a:defRPr sz="2670"/>
            </a:pPr>
            <a:r>
              <a:rPr>
                <a:solidFill>
                  <a:srgbClr val="6CCE66"/>
                </a:solidFill>
              </a:rPr>
              <a:t>jack</a:t>
            </a:r>
            <a:r>
              <a:t>.</a:t>
            </a:r>
            <a:r>
              <a:rPr>
                <a:solidFill>
                  <a:srgbClr val="6CCE66"/>
                </a:solidFill>
              </a:rPr>
              <a:t>age</a:t>
            </a:r>
            <a:r>
              <a:t> += 1</a:t>
            </a:r>
          </a:p>
          <a:p>
            <a:pPr defTabSz="813816">
              <a:lnSpc>
                <a:spcPts val="4900"/>
              </a:lnSpc>
              <a:defRPr sz="2670"/>
            </a:pPr>
          </a:p>
          <a:p>
            <a:pPr defTabSz="813816">
              <a:lnSpc>
                <a:spcPts val="4900"/>
              </a:lnSpc>
              <a:defRPr sz="2670"/>
            </a:pPr>
            <a:r>
              <a:rPr>
                <a:solidFill>
                  <a:srgbClr val="6CCE66"/>
                </a:solidFill>
              </a:rPr>
              <a:t>print</a:t>
            </a:r>
            <a:r>
              <a:t>(</a:t>
            </a:r>
            <a:r>
              <a:rPr>
                <a:solidFill>
                  <a:srgbClr val="6CCE66"/>
                </a:solidFill>
              </a:rPr>
              <a:t>jack</a:t>
            </a:r>
            <a:r>
              <a:t>.</a:t>
            </a:r>
            <a:r>
              <a:rPr>
                <a:solidFill>
                  <a:srgbClr val="6CCE66"/>
                </a:solidFill>
              </a:rPr>
              <a:t>age</a:t>
            </a:r>
            <a:r>
              <a:t>)</a:t>
            </a:r>
          </a:p>
          <a:p>
            <a:pPr defTabSz="813816">
              <a:lnSpc>
                <a:spcPts val="4900"/>
              </a:lnSpc>
              <a:defRPr sz="2670"/>
            </a:pPr>
            <a:r>
              <a:rPr>
                <a:solidFill>
                  <a:srgbClr val="6CCE66"/>
                </a:solidFill>
              </a:rPr>
              <a:t>print</a:t>
            </a:r>
            <a:r>
              <a:t>(</a:t>
            </a:r>
            <a:r>
              <a:rPr>
                <a:solidFill>
                  <a:srgbClr val="6CCE66"/>
                </a:solidFill>
              </a:rPr>
              <a:t>myFriend</a:t>
            </a:r>
            <a:r>
              <a:t>.</a:t>
            </a:r>
            <a:r>
              <a:rPr>
                <a:solidFill>
                  <a:srgbClr val="6CCE66"/>
                </a:solidFill>
              </a:rPr>
              <a:t>age</a:t>
            </a:r>
            <a:r>
              <a:t>)</a:t>
            </a:r>
          </a:p>
          <a:p>
            <a:pPr defTabSz="813816">
              <a:lnSpc>
                <a:spcPts val="4900"/>
              </a:lnSpc>
              <a:defRPr sz="2670"/>
            </a:pPr>
          </a:p>
          <a:p>
            <a:pPr defTabSz="813816">
              <a:lnSpc>
                <a:spcPts val="4900"/>
              </a:lnSpc>
              <a:defRPr sz="2670"/>
            </a:pPr>
            <a:r>
              <a:t>25</a:t>
            </a:r>
          </a:p>
          <a:p>
            <a:pPr defTabSz="813816">
              <a:lnSpc>
                <a:spcPts val="4900"/>
              </a:lnSpc>
              <a:defRPr sz="2670"/>
            </a:pPr>
            <a:r>
              <a:t>25</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struct Person {…"/>
          <p:cNvSpPr txBox="1"/>
          <p:nvPr>
            <p:ph type="subTitle" idx="1"/>
          </p:nvPr>
        </p:nvSpPr>
        <p:spPr>
          <a:prstGeom prst="rect">
            <a:avLst/>
          </a:prstGeom>
        </p:spPr>
        <p:txBody>
          <a:bodyPr/>
          <a:lstStyle/>
          <a:p>
            <a:pPr>
              <a:defRPr sz="3000"/>
            </a:pPr>
            <a:r>
              <a:rPr>
                <a:solidFill>
                  <a:srgbClr val="3DCCCC"/>
                </a:solidFill>
              </a:rPr>
              <a:t>struct</a:t>
            </a:r>
            <a:r>
              <a:t> Person {</a:t>
            </a:r>
          </a:p>
          <a:p>
            <a:pPr>
              <a:defRPr sz="3000"/>
            </a:pPr>
            <a:r>
              <a:t>  </a:t>
            </a:r>
            <a:r>
              <a:rPr>
                <a:solidFill>
                  <a:srgbClr val="3DCCCC"/>
                </a:solidFill>
              </a:rPr>
              <a:t>let</a:t>
            </a:r>
            <a:r>
              <a:t> name: </a:t>
            </a:r>
            <a:r>
              <a:rPr>
                <a:solidFill>
                  <a:srgbClr val="6CCE66"/>
                </a:solidFill>
              </a:rPr>
              <a:t>String</a:t>
            </a:r>
          </a:p>
          <a:p>
            <a:pPr>
              <a:defRPr sz="3000"/>
            </a:pPr>
            <a:r>
              <a:t>  </a:t>
            </a:r>
            <a:r>
              <a:rPr>
                <a:solidFill>
                  <a:srgbClr val="3DCCCC"/>
                </a:solidFill>
              </a:rPr>
              <a:t>var</a:t>
            </a:r>
            <a:r>
              <a:t> age: </a:t>
            </a:r>
            <a:r>
              <a:rPr>
                <a:solidFill>
                  <a:srgbClr val="6CCE66"/>
                </a:solidFill>
              </a:rPr>
              <a:t>Int</a:t>
            </a:r>
          </a:p>
          <a:p>
            <a:pPr>
              <a:defRPr sz="3000"/>
            </a:pPr>
            <a:r>
              <a:t>}</a:t>
            </a:r>
          </a:p>
          <a:p>
            <a:pPr>
              <a:defRPr sz="3000"/>
            </a:pPr>
          </a:p>
          <a:p>
            <a:pPr>
              <a:defRPr sz="3000"/>
            </a:pPr>
            <a:r>
              <a:rPr>
                <a:solidFill>
                  <a:srgbClr val="3DCCCC"/>
                </a:solidFill>
              </a:rPr>
              <a:t>var</a:t>
            </a:r>
            <a:r>
              <a:t> jack = </a:t>
            </a:r>
            <a:r>
              <a:rPr>
                <a:solidFill>
                  <a:srgbClr val="6CCE66"/>
                </a:solidFill>
              </a:rPr>
              <a:t>Person</a:t>
            </a:r>
            <a:r>
              <a:t>(name: </a:t>
            </a:r>
            <a:r>
              <a:rPr>
                <a:solidFill>
                  <a:srgbClr val="F95B57"/>
                </a:solidFill>
              </a:rPr>
              <a:t>"Jack"</a:t>
            </a:r>
            <a:r>
              <a:t>, age: 24)</a:t>
            </a:r>
          </a:p>
          <a:p>
            <a:pPr>
              <a:defRPr sz="3000"/>
            </a:pPr>
            <a:r>
              <a:rPr>
                <a:solidFill>
                  <a:srgbClr val="3DCCCC"/>
                </a:solidFill>
              </a:rPr>
              <a:t>var</a:t>
            </a:r>
            <a:r>
              <a:t> myFriend = </a:t>
            </a:r>
            <a:r>
              <a:rPr>
                <a:solidFill>
                  <a:srgbClr val="6CCE66"/>
                </a:solidFill>
              </a:rPr>
              <a:t>jack</a:t>
            </a:r>
          </a:p>
          <a:p>
            <a:pPr>
              <a:defRPr sz="3000"/>
            </a:pPr>
          </a:p>
          <a:p>
            <a:pPr>
              <a:defRPr sz="3000"/>
            </a:pPr>
            <a:r>
              <a:rPr>
                <a:solidFill>
                  <a:srgbClr val="6CCE66"/>
                </a:solidFill>
              </a:rPr>
              <a:t>jack</a:t>
            </a:r>
            <a:r>
              <a:t>.</a:t>
            </a:r>
            <a:r>
              <a:rPr>
                <a:solidFill>
                  <a:srgbClr val="6CCE66"/>
                </a:solidFill>
              </a:rPr>
              <a:t>age</a:t>
            </a:r>
            <a:r>
              <a:t> += 1</a:t>
            </a:r>
          </a:p>
          <a:p>
            <a:pPr>
              <a:defRPr sz="3000"/>
            </a:pPr>
          </a:p>
          <a:p>
            <a:pPr>
              <a:defRPr sz="3000"/>
            </a:pPr>
            <a:r>
              <a:rPr>
                <a:solidFill>
                  <a:srgbClr val="6CCE66"/>
                </a:solidFill>
              </a:rPr>
              <a:t>print</a:t>
            </a:r>
            <a:r>
              <a:t>(</a:t>
            </a:r>
            <a:r>
              <a:rPr>
                <a:solidFill>
                  <a:srgbClr val="6CCE66"/>
                </a:solidFill>
              </a:rPr>
              <a:t>jack</a:t>
            </a:r>
            <a:r>
              <a:t>.</a:t>
            </a:r>
            <a:r>
              <a:rPr>
                <a:solidFill>
                  <a:srgbClr val="6CCE66"/>
                </a:solidFill>
              </a:rPr>
              <a:t>age</a:t>
            </a:r>
            <a:r>
              <a:t>)</a:t>
            </a:r>
          </a:p>
          <a:p>
            <a:pPr>
              <a:defRPr sz="3000"/>
            </a:pPr>
            <a:r>
              <a:rPr>
                <a:solidFill>
                  <a:srgbClr val="6CCE66"/>
                </a:solidFill>
              </a:rPr>
              <a:t>print</a:t>
            </a:r>
            <a:r>
              <a:t>(</a:t>
            </a:r>
            <a:r>
              <a:rPr>
                <a:solidFill>
                  <a:srgbClr val="6CCE66"/>
                </a:solidFill>
              </a:rPr>
              <a:t>myFriend</a:t>
            </a:r>
            <a:r>
              <a:t>.</a:t>
            </a:r>
            <a:r>
              <a:rPr>
                <a:solidFill>
                  <a:srgbClr val="6CCE66"/>
                </a:solidFill>
              </a:rPr>
              <a:t>age</a:t>
            </a:r>
            <a:r>
              <a:t>)</a:t>
            </a:r>
          </a:p>
          <a:p>
            <a:pPr>
              <a:defRPr sz="3000"/>
            </a:pPr>
          </a:p>
          <a:p>
            <a:pPr>
              <a:defRPr sz="3000"/>
            </a:pPr>
          </a:p>
          <a:p>
            <a:pPr>
              <a:defRPr sz="3000"/>
            </a:pPr>
            <a:r>
              <a:t>25</a:t>
            </a:r>
          </a:p>
          <a:p>
            <a:pPr>
              <a:defRPr sz="3000"/>
            </a:pPr>
            <a:r>
              <a:t>24</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92"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193" name="Memberwise initializers"/>
          <p:cNvSpPr/>
          <p:nvPr>
            <p:ph type="title"/>
          </p:nvPr>
        </p:nvSpPr>
        <p:spPr>
          <a:prstGeom prst="rect">
            <a:avLst/>
          </a:prstGeom>
        </p:spPr>
        <p:txBody>
          <a:bodyPr/>
          <a:lstStyle/>
          <a:p>
            <a:pPr/>
            <a:r>
              <a:t>Memberwise initializers</a:t>
            </a:r>
          </a:p>
        </p:txBody>
      </p:sp>
      <p:sp>
        <p:nvSpPr>
          <p:cNvPr id="194" name="Swift does not create memberwise initializers for classes…"/>
          <p:cNvSpPr/>
          <p:nvPr>
            <p:ph type="body" idx="1"/>
          </p:nvPr>
        </p:nvSpPr>
        <p:spPr>
          <a:prstGeom prst="rect">
            <a:avLst/>
          </a:prstGeom>
        </p:spPr>
        <p:txBody>
          <a:bodyPr/>
          <a:lstStyle/>
          <a:p>
            <a:pPr/>
            <a:r>
              <a:t>Swift does not create memberwise initializers for classes</a:t>
            </a:r>
          </a:p>
          <a:p>
            <a:pPr/>
            <a:r>
              <a:t>Common practice is for developers to create their own for their defined classes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99"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00" name="Class or structure?"/>
          <p:cNvSpPr/>
          <p:nvPr>
            <p:ph type="title"/>
          </p:nvPr>
        </p:nvSpPr>
        <p:spPr>
          <a:prstGeom prst="rect">
            <a:avLst/>
          </a:prstGeom>
        </p:spPr>
        <p:txBody>
          <a:bodyPr/>
          <a:lstStyle/>
          <a:p>
            <a:pPr/>
            <a:r>
              <a:t>Class or structure?</a:t>
            </a:r>
          </a:p>
        </p:txBody>
      </p:sp>
      <p:sp>
        <p:nvSpPr>
          <p:cNvPr id="201" name="Start new types as structures…"/>
          <p:cNvSpPr/>
          <p:nvPr>
            <p:ph type="body" idx="1"/>
          </p:nvPr>
        </p:nvSpPr>
        <p:spPr>
          <a:prstGeom prst="rect">
            <a:avLst/>
          </a:prstGeom>
        </p:spPr>
        <p:txBody>
          <a:bodyPr/>
          <a:lstStyle/>
          <a:p>
            <a:pPr/>
            <a:r>
              <a:t>Start new types as structures</a:t>
            </a:r>
          </a:p>
          <a:p>
            <a:pPr/>
            <a:r>
              <a:t>Use a class: </a:t>
            </a:r>
          </a:p>
          <a:p>
            <a:pPr lvl="1"/>
            <a:r>
              <a:t>When you’re working with a framework that uses classes </a:t>
            </a:r>
          </a:p>
          <a:p>
            <a:pPr lvl="1"/>
            <a:r>
              <a:t>When you want to refer to the same instance of a type in multiple places</a:t>
            </a:r>
          </a:p>
          <a:p>
            <a:pPr lvl="1"/>
            <a:r>
              <a:t>When you want to model inheritance</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04" name="Lab: Classes.playground"/>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Lab: Classes.playground</a:t>
            </a:r>
          </a:p>
        </p:txBody>
      </p:sp>
      <p:sp>
        <p:nvSpPr>
          <p:cNvPr id="205" name="Unit 2, Lesson 4"/>
          <p:cNvSpPr/>
          <p:nvPr>
            <p:ph type="title"/>
          </p:nvPr>
        </p:nvSpPr>
        <p:spPr>
          <a:prstGeom prst="rect">
            <a:avLst/>
          </a:prstGeom>
        </p:spPr>
        <p:txBody>
          <a:bodyPr/>
          <a:lstStyle/>
          <a:p>
            <a:pPr/>
            <a:r>
              <a:t>Unit 2, Lesson 4</a:t>
            </a:r>
          </a:p>
        </p:txBody>
      </p:sp>
      <p:sp>
        <p:nvSpPr>
          <p:cNvPr id="206" name="Open and complete the exercises in Lab - Classes.playground"/>
          <p:cNvSpPr/>
          <p:nvPr>
            <p:ph type="body" idx="1"/>
          </p:nvPr>
        </p:nvSpPr>
        <p:spPr>
          <a:prstGeom prst="rect">
            <a:avLst/>
          </a:prstGeom>
        </p:spPr>
        <p:txBody>
          <a:bodyPr/>
          <a:lstStyle/>
          <a:p>
            <a:pPr marL="0" indent="0">
              <a:buSzTx/>
              <a:buNone/>
            </a:pPr>
            <a:r>
              <a:t>Open and complete the exercises in </a:t>
            </a:r>
            <a:r>
              <a:rPr>
                <a:latin typeface="Menlo Regular"/>
                <a:ea typeface="Menlo Regular"/>
                <a:cs typeface="Menlo Regular"/>
                <a:sym typeface="Menlo Regular"/>
              </a:rPr>
              <a:t>Lab - Classes.playground</a:t>
            </a:r>
          </a:p>
        </p:txBody>
      </p:sp>
      <p:grpSp>
        <p:nvGrpSpPr>
          <p:cNvPr id="209" name="Group"/>
          <p:cNvGrpSpPr/>
          <p:nvPr/>
        </p:nvGrpSpPr>
        <p:grpSpPr>
          <a:xfrm>
            <a:off x="21551900" y="1297017"/>
            <a:ext cx="1524001" cy="1524001"/>
            <a:chOff x="0" y="0"/>
            <a:chExt cx="1524000" cy="1524000"/>
          </a:xfrm>
        </p:grpSpPr>
        <p:sp>
          <p:nvSpPr>
            <p:cNvPr id="207" name="Circle"/>
            <p:cNvSpPr/>
            <p:nvPr/>
          </p:nvSpPr>
          <p:spPr>
            <a:xfrm>
              <a:off x="0" y="0"/>
              <a:ext cx="1524001" cy="1524001"/>
            </a:xfrm>
            <a:prstGeom prst="ellipse">
              <a:avLst/>
            </a:prstGeom>
            <a:gradFill flip="none" rotWithShape="1">
              <a:gsLst>
                <a:gs pos="0">
                  <a:srgbClr val="FE5F55"/>
                </a:gs>
                <a:gs pos="100000">
                  <a:srgbClr val="E4234A"/>
                </a:gs>
              </a:gsLst>
              <a:lin ang="5400000" scaled="0"/>
            </a:gradFill>
            <a:ln w="38100" cap="flat">
              <a:solidFill>
                <a:srgbClr val="DCDEE0"/>
              </a:solidFill>
              <a:prstDash val="solid"/>
              <a:miter lim="400000"/>
            </a:ln>
            <a:effectLst/>
          </p:spPr>
          <p:txBody>
            <a:bodyPr wrap="square" lIns="50800" tIns="50800" rIns="50800" bIns="50800" numCol="1" anchor="ctr">
              <a:noAutofit/>
            </a:bodyPr>
            <a:lstStyle/>
            <a:p>
              <a:pPr algn="l" defTabSz="800100">
                <a:spcBef>
                  <a:spcPts val="3000"/>
                </a:spcBef>
                <a:defRPr sz="4500">
                  <a:latin typeface="Helvetica Neue Light"/>
                  <a:ea typeface="Helvetica Neue Light"/>
                  <a:cs typeface="Helvetica Neue Light"/>
                  <a:sym typeface="Helvetica Neue Light"/>
                </a:defRPr>
              </a:pPr>
            </a:p>
          </p:txBody>
        </p:sp>
        <p:pic>
          <p:nvPicPr>
            <p:cNvPr id="208" name="Image" descr="Image"/>
            <p:cNvPicPr>
              <a:picLocks noChangeAspect="1"/>
            </p:cNvPicPr>
            <p:nvPr/>
          </p:nvPicPr>
          <p:blipFill>
            <a:blip r:embed="rId2">
              <a:extLst/>
            </a:blip>
            <a:stretch>
              <a:fillRect/>
            </a:stretch>
          </p:blipFill>
          <p:spPr>
            <a:xfrm>
              <a:off x="430261" y="411519"/>
              <a:ext cx="663478" cy="700962"/>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62ACDB"/>
      </a:dk1>
      <a:lt1>
        <a:srgbClr val="FFFFFF"/>
      </a:lt1>
      <a:dk2>
        <a:srgbClr val="000000"/>
      </a:dk2>
      <a:lt2>
        <a:srgbClr val="BF832E"/>
      </a:lt2>
      <a:accent1>
        <a:srgbClr val="A8A8A8"/>
      </a:accent1>
      <a:accent2>
        <a:srgbClr val="E9E9E9"/>
      </a:accent2>
      <a:accent3>
        <a:srgbClr val="D3D3D3"/>
      </a:accent3>
      <a:accent4>
        <a:srgbClr val="BEBEBE"/>
      </a:accent4>
      <a:accent5>
        <a:srgbClr val="8C8C8C"/>
      </a:accent5>
      <a:accent6>
        <a:srgbClr val="666666"/>
      </a:accent6>
      <a:hlink>
        <a:srgbClr val="0000FF"/>
      </a:hlink>
      <a:folHlink>
        <a:srgbClr val="FF00FF"/>
      </a:folHlink>
    </a:clrScheme>
    <a:fontScheme name="White">
      <a:majorFont>
        <a:latin typeface="Helvetica Neue"/>
        <a:ea typeface="Helvetica Neue"/>
        <a:cs typeface="Helvetica Neue"/>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497C1"/>
        </a:solid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5497C1"/>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000000"/>
      </a:dk2>
      <a:lt2>
        <a:srgbClr val="BF832E"/>
      </a:lt2>
      <a:accent1>
        <a:srgbClr val="A8A8A8"/>
      </a:accent1>
      <a:accent2>
        <a:srgbClr val="E9E9E9"/>
      </a:accent2>
      <a:accent3>
        <a:srgbClr val="D3D3D3"/>
      </a:accent3>
      <a:accent4>
        <a:srgbClr val="BEBEBE"/>
      </a:accent4>
      <a:accent5>
        <a:srgbClr val="8C8C8C"/>
      </a:accent5>
      <a:accent6>
        <a:srgbClr val="666666"/>
      </a:accent6>
      <a:hlink>
        <a:srgbClr val="0000FF"/>
      </a:hlink>
      <a:folHlink>
        <a:srgbClr val="FF00FF"/>
      </a:folHlink>
    </a:clrScheme>
    <a:fontScheme name="White">
      <a:majorFont>
        <a:latin typeface="Helvetica Neue"/>
        <a:ea typeface="Helvetica Neue"/>
        <a:cs typeface="Helvetica Neue"/>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497C1"/>
        </a:solid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5497C1"/>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