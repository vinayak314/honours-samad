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3429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6858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0287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3716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7145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0574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24003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2743200" algn="ctr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CF98D744-8493-4088-A5B2-D3DB8EB5CBA4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454D52"/>
              </a:solidFill>
              <a:prstDash val="solid"/>
              <a:miter lim="400000"/>
            </a:ln>
          </a:left>
          <a:right>
            <a:ln w="12700" cap="flat">
              <a:solidFill>
                <a:srgbClr val="454D52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454D52"/>
              </a:solidFill>
              <a:prstDash val="solid"/>
              <a:miter lim="400000"/>
            </a:ln>
          </a:insideV>
        </a:tcBdr>
        <a:fill>
          <a:solidFill>
            <a:srgbClr val="D1DADE">
              <a:alpha val="25000"/>
            </a:srgbClr>
          </a:solidFill>
        </a:fill>
      </a:tcStyle>
    </a:wholeTbl>
    <a:band2H>
      <a:tcTxStyle b="def" i="def"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6F7980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3BCCC"/>
              </a:solidFill>
              <a:prstDash val="solid"/>
              <a:miter lim="400000"/>
            </a:ln>
          </a:left>
          <a:right>
            <a:ln w="12700" cap="flat">
              <a:solidFill>
                <a:srgbClr val="A3BCCC"/>
              </a:solidFill>
              <a:prstDash val="solid"/>
              <a:miter lim="400000"/>
            </a:ln>
          </a:right>
          <a:top>
            <a:ln w="25400" cap="flat">
              <a:solidFill>
                <a:srgbClr val="6F798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A3BCCC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F7980"/>
              </a:solidFill>
              <a:prstDash val="solid"/>
              <a:miter lim="400000"/>
            </a:ln>
          </a:left>
          <a:right>
            <a:ln w="12700" cap="flat">
              <a:solidFill>
                <a:srgbClr val="6F798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F7980"/>
              </a:solidFill>
              <a:prstDash val="solid"/>
              <a:miter lim="400000"/>
            </a:ln>
          </a:bottom>
          <a:insideH>
            <a:ln w="12700" cap="flat">
              <a:solidFill>
                <a:srgbClr val="A3BCCC"/>
              </a:solidFill>
              <a:prstDash val="solid"/>
              <a:miter lim="400000"/>
            </a:ln>
          </a:insideH>
          <a:insideV>
            <a:ln w="12700" cap="flat">
              <a:solidFill>
                <a:srgbClr val="6F798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600">
        <a:latin typeface="+mn-lt"/>
        <a:ea typeface="+mn-ea"/>
        <a:cs typeface="+mn-cs"/>
        <a:sym typeface="Helvetica Neue"/>
      </a:defRPr>
    </a:lvl1pPr>
    <a:lvl2pPr indent="228600" defTabSz="457200" latinLnBrk="0">
      <a:defRPr sz="2600">
        <a:latin typeface="+mn-lt"/>
        <a:ea typeface="+mn-ea"/>
        <a:cs typeface="+mn-cs"/>
        <a:sym typeface="Helvetica Neue"/>
      </a:defRPr>
    </a:lvl2pPr>
    <a:lvl3pPr indent="457200" defTabSz="457200" latinLnBrk="0">
      <a:defRPr sz="2600">
        <a:latin typeface="+mn-lt"/>
        <a:ea typeface="+mn-ea"/>
        <a:cs typeface="+mn-cs"/>
        <a:sym typeface="Helvetica Neue"/>
      </a:defRPr>
    </a:lvl3pPr>
    <a:lvl4pPr indent="685800" defTabSz="457200" latinLnBrk="0">
      <a:defRPr sz="2600">
        <a:latin typeface="+mn-lt"/>
        <a:ea typeface="+mn-ea"/>
        <a:cs typeface="+mn-cs"/>
        <a:sym typeface="Helvetica Neue"/>
      </a:defRPr>
    </a:lvl4pPr>
    <a:lvl5pPr indent="914400" defTabSz="457200" latinLnBrk="0">
      <a:defRPr sz="2600">
        <a:latin typeface="+mn-lt"/>
        <a:ea typeface="+mn-ea"/>
        <a:cs typeface="+mn-cs"/>
        <a:sym typeface="Helvetica Neue"/>
      </a:defRPr>
    </a:lvl5pPr>
    <a:lvl6pPr indent="1143000" defTabSz="457200" latinLnBrk="0">
      <a:defRPr sz="2600">
        <a:latin typeface="+mn-lt"/>
        <a:ea typeface="+mn-ea"/>
        <a:cs typeface="+mn-cs"/>
        <a:sym typeface="Helvetica Neue"/>
      </a:defRPr>
    </a:lvl6pPr>
    <a:lvl7pPr indent="1371600" defTabSz="457200" latinLnBrk="0">
      <a:defRPr sz="2600">
        <a:latin typeface="+mn-lt"/>
        <a:ea typeface="+mn-ea"/>
        <a:cs typeface="+mn-cs"/>
        <a:sym typeface="Helvetica Neue"/>
      </a:defRPr>
    </a:lvl7pPr>
    <a:lvl8pPr indent="1600200" defTabSz="457200" latinLnBrk="0">
      <a:defRPr sz="2600">
        <a:latin typeface="+mn-lt"/>
        <a:ea typeface="+mn-ea"/>
        <a:cs typeface="+mn-cs"/>
        <a:sym typeface="Helvetica Neue"/>
      </a:defRPr>
    </a:lvl8pPr>
    <a:lvl9pPr indent="1828800" defTabSz="457200" latinLnBrk="0">
      <a:defRPr sz="26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reativecommons.org/licenses/by-nc-sa/4.0/legalcode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" name="Shape 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Note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The example shows global and local variables.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Note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Shows "age" as a global variable, available everywhere.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Note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Shows "bottleCount" as a local variable, not available outside of the function.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" name="Shape 1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228600" indent="-228600">
              <a:buSzPct val="100000"/>
              <a:buChar char="•"/>
              <a:defRPr sz="3000"/>
            </a:pPr>
            <a:r>
              <a:t>"name" is OK because it’s at the top level of the function.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"index" is more tightly defined. It’s part of the for/in loop, </a:t>
            </a:r>
            <a:r>
              <a:t>so it’s </a:t>
            </a:r>
            <a:r>
              <a:t>available only inside the for/in loop.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"name" is also available inside the for/in loop.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Do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Walk through the example. It prints 200, then 100.</a:t>
            </a:r>
          </a:p>
          <a:p>
            <a:pPr>
              <a:defRPr sz="3000"/>
            </a:pPr>
            <a:r>
              <a:t>Say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Be careful when you use variable shadowing. It shouldn't be too hard to parse, but is it worth the extra effort compared to just using different variable names?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This is somewhat common to do:</a:t>
            </a:r>
          </a:p>
          <a:p>
            <a:pPr>
              <a:defRPr sz="3000"/>
            </a:pPr>
            <a:r>
              <a:t>	if let name = name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Using this is a stylistic call. Not everyone agrees about using this format.</a:t>
            </a:r>
          </a:p>
          <a:p>
            <a:pPr>
              <a:defRPr sz="3000"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1" name="Shape 1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"guard" has the same caveats as the if/let example.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The memberwise initializer of a Struct uses argument names that are the same as the property names.</a:t>
            </a:r>
          </a:p>
          <a:p>
            <a:pPr marL="171979" indent="-171979">
              <a:buSzPct val="80000"/>
              <a:buChar char="•"/>
              <a:defRPr sz="3000"/>
            </a:pPr>
            <a:r>
              <a:t>That makes for readable code, because the argument names are also used as property accessors.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Say</a:t>
            </a:r>
          </a:p>
          <a:p>
            <a:pPr marL="171979" indent="-171979">
              <a:buSzPct val="90000"/>
              <a:buChar char="•"/>
              <a:defRPr sz="3000"/>
            </a:pPr>
            <a:r>
              <a:t>Here's what an initializer looks like.</a:t>
            </a:r>
          </a:p>
          <a:p>
            <a:pPr>
              <a:defRPr sz="3000"/>
            </a:pPr>
            <a:r>
              <a:t>Do</a:t>
            </a:r>
          </a:p>
          <a:p>
            <a:pPr marL="171979" indent="-171979">
              <a:buSzPct val="90000"/>
              <a:buChar char="•"/>
              <a:defRPr sz="3000"/>
            </a:pPr>
            <a:r>
              <a:t>Click to highlight "self" in the init method.</a:t>
            </a:r>
          </a:p>
          <a:p>
            <a:pPr>
              <a:defRPr sz="3000"/>
            </a:pPr>
            <a:r>
              <a:t>Say</a:t>
            </a:r>
          </a:p>
          <a:p>
            <a:pPr marL="171979" indent="-171979">
              <a:buSzPct val="90000"/>
              <a:buChar char="•"/>
              <a:defRPr sz="3000"/>
            </a:pPr>
            <a:r>
              <a:t>Why do we need "self" here? Answer: Shadowing—we need to be precise to satisfy the compiler.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L569805A-en_WW App Development with Swift © 2021 Apple Inc. This work is licensed by Apple Inc. under the </a:t>
            </a:r>
            <a:r>
              <a:rPr u="sng">
                <a:hlinkClick r:id="rId3" invalidUrl="" action="" tgtFrame="" tooltip="" history="1" highlightClick="0" endSnd="0"/>
              </a:rPr>
              <a:t>Creative Commons Attribution-NonCommercial-ShareAlike 4.0 International</a:t>
            </a:r>
            <a:r>
              <a:t> license (</a:t>
            </a:r>
            <a:r>
              <a:rPr u="sng">
                <a:hlinkClick r:id="rId3" invalidUrl="" action="" tgtFrame="" tooltip="" history="1" highlightClick="0" endSnd="0"/>
              </a:rPr>
              <a:t>https://creativecommons.org/licenses/by-nc-sa/4.0/legalcode</a:t>
            </a:r>
            <a:r>
              <a:t>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-nc-sa/4.0/legalcode" TargetMode="Externa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0" name="Text"/>
          <p:cNvSpPr/>
          <p:nvPr>
            <p:ph type="body" sz="quarter" idx="22"/>
          </p:nvPr>
        </p:nvSpPr>
        <p:spPr>
          <a:xfrm>
            <a:off x="1143000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idx="1"/>
          </p:nvPr>
        </p:nvSpPr>
        <p:spPr>
          <a:xfrm>
            <a:off x="1143000" y="3911600"/>
            <a:ext cx="22098000" cy="9118600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marL="317500" indent="-317500" defTabSz="914400">
              <a:lnSpc>
                <a:spcPct val="100000"/>
              </a:lnSpc>
              <a:spcBef>
                <a:spcPts val="2800"/>
              </a:spcBef>
              <a:buSzPct val="90000"/>
              <a:buChar char="•"/>
              <a:defRPr spc="-48" sz="4800">
                <a:latin typeface="+mn-lt"/>
                <a:ea typeface="+mn-ea"/>
                <a:cs typeface="+mn-cs"/>
                <a:sym typeface="Helvetica Neue"/>
              </a:defRPr>
            </a:lvl1pPr>
            <a:lvl2pPr marL="635000" indent="-304800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2pPr>
            <a:lvl3pPr marL="947419" indent="-2997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3pPr>
            <a:lvl4pPr marL="1252219" indent="-28701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4pPr>
            <a:lvl5pPr marL="1550669" indent="-280669" defTabSz="914400">
              <a:lnSpc>
                <a:spcPct val="100000"/>
              </a:lnSpc>
              <a:spcBef>
                <a:spcPts val="2800"/>
              </a:spcBef>
              <a:buSzPct val="80000"/>
              <a:buChar char="-"/>
              <a:defRPr spc="-48" sz="4800">
                <a:latin typeface="+mn-lt"/>
                <a:ea typeface="+mn-ea"/>
                <a:cs typeface="+mn-cs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s-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1" name="Text"/>
          <p:cNvSpPr/>
          <p:nvPr>
            <p:ph type="body" sz="quarter" idx="22"/>
          </p:nvPr>
        </p:nvSpPr>
        <p:spPr>
          <a:xfrm>
            <a:off x="1140172" y="2057400"/>
            <a:ext cx="22098001" cy="914400"/>
          </a:xfrm>
          <a:prstGeom prst="rect">
            <a:avLst/>
          </a:prstGeom>
          <a:ln w="12700"/>
        </p:spPr>
        <p:txBody>
          <a:bodyPr lIns="50800" tIns="50800" rIns="50800" bIns="50800">
            <a:spAutoFit/>
          </a:bodyPr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32" name="Title Text"/>
          <p:cNvSpPr/>
          <p:nvPr>
            <p:ph type="title"/>
          </p:nvPr>
        </p:nvSpPr>
        <p:spPr>
          <a:xfrm>
            <a:off x="1155700" y="0"/>
            <a:ext cx="22098000" cy="205740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825500">
              <a:lnSpc>
                <a:spcPts val="7300"/>
              </a:lnSpc>
              <a:spcBef>
                <a:spcPts val="0"/>
              </a:spcBef>
              <a:defRPr b="1"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ubtopic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"/>
          <p:cNvSpPr/>
          <p:nvPr>
            <p:ph type="body" sz="quarter" idx="21"/>
          </p:nvPr>
        </p:nvSpPr>
        <p:spPr>
          <a:xfrm>
            <a:off x="214165" y="13373100"/>
            <a:ext cx="19291301" cy="228600"/>
          </a:xfrm>
          <a:prstGeom prst="rect">
            <a:avLst/>
          </a:prstGeom>
          <a:ln w="12700"/>
        </p:spPr>
        <p:txBody>
          <a:bodyPr lIns="0" tIns="0" rIns="0" bIns="0" anchor="b">
            <a:spAutoFit/>
          </a:bodyPr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49" name="Title Text"/>
          <p:cNvSpPr/>
          <p:nvPr>
            <p:ph type="title"/>
          </p:nvPr>
        </p:nvSpPr>
        <p:spPr>
          <a:xfrm>
            <a:off x="1143000" y="2743200"/>
            <a:ext cx="22098000" cy="8229600"/>
          </a:xfrm>
          <a:prstGeom prst="rect">
            <a:avLst/>
          </a:prstGeom>
          <a:ln w="12700"/>
        </p:spPr>
        <p:txBody>
          <a:bodyPr lIns="50800" tIns="50800" rIns="50800" bIns="50800" anchor="ctr"/>
          <a:lstStyle>
            <a:lvl1pPr defTabSz="914400">
              <a:lnSpc>
                <a:spcPts val="11200"/>
              </a:lnSpc>
              <a:spcBef>
                <a:spcPts val="0"/>
              </a:spcBef>
              <a:defRPr b="1" spc="-200" sz="10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/>
          <p:nvPr>
            <p:ph type="sldNum" sz="quarter" idx="2"/>
          </p:nvPr>
        </p:nvSpPr>
        <p:spPr>
          <a:xfrm>
            <a:off x="23963891" y="130429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losing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© 2021 Apple Inc.…"/>
          <p:cNvSpPr txBox="1"/>
          <p:nvPr/>
        </p:nvSpPr>
        <p:spPr>
          <a:xfrm>
            <a:off x="6628320" y="12982076"/>
            <a:ext cx="11127360" cy="55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 anchor="ctr">
            <a:spAutoFit/>
          </a:bodyPr>
          <a:lstStyle/>
          <a:p>
            <a:pPr>
              <a:tabLst>
                <a:tab pos="1651000" algn="l"/>
              </a:tabLst>
              <a:defRPr sz="1500"/>
            </a:pPr>
            <a:r>
              <a:t>© 2021 Apple Inc. </a:t>
            </a:r>
          </a:p>
          <a:p>
            <a:pPr>
              <a:tabLst>
                <a:tab pos="1651000" algn="l"/>
              </a:tabLst>
              <a:defRPr sz="1500"/>
            </a:pPr>
            <a:r>
              <a:t>This work is licensed by Apple Inc. under the </a:t>
            </a:r>
            <a:r>
              <a:rPr>
                <a:hlinkClick r:id="rId2" invalidUrl="" action="" tgtFrame="" tooltip="" history="1" highlightClick="0" endSnd="0"/>
              </a:rPr>
              <a:t>Creative Commons Attribution-NonCommercial-ShareAlike 4.0 International</a:t>
            </a:r>
            <a:r>
              <a:t> license.</a:t>
            </a:r>
          </a:p>
        </p:txBody>
      </p:sp>
      <p:sp>
        <p:nvSpPr>
          <p:cNvPr id="58" name="Slide Number"/>
          <p:cNvSpPr/>
          <p:nvPr>
            <p:ph type="sldNum" sz="quarter" idx="2"/>
          </p:nvPr>
        </p:nvSpPr>
        <p:spPr>
          <a:xfrm>
            <a:off x="23963891" y="13335000"/>
            <a:ext cx="326137" cy="312167"/>
          </a:xfrm>
          <a:prstGeom prst="rect">
            <a:avLst/>
          </a:prstGeom>
          <a:ln w="12700"/>
        </p:spPr>
        <p:txBody>
          <a:bodyPr lIns="50800" tIns="50800" rIns="50800" bIns="50800"/>
          <a:lstStyle>
            <a:lvl1pPr algn="r">
              <a:lnSpc>
                <a:spcPct val="100000"/>
              </a:lnSpc>
              <a:spcBef>
                <a:spcPts val="0"/>
              </a:spcBef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defTabSz="914400"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9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524000" y="604741"/>
            <a:ext cx="21336000" cy="13914262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7150" tIns="57150" rIns="57150" bIns="5715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524000" y="762000"/>
            <a:ext cx="21336000" cy="14097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2776924" y="14414500"/>
            <a:ext cx="381204" cy="387070"/>
          </a:xfrm>
          <a:prstGeom prst="rect">
            <a:avLst/>
          </a:prstGeom>
          <a:ln w="25400">
            <a:miter lim="400000"/>
          </a:ln>
        </p:spPr>
        <p:txBody>
          <a:bodyPr wrap="none" lIns="57150" tIns="57150" rIns="57150" bIns="57150">
            <a:spAutoFit/>
          </a:bodyPr>
          <a:lstStyle>
            <a:lvl1pPr algn="l" defTabSz="822960">
              <a:lnSpc>
                <a:spcPct val="120000"/>
              </a:lnSpc>
              <a:spcBef>
                <a:spcPts val="1600"/>
              </a:spcBef>
              <a:defRPr sz="1800">
                <a:solidFill>
                  <a:srgbClr val="A6B0C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1pPr>
      <a:lvl2pPr marL="0" marR="0" indent="228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2pPr>
      <a:lvl3pPr marL="0" marR="0" indent="457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3pPr>
      <a:lvl4pPr marL="0" marR="0" indent="685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4pPr>
      <a:lvl5pPr marL="0" marR="0" indent="9144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5pPr>
      <a:lvl6pPr marL="0" marR="0" indent="11430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6pPr>
      <a:lvl7pPr marL="0" marR="0" indent="13716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7pPr>
      <a:lvl8pPr marL="0" marR="0" indent="16002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8pPr>
      <a:lvl9pPr marL="0" marR="0" indent="1828800" algn="l" defTabSz="822960" latinLnBrk="0">
        <a:lnSpc>
          <a:spcPts val="10400"/>
        </a:lnSpc>
        <a:spcBef>
          <a:spcPts val="1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600" u="none">
          <a:solidFill>
            <a:srgbClr val="FFFFFF"/>
          </a:solidFill>
          <a:uFillTx/>
          <a:latin typeface="Helvetica Neue Thin"/>
          <a:ea typeface="Helvetica Neue Thin"/>
          <a:cs typeface="Helvetica Neue Thin"/>
          <a:sym typeface="Helvetica Neue Thin"/>
        </a:defRPr>
      </a:lvl9pPr>
    </p:titleStyle>
    <p:bodyStyle>
      <a:lvl1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1pPr>
      <a:lvl2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2pPr>
      <a:lvl3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3pPr>
      <a:lvl4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4pPr>
      <a:lvl5pPr marL="0" marR="0" indent="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5pPr>
      <a:lvl6pPr marL="0" marR="0" indent="11430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6pPr>
      <a:lvl7pPr marL="0" marR="0" indent="13716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7pPr>
      <a:lvl8pPr marL="0" marR="0" indent="16002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8pPr>
      <a:lvl9pPr marL="0" marR="0" indent="1828800" algn="l" defTabSz="822960" latinLnBrk="0">
        <a:lnSpc>
          <a:spcPts val="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rgbClr val="FFFFFF"/>
          </a:solidFill>
          <a:uFillTx/>
          <a:latin typeface="Menlo Regular"/>
          <a:ea typeface="Menlo Regular"/>
          <a:cs typeface="Menlo Regular"/>
          <a:sym typeface="Menlo Regular"/>
        </a:defRPr>
      </a:lvl9pPr>
    </p:bodyStyle>
    <p:otherStyle>
      <a:lvl1pPr marL="0" marR="0" indent="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l" defTabSz="822960" latinLnBrk="0">
        <a:lnSpc>
          <a:spcPct val="12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68" name="Unit 3—Lesson 4: Constant and Variable Scop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ts val="13400"/>
              </a:lnSpc>
            </a:pPr>
            <a:r>
              <a:t>Unit 3</a:t>
            </a:r>
            <a:r>
              <a:rPr spc="-237" sz="11900"/>
              <a:t>—Lesson 4:</a:t>
            </a:r>
            <a:br/>
            <a:r>
              <a:t>Constant and Variable Scope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1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2" name="Rectangle"/>
          <p:cNvSpPr/>
          <p:nvPr/>
        </p:nvSpPr>
        <p:spPr>
          <a:xfrm>
            <a:off x="761516" y="6812756"/>
            <a:ext cx="22860968" cy="3316289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73" name="Scop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</a:t>
            </a:r>
          </a:p>
        </p:txBody>
      </p:sp>
      <p:sp>
        <p:nvSpPr>
          <p:cNvPr id="74" name="Global scope—Defined outside of a function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Global scope—Defined outside of a function</a:t>
            </a:r>
          </a:p>
          <a:p>
            <a:pPr marL="0" indent="0">
              <a:buSzTx/>
              <a:buNone/>
            </a:pPr>
            <a:r>
              <a:t>Local scope—Defined within braces ( </a:t>
            </a:r>
            <a:r>
              <a:rPr spc="-42" sz="4200">
                <a:latin typeface="Menlo Regular"/>
                <a:ea typeface="Menlo Regular"/>
                <a:cs typeface="Menlo Regular"/>
                <a:sym typeface="Menlo Regular"/>
              </a:rPr>
              <a:t>{</a:t>
            </a:r>
            <a:r>
              <a:t> </a:t>
            </a:r>
            <a:r>
              <a:rPr spc="-42" sz="4200">
                <a:latin typeface="Menlo Regular"/>
                <a:ea typeface="Menlo Regular"/>
                <a:cs typeface="Menlo Regular"/>
                <a:sym typeface="Menlo Regular"/>
              </a:rPr>
              <a:t>}</a:t>
            </a:r>
            <a:r>
              <a:t> )</a:t>
            </a:r>
          </a:p>
          <a:p>
            <a:pPr lvl="1" marL="0" indent="2286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lvl="1" marL="0" indent="2286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globalVariable = </a:t>
            </a:r>
            <a:r>
              <a:rPr>
                <a:solidFill>
                  <a:srgbClr val="3DCCCC"/>
                </a:solidFill>
              </a:rPr>
              <a:t>true</a:t>
            </a:r>
          </a:p>
          <a:p>
            <a:pPr lvl="1" marL="0" indent="2286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lvl="1" marL="0" indent="2286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6CCE66"/>
                </a:solidFill>
              </a:rPr>
              <a:t>globalVariable</a:t>
            </a:r>
            <a:r>
              <a:t> {</a:t>
            </a:r>
          </a:p>
          <a:p>
            <a:pPr lvl="2" marL="0" indent="457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localVariable = 7</a:t>
            </a:r>
          </a:p>
          <a:p>
            <a:pPr lvl="1" marL="0" indent="2286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7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0" name="Rectangle"/>
          <p:cNvSpPr/>
          <p:nvPr/>
        </p:nvSpPr>
        <p:spPr>
          <a:xfrm>
            <a:off x="761517" y="9721517"/>
            <a:ext cx="22860968" cy="141963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1" name="Rectangle"/>
          <p:cNvSpPr/>
          <p:nvPr/>
        </p:nvSpPr>
        <p:spPr>
          <a:xfrm>
            <a:off x="761516" y="3931298"/>
            <a:ext cx="22860968" cy="531812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82" name="Scop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</a:t>
            </a:r>
          </a:p>
        </p:txBody>
      </p:sp>
      <p:sp>
        <p:nvSpPr>
          <p:cNvPr id="83" name="var age = 55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age = 55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printMyAge() {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"My age: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rPr>
                <a:solidFill>
                  <a:srgbClr val="6CCE66"/>
                </a:solidFill>
              </a:rPr>
              <a:t>age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age</a:t>
            </a:r>
            <a:r>
              <a:t>)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printMyAge</a:t>
            </a:r>
            <a:r>
              <a:t>()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55</a:t>
            </a:r>
          </a:p>
          <a:p>
            <a:pPr lvl="1" marL="0" indent="33020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My age: 55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8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89" name="Rectangle"/>
          <p:cNvSpPr/>
          <p:nvPr/>
        </p:nvSpPr>
        <p:spPr>
          <a:xfrm>
            <a:off x="761516" y="3969358"/>
            <a:ext cx="22860968" cy="4663124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90" name="Scop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</a:t>
            </a:r>
          </a:p>
        </p:txBody>
      </p:sp>
      <p:sp>
        <p:nvSpPr>
          <p:cNvPr id="91" name="func printBottleCount(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printBottleCount()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bottleCount = 99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(bottleCount)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printBottleCount</a:t>
            </a:r>
            <a:r>
              <a:t>()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(bottleCount)</a:t>
            </a:r>
          </a:p>
        </p:txBody>
      </p:sp>
      <p:grpSp>
        <p:nvGrpSpPr>
          <p:cNvPr id="98" name="Group"/>
          <p:cNvGrpSpPr/>
          <p:nvPr/>
        </p:nvGrpSpPr>
        <p:grpSpPr>
          <a:xfrm>
            <a:off x="14541500" y="7856228"/>
            <a:ext cx="8526315" cy="747599"/>
            <a:chOff x="0" y="0"/>
            <a:chExt cx="8526314" cy="747597"/>
          </a:xfrm>
        </p:grpSpPr>
        <p:sp>
          <p:nvSpPr>
            <p:cNvPr id="92" name="Rectangle"/>
            <p:cNvSpPr/>
            <p:nvPr/>
          </p:nvSpPr>
          <p:spPr>
            <a:xfrm>
              <a:off x="419464" y="62869"/>
              <a:ext cx="8106851" cy="621860"/>
            </a:xfrm>
            <a:prstGeom prst="rect">
              <a:avLst/>
            </a:prstGeom>
            <a:solidFill>
              <a:srgbClr val="FFAD99"/>
            </a:solidFill>
            <a:ln w="254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defRPr sz="3000"/>
              </a:pPr>
            </a:p>
          </p:txBody>
        </p:sp>
        <p:sp>
          <p:nvSpPr>
            <p:cNvPr id="93" name="Shape"/>
            <p:cNvSpPr/>
            <p:nvPr/>
          </p:nvSpPr>
          <p:spPr>
            <a:xfrm>
              <a:off x="0" y="80954"/>
              <a:ext cx="459271" cy="585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05" y="84"/>
                  </a:moveTo>
                  <a:lnTo>
                    <a:pt x="0" y="11041"/>
                  </a:lnTo>
                  <a:lnTo>
                    <a:pt x="19505" y="21590"/>
                  </a:lnTo>
                  <a:lnTo>
                    <a:pt x="21219" y="21600"/>
                  </a:lnTo>
                  <a:lnTo>
                    <a:pt x="21600" y="0"/>
                  </a:lnTo>
                  <a:lnTo>
                    <a:pt x="19505" y="84"/>
                  </a:lnTo>
                  <a:close/>
                </a:path>
              </a:pathLst>
            </a:custGeom>
            <a:solidFill>
              <a:srgbClr val="FFAD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800100">
                <a:defRPr sz="3000"/>
              </a:pPr>
            </a:p>
          </p:txBody>
        </p:sp>
        <p:sp>
          <p:nvSpPr>
            <p:cNvPr id="94" name="Use of unresolved identifier 'bottleCount'"/>
            <p:cNvSpPr txBox="1"/>
            <p:nvPr/>
          </p:nvSpPr>
          <p:spPr>
            <a:xfrm>
              <a:off x="1101498" y="137128"/>
              <a:ext cx="7212583" cy="47334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 defTabSz="800100">
                <a:spcBef>
                  <a:spcPts val="3000"/>
                </a:spcBef>
                <a:defRPr sz="29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Use of unresolved identifier 'bottleCount'</a:t>
              </a:r>
            </a:p>
          </p:txBody>
        </p:sp>
        <p:grpSp>
          <p:nvGrpSpPr>
            <p:cNvPr id="97" name="Group"/>
            <p:cNvGrpSpPr/>
            <p:nvPr/>
          </p:nvGrpSpPr>
          <p:grpSpPr>
            <a:xfrm>
              <a:off x="361229" y="0"/>
              <a:ext cx="747598" cy="747598"/>
              <a:chOff x="0" y="0"/>
              <a:chExt cx="747597" cy="747597"/>
            </a:xfrm>
          </p:grpSpPr>
          <p:sp>
            <p:nvSpPr>
              <p:cNvPr id="95" name="Polygon"/>
              <p:cNvSpPr/>
              <p:nvPr/>
            </p:nvSpPr>
            <p:spPr>
              <a:xfrm rot="20220000">
                <a:off x="88725" y="88725"/>
                <a:ext cx="570148" cy="5701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18437" y="3163"/>
                    </a:lnTo>
                    <a:lnTo>
                      <a:pt x="21600" y="10800"/>
                    </a:lnTo>
                    <a:lnTo>
                      <a:pt x="18437" y="18437"/>
                    </a:lnTo>
                    <a:lnTo>
                      <a:pt x="10800" y="21600"/>
                    </a:lnTo>
                    <a:lnTo>
                      <a:pt x="3163" y="18437"/>
                    </a:lnTo>
                    <a:lnTo>
                      <a:pt x="0" y="10800"/>
                    </a:lnTo>
                    <a:lnTo>
                      <a:pt x="3163" y="3163"/>
                    </a:lnTo>
                    <a:close/>
                  </a:path>
                </a:pathLst>
              </a:custGeom>
              <a:solidFill>
                <a:srgbClr val="FF2600"/>
              </a:solidFill>
              <a:ln w="254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800100">
                  <a:defRPr sz="3000"/>
                </a:pPr>
              </a:p>
            </p:txBody>
          </p:sp>
          <p:sp>
            <p:nvSpPr>
              <p:cNvPr id="96" name="!"/>
              <p:cNvSpPr txBox="1"/>
              <p:nvPr/>
            </p:nvSpPr>
            <p:spPr>
              <a:xfrm>
                <a:off x="303686" y="44129"/>
                <a:ext cx="159938" cy="635663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l" defTabSz="800100">
                  <a:spcBef>
                    <a:spcPts val="3000"/>
                  </a:spcBef>
                  <a:defRPr b="1" sz="4200"/>
                </a:lvl1pPr>
              </a:lstStyle>
              <a:p>
                <a:pPr/>
                <a:r>
                  <a:t>!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3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04" name="Rectangle"/>
          <p:cNvSpPr/>
          <p:nvPr/>
        </p:nvSpPr>
        <p:spPr>
          <a:xfrm>
            <a:off x="761516" y="3888709"/>
            <a:ext cx="22860968" cy="667425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05" name="Scop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Scope</a:t>
            </a:r>
          </a:p>
        </p:txBody>
      </p:sp>
      <p:sp>
        <p:nvSpPr>
          <p:cNvPr id="106" name="func printTenNames(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printTenNames()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 = </a:t>
            </a:r>
            <a:r>
              <a:rPr>
                <a:solidFill>
                  <a:srgbClr val="F95B57"/>
                </a:solidFill>
              </a:rPr>
              <a:t>"Richard"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for</a:t>
            </a:r>
            <a:r>
              <a:t> index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1...10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index</a:t>
            </a:r>
            <a:r>
              <a:rPr>
                <a:solidFill>
                  <a:srgbClr val="F95B57"/>
                </a:solidFill>
              </a:rPr>
              <a:t>):</a:t>
            </a:r>
            <a:r>
              <a:t> \</a:t>
            </a:r>
            <a:r>
              <a:rPr>
                <a:solidFill>
                  <a:srgbClr val="F95B57"/>
                </a:solidFill>
              </a:rPr>
              <a:t>(</a:t>
            </a:r>
            <a:r>
              <a:t>name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(index)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(name)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printTenNames</a:t>
            </a:r>
            <a:r>
              <a:t>()</a:t>
            </a:r>
          </a:p>
        </p:txBody>
      </p:sp>
      <p:grpSp>
        <p:nvGrpSpPr>
          <p:cNvPr id="113" name="Group"/>
          <p:cNvGrpSpPr/>
          <p:nvPr/>
        </p:nvGrpSpPr>
        <p:grpSpPr>
          <a:xfrm>
            <a:off x="14541500" y="7081101"/>
            <a:ext cx="8526315" cy="747598"/>
            <a:chOff x="0" y="0"/>
            <a:chExt cx="8526314" cy="747597"/>
          </a:xfrm>
        </p:grpSpPr>
        <p:sp>
          <p:nvSpPr>
            <p:cNvPr id="107" name="Rectangle"/>
            <p:cNvSpPr/>
            <p:nvPr/>
          </p:nvSpPr>
          <p:spPr>
            <a:xfrm>
              <a:off x="419464" y="62869"/>
              <a:ext cx="8106851" cy="621860"/>
            </a:xfrm>
            <a:prstGeom prst="rect">
              <a:avLst/>
            </a:prstGeom>
            <a:solidFill>
              <a:srgbClr val="FFAD99"/>
            </a:solidFill>
            <a:ln w="254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defRPr sz="3000"/>
              </a:pPr>
            </a:p>
          </p:txBody>
        </p:sp>
        <p:sp>
          <p:nvSpPr>
            <p:cNvPr id="108" name="Shape"/>
            <p:cNvSpPr/>
            <p:nvPr/>
          </p:nvSpPr>
          <p:spPr>
            <a:xfrm>
              <a:off x="0" y="80954"/>
              <a:ext cx="459271" cy="585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505" y="84"/>
                  </a:moveTo>
                  <a:lnTo>
                    <a:pt x="0" y="11041"/>
                  </a:lnTo>
                  <a:lnTo>
                    <a:pt x="19505" y="21590"/>
                  </a:lnTo>
                  <a:lnTo>
                    <a:pt x="21219" y="21600"/>
                  </a:lnTo>
                  <a:lnTo>
                    <a:pt x="21600" y="0"/>
                  </a:lnTo>
                  <a:lnTo>
                    <a:pt x="19505" y="84"/>
                  </a:lnTo>
                  <a:close/>
                </a:path>
              </a:pathLst>
            </a:custGeom>
            <a:solidFill>
              <a:srgbClr val="FFAD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800100">
                <a:defRPr sz="3000"/>
              </a:pPr>
            </a:p>
          </p:txBody>
        </p:sp>
        <p:sp>
          <p:nvSpPr>
            <p:cNvPr id="109" name="Use of unresolved identifier 'index'"/>
            <p:cNvSpPr txBox="1"/>
            <p:nvPr/>
          </p:nvSpPr>
          <p:spPr>
            <a:xfrm>
              <a:off x="1101498" y="137128"/>
              <a:ext cx="7212583" cy="473341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algn="l" defTabSz="800100">
                <a:spcBef>
                  <a:spcPts val="3000"/>
                </a:spcBef>
                <a:defRPr sz="29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Use of unresolved identifier 'index'</a:t>
              </a:r>
            </a:p>
          </p:txBody>
        </p:sp>
        <p:grpSp>
          <p:nvGrpSpPr>
            <p:cNvPr id="112" name="Group"/>
            <p:cNvGrpSpPr/>
            <p:nvPr/>
          </p:nvGrpSpPr>
          <p:grpSpPr>
            <a:xfrm>
              <a:off x="361229" y="0"/>
              <a:ext cx="747598" cy="747598"/>
              <a:chOff x="0" y="0"/>
              <a:chExt cx="747597" cy="747597"/>
            </a:xfrm>
          </p:grpSpPr>
          <p:sp>
            <p:nvSpPr>
              <p:cNvPr id="110" name="Polygon"/>
              <p:cNvSpPr/>
              <p:nvPr/>
            </p:nvSpPr>
            <p:spPr>
              <a:xfrm rot="20220000">
                <a:off x="88725" y="88725"/>
                <a:ext cx="570148" cy="5701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18437" y="3163"/>
                    </a:lnTo>
                    <a:lnTo>
                      <a:pt x="21600" y="10800"/>
                    </a:lnTo>
                    <a:lnTo>
                      <a:pt x="18437" y="18437"/>
                    </a:lnTo>
                    <a:lnTo>
                      <a:pt x="10800" y="21600"/>
                    </a:lnTo>
                    <a:lnTo>
                      <a:pt x="3163" y="18437"/>
                    </a:lnTo>
                    <a:lnTo>
                      <a:pt x="0" y="10800"/>
                    </a:lnTo>
                    <a:lnTo>
                      <a:pt x="3163" y="3163"/>
                    </a:lnTo>
                    <a:close/>
                  </a:path>
                </a:pathLst>
              </a:custGeom>
              <a:solidFill>
                <a:srgbClr val="FF2600"/>
              </a:solidFill>
              <a:ln w="254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800100">
                  <a:defRPr sz="3000"/>
                </a:pPr>
              </a:p>
            </p:txBody>
          </p:sp>
          <p:sp>
            <p:nvSpPr>
              <p:cNvPr id="111" name="!"/>
              <p:cNvSpPr txBox="1"/>
              <p:nvPr/>
            </p:nvSpPr>
            <p:spPr>
              <a:xfrm>
                <a:off x="303686" y="44129"/>
                <a:ext cx="159938" cy="635663"/>
              </a:xfrm>
              <a:prstGeom prst="rect">
                <a:avLst/>
              </a:prstGeom>
              <a:noFill/>
              <a:ln w="254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Autofit/>
              </a:bodyPr>
              <a:lstStyle>
                <a:lvl1pPr algn="l" defTabSz="800100">
                  <a:spcBef>
                    <a:spcPts val="3000"/>
                  </a:spcBef>
                  <a:defRPr b="1" sz="4200"/>
                </a:lvl1pPr>
              </a:lstStyle>
              <a:p>
                <a:pPr/>
                <a:r>
                  <a:t>!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761517" y="9147139"/>
            <a:ext cx="22860968" cy="253439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18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19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0" name="Rectangle"/>
          <p:cNvSpPr/>
          <p:nvPr/>
        </p:nvSpPr>
        <p:spPr>
          <a:xfrm>
            <a:off x="761516" y="4030222"/>
            <a:ext cx="22860968" cy="450340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21" name="Variable shadow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Variable shadowing</a:t>
            </a:r>
          </a:p>
        </p:txBody>
      </p:sp>
      <p:sp>
        <p:nvSpPr>
          <p:cNvPr id="122" name="let points = 100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points = 100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for index</a:t>
            </a:r>
            <a:r>
              <a:t> </a:t>
            </a:r>
            <a:r>
              <a:rPr>
                <a:solidFill>
                  <a:srgbClr val="3DCCCC"/>
                </a:solidFill>
              </a:rPr>
              <a:t>in</a:t>
            </a:r>
            <a:r>
              <a:t> 1...3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points = 200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("Loop \(index): \(points+index)")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(points)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Loop 1: 201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Loop 2: 202</a:t>
            </a:r>
            <a:endParaRPr sz="1400">
              <a:latin typeface="+mn-lt"/>
              <a:ea typeface="+mn-ea"/>
              <a:cs typeface="+mn-cs"/>
              <a:sym typeface="Helvetica Neue"/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Loop 3: 203</a:t>
            </a:r>
            <a:endParaRPr sz="1400">
              <a:latin typeface="+mn-lt"/>
              <a:ea typeface="+mn-ea"/>
              <a:cs typeface="+mn-cs"/>
              <a:sym typeface="Helvetica Neue"/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100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7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28" name="Rectangle"/>
          <p:cNvSpPr/>
          <p:nvPr/>
        </p:nvSpPr>
        <p:spPr>
          <a:xfrm>
            <a:off x="761516" y="3964108"/>
            <a:ext cx="22860968" cy="3383367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>
              <a:spcBef>
                <a:spcPts val="1200"/>
              </a:spcBef>
              <a:defRPr sz="3600">
                <a:solidFill>
                  <a:srgbClr val="F7F6FF"/>
                </a:solidFill>
              </a:defRPr>
            </a:pPr>
          </a:p>
        </p:txBody>
      </p:sp>
      <p:sp>
        <p:nvSpPr>
          <p:cNvPr id="129" name="Variable shadow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Variable shadowing</a:t>
            </a:r>
          </a:p>
        </p:txBody>
      </p:sp>
      <p:sp>
        <p:nvSpPr>
          <p:cNvPr id="130" name="var name: String? = &quot;Robert&quot;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? = </a:t>
            </a:r>
            <a:r>
              <a:rPr>
                <a:solidFill>
                  <a:srgbClr val="F95B57"/>
                </a:solidFill>
              </a:rPr>
              <a:t>"Robert"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if let</a:t>
            </a:r>
            <a:r>
              <a:t> name = </a:t>
            </a:r>
            <a:r>
              <a:rPr>
                <a:solidFill>
                  <a:srgbClr val="6CCE66"/>
                </a:solidFill>
              </a:rPr>
              <a:t>name</a:t>
            </a:r>
            <a:r>
              <a:t>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"My name is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name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5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36" name="Rectangle"/>
          <p:cNvSpPr/>
          <p:nvPr/>
        </p:nvSpPr>
        <p:spPr>
          <a:xfrm>
            <a:off x="761516" y="3998398"/>
            <a:ext cx="22860968" cy="3365756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7" name="Rectangle"/>
          <p:cNvSpPr/>
          <p:nvPr/>
        </p:nvSpPr>
        <p:spPr>
          <a:xfrm>
            <a:off x="761517" y="7904964"/>
            <a:ext cx="22860968" cy="2643181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38" name="Variable shadowing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Variable shadowing</a:t>
            </a:r>
          </a:p>
        </p:txBody>
      </p:sp>
      <p:sp>
        <p:nvSpPr>
          <p:cNvPr id="139" name="func exclaim(name: String?)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exclaim(name: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?)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if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name = name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"Exclaim function was passed: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name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func</a:t>
            </a:r>
            <a:r>
              <a:t> exclaim(name: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?)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guard</a:t>
            </a:r>
            <a:r>
              <a:t> </a:t>
            </a:r>
            <a:r>
              <a:rPr>
                <a:solidFill>
                  <a:srgbClr val="3DCCCC"/>
                </a:solidFill>
              </a:rPr>
              <a:t>let</a:t>
            </a:r>
            <a:r>
              <a:t> name = name </a:t>
            </a:r>
            <a:r>
              <a:rPr>
                <a:solidFill>
                  <a:srgbClr val="3DCCCC"/>
                </a:solidFill>
              </a:rPr>
              <a:t>else</a:t>
            </a:r>
            <a:r>
              <a:t> { </a:t>
            </a:r>
            <a:r>
              <a:rPr>
                <a:solidFill>
                  <a:srgbClr val="3DCCCC"/>
                </a:solidFill>
              </a:rPr>
              <a:t>return</a:t>
            </a:r>
            <a:r>
              <a:t>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F95B57"/>
                </a:solidFill>
              </a:rPr>
              <a:t>"Exclaim function was passed: </a:t>
            </a:r>
            <a:r>
              <a:t>\</a:t>
            </a:r>
            <a:r>
              <a:rPr>
                <a:solidFill>
                  <a:srgbClr val="F95B57"/>
                </a:solidFill>
              </a:rPr>
              <a:t>(</a:t>
            </a:r>
            <a:r>
              <a:t>name</a:t>
            </a:r>
            <a:r>
              <a:rPr>
                <a:solidFill>
                  <a:srgbClr val="F95B57"/>
                </a:solidFill>
              </a:rPr>
              <a:t>)"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4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45" name="Rectangle"/>
          <p:cNvSpPr/>
          <p:nvPr/>
        </p:nvSpPr>
        <p:spPr>
          <a:xfrm>
            <a:off x="761516" y="3930684"/>
            <a:ext cx="22860968" cy="526663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6" name="Rectangle"/>
          <p:cNvSpPr/>
          <p:nvPr/>
        </p:nvSpPr>
        <p:spPr>
          <a:xfrm>
            <a:off x="761517" y="9815811"/>
            <a:ext cx="22860968" cy="1257193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47" name="Shadowing and 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Shadowing and initializers</a:t>
            </a:r>
          </a:p>
        </p:txBody>
      </p:sp>
      <p:sp>
        <p:nvSpPr>
          <p:cNvPr id="148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age: </a:t>
            </a:r>
            <a:r>
              <a:rPr>
                <a:solidFill>
                  <a:srgbClr val="6CCE66"/>
                </a:solidFill>
              </a:rPr>
              <a:t>Int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let</a:t>
            </a:r>
            <a:r>
              <a:t> todd = </a:t>
            </a:r>
            <a:r>
              <a:rPr>
                <a:solidFill>
                  <a:srgbClr val="6CCE66"/>
                </a:solidFill>
              </a:rPr>
              <a:t>Person</a:t>
            </a:r>
            <a:r>
              <a:t>(name: </a:t>
            </a:r>
            <a:r>
              <a:rPr>
                <a:solidFill>
                  <a:srgbClr val="F95B57"/>
                </a:solidFill>
              </a:rPr>
              <a:t>"Todd"</a:t>
            </a:r>
            <a:r>
              <a:t>, age: 50)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todd</a:t>
            </a:r>
            <a:r>
              <a:t>.</a:t>
            </a:r>
            <a:r>
              <a:rPr>
                <a:solidFill>
                  <a:srgbClr val="6CCE66"/>
                </a:solidFill>
              </a:rPr>
              <a:t>name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6CCE66"/>
                </a:solidFill>
              </a:rPr>
              <a:t>print</a:t>
            </a:r>
            <a:r>
              <a:t>(</a:t>
            </a:r>
            <a:r>
              <a:rPr>
                <a:solidFill>
                  <a:srgbClr val="6CCE66"/>
                </a:solidFill>
              </a:rPr>
              <a:t>todd</a:t>
            </a:r>
            <a:r>
              <a:t>.</a:t>
            </a:r>
            <a:r>
              <a:rPr>
                <a:solidFill>
                  <a:srgbClr val="6CCE66"/>
                </a:solidFill>
              </a:rPr>
              <a:t>age</a:t>
            </a:r>
            <a:r>
              <a:t>)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Todd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3" name="Text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54" name="Rectangle"/>
          <p:cNvSpPr/>
          <p:nvPr/>
        </p:nvSpPr>
        <p:spPr>
          <a:xfrm>
            <a:off x="761516" y="3998398"/>
            <a:ext cx="22860968" cy="5890998"/>
          </a:xfrm>
          <a:prstGeom prst="rect">
            <a:avLst/>
          </a:prstGeom>
          <a:solidFill>
            <a:srgbClr val="292B38"/>
          </a:solidFill>
          <a:ln w="25400">
            <a:miter lim="400000"/>
          </a:ln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5" name="Shadowing and initialize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Shadowing and initializers</a:t>
            </a:r>
          </a:p>
        </p:txBody>
      </p:sp>
      <p:sp>
        <p:nvSpPr>
          <p:cNvPr id="156" name="Rectangle"/>
          <p:cNvSpPr/>
          <p:nvPr/>
        </p:nvSpPr>
        <p:spPr>
          <a:xfrm>
            <a:off x="2101774" y="7295367"/>
            <a:ext cx="1075892" cy="1131866"/>
          </a:xfrm>
          <a:prstGeom prst="rect">
            <a:avLst/>
          </a:prstGeom>
          <a:solidFill>
            <a:srgbClr val="34435A"/>
          </a:solidFill>
          <a:ln w="12700">
            <a:solidFill>
              <a:srgbClr val="505A7A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63500" tIns="63500" rIns="63500" bIns="63500" anchor="ctr"/>
          <a:lstStyle/>
          <a:p>
            <a:pPr/>
          </a:p>
        </p:txBody>
      </p:sp>
      <p:sp>
        <p:nvSpPr>
          <p:cNvPr id="157" name="struct Person {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3DCCCC"/>
                </a:solidFill>
              </a:rPr>
              <a:t>struct</a:t>
            </a:r>
            <a:r>
              <a:t> Person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name: </a:t>
            </a:r>
            <a:r>
              <a:rPr>
                <a:solidFill>
                  <a:srgbClr val="6CCE66"/>
                </a:solidFill>
              </a:rPr>
              <a:t>String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var</a:t>
            </a:r>
            <a:r>
              <a:t> age: </a:t>
            </a:r>
            <a:r>
              <a:rPr>
                <a:solidFill>
                  <a:srgbClr val="6CCE66"/>
                </a:solidFill>
              </a:rPr>
              <a:t>Int</a:t>
            </a:r>
            <a:endParaRPr>
              <a:solidFill>
                <a:srgbClr val="6CCE66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solidFill>
                <a:srgbClr val="6CCE66"/>
              </a:solidFill>
            </a:endParaRP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</a:t>
            </a:r>
            <a:r>
              <a:rPr>
                <a:solidFill>
                  <a:srgbClr val="3DCCCC"/>
                </a:solidFill>
              </a:rPr>
              <a:t>init</a:t>
            </a:r>
            <a:r>
              <a:t>(name: </a:t>
            </a:r>
            <a:r>
              <a:rPr>
                <a:solidFill>
                  <a:srgbClr val="6CCE66"/>
                </a:solidFill>
              </a:rPr>
              <a:t>String</a:t>
            </a:r>
            <a:r>
              <a:t>, age: </a:t>
            </a:r>
            <a:r>
              <a:rPr>
                <a:solidFill>
                  <a:srgbClr val="3DCCCC"/>
                </a:solidFill>
              </a:rPr>
              <a:t>Int</a:t>
            </a:r>
            <a:r>
              <a:t>) {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self</a:t>
            </a:r>
            <a:r>
              <a:t>.</a:t>
            </a:r>
            <a:r>
              <a:rPr>
                <a:solidFill>
                  <a:srgbClr val="6CCE66"/>
                </a:solidFill>
              </a:rPr>
              <a:t>name</a:t>
            </a:r>
            <a:r>
              <a:t> = name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>
                <a:solidFill>
                  <a:srgbClr val="3DCCCC"/>
                </a:solidFill>
              </a:rPr>
              <a:t>self</a:t>
            </a:r>
            <a:r>
              <a:t>.</a:t>
            </a:r>
            <a:r>
              <a:rPr>
                <a:solidFill>
                  <a:srgbClr val="6CCE66"/>
                </a:solidFill>
              </a:rPr>
              <a:t>age</a:t>
            </a:r>
            <a:r>
              <a:t> = age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 marL="0" indent="0" defTabSz="822960">
              <a:lnSpc>
                <a:spcPts val="5000"/>
              </a:lnSpc>
              <a:spcBef>
                <a:spcPts val="0"/>
              </a:spcBef>
              <a:buSzTx/>
              <a:buNone/>
              <a:defRPr spc="0" sz="30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tabLst>
                <a:tab pos="914400" algn="l"/>
              </a:tabLst>
              <a:defRPr sz="1500">
                <a:solidFill>
                  <a:srgbClr val="87939D"/>
                </a:solidFill>
                <a:latin typeface="+mn-lt"/>
                <a:ea typeface="+mn-ea"/>
                <a:cs typeface="+mn-cs"/>
                <a:sym typeface="Helvetica Neue"/>
              </a:defRPr>
            </a:pPr>
          </a:p>
        </p:txBody>
      </p:sp>
      <p:sp>
        <p:nvSpPr>
          <p:cNvPr id="162" name="Lab: Constant and Variable Scope"/>
          <p:cNvSpPr/>
          <p:nvPr>
            <p:ph type="body" idx="22"/>
          </p:nvPr>
        </p:nvSpPr>
        <p:spPr>
          <a:xfrm>
            <a:off x="1143000" y="2057400"/>
            <a:ext cx="22098001" cy="11061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lnSpc>
                <a:spcPct val="90000"/>
              </a:lnSpc>
              <a:defRPr spc="-136" sz="6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Lab: Constant and Variable Scope</a:t>
            </a:r>
          </a:p>
        </p:txBody>
      </p:sp>
      <p:sp>
        <p:nvSpPr>
          <p:cNvPr id="163" name="Unit 3—Lesson 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 3—Lesson 4</a:t>
            </a:r>
          </a:p>
        </p:txBody>
      </p:sp>
      <p:sp>
        <p:nvSpPr>
          <p:cNvPr id="164" name="Open and complete the exercises in Lab - Scope.playground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Open and complete the exercises in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Lab - Scope.playground</a:t>
            </a:r>
          </a:p>
        </p:txBody>
      </p:sp>
      <p:grpSp>
        <p:nvGrpSpPr>
          <p:cNvPr id="167" name="Group"/>
          <p:cNvGrpSpPr/>
          <p:nvPr/>
        </p:nvGrpSpPr>
        <p:grpSpPr>
          <a:xfrm>
            <a:off x="21551900" y="1297017"/>
            <a:ext cx="1524001" cy="1524001"/>
            <a:chOff x="0" y="0"/>
            <a:chExt cx="1524000" cy="1524000"/>
          </a:xfrm>
        </p:grpSpPr>
        <p:sp>
          <p:nvSpPr>
            <p:cNvPr id="165" name="Circle"/>
            <p:cNvSpPr/>
            <p:nvPr/>
          </p:nvSpPr>
          <p:spPr>
            <a:xfrm>
              <a:off x="0" y="0"/>
              <a:ext cx="1524001" cy="1524001"/>
            </a:xfrm>
            <a:prstGeom prst="ellipse">
              <a:avLst/>
            </a:prstGeom>
            <a:gradFill flip="none" rotWithShape="1">
              <a:gsLst>
                <a:gs pos="0">
                  <a:srgbClr val="FE5F55"/>
                </a:gs>
                <a:gs pos="100000">
                  <a:srgbClr val="E4234A"/>
                </a:gs>
              </a:gsLst>
              <a:lin ang="5400000" scaled="0"/>
            </a:gradFill>
            <a:ln w="3810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800100">
                <a:spcBef>
                  <a:spcPts val="3000"/>
                </a:spcBef>
                <a:defRPr sz="4500"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</a:p>
          </p:txBody>
        </p:sp>
        <p:pic>
          <p:nvPicPr>
            <p:cNvPr id="166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30261" y="411519"/>
              <a:ext cx="663478" cy="7009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62ACDB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000000"/>
      </a:dk2>
      <a:lt2>
        <a:srgbClr val="BF832E"/>
      </a:lt2>
      <a:accent1>
        <a:srgbClr val="A8A8A8"/>
      </a:accent1>
      <a:accent2>
        <a:srgbClr val="E9E9E9"/>
      </a:accent2>
      <a:accent3>
        <a:srgbClr val="D3D3D3"/>
      </a:accent3>
      <a:accent4>
        <a:srgbClr val="BEBEBE"/>
      </a:accent4>
      <a:accent5>
        <a:srgbClr val="8C8C8C"/>
      </a:accent5>
      <a:accent6>
        <a:srgbClr val="666666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497C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497C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63500" tIns="63500" rIns="63500" bIns="63500" numCol="1" spcCol="38100" rtlCol="0" anchor="ctr" upright="0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