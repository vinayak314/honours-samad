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3429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6858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0287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3716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7145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0574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24003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27432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00DC4C95-B80A-4F20-B594-23EE6F3C3057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454D52"/>
              </a:solidFill>
              <a:prstDash val="solid"/>
              <a:miter lim="400000"/>
            </a:ln>
          </a:left>
          <a:right>
            <a:ln w="12700" cap="flat">
              <a:solidFill>
                <a:srgbClr val="454D52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454D52"/>
              </a:solidFill>
              <a:prstDash val="solid"/>
              <a:miter lim="400000"/>
            </a:ln>
          </a:insideV>
        </a:tcBdr>
        <a:fill>
          <a:solidFill>
            <a:srgbClr val="D1DADE">
              <a:alpha val="25000"/>
            </a:srgbClr>
          </a:solidFill>
        </a:fill>
      </a:tcStyle>
    </a:wholeTbl>
    <a:band2H>
      <a:tcTxStyle b="def" i="def"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3BCCC"/>
              </a:solidFill>
              <a:prstDash val="solid"/>
              <a:miter lim="400000"/>
            </a:ln>
          </a:left>
          <a:right>
            <a:ln w="12700" cap="flat">
              <a:solidFill>
                <a:srgbClr val="A3BCCC"/>
              </a:solidFill>
              <a:prstDash val="solid"/>
              <a:miter lim="400000"/>
            </a:ln>
          </a:right>
          <a:top>
            <a:ln w="254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F7980"/>
              </a:solidFill>
              <a:prstDash val="solid"/>
              <a:miter lim="400000"/>
            </a:ln>
          </a:left>
          <a:right>
            <a:ln w="127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6F798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600">
        <a:latin typeface="+mn-lt"/>
        <a:ea typeface="+mn-ea"/>
        <a:cs typeface="+mn-cs"/>
        <a:sym typeface="Helvetica Neue"/>
      </a:defRPr>
    </a:lvl1pPr>
    <a:lvl2pPr indent="228600" defTabSz="457200" latinLnBrk="0">
      <a:defRPr sz="2600">
        <a:latin typeface="+mn-lt"/>
        <a:ea typeface="+mn-ea"/>
        <a:cs typeface="+mn-cs"/>
        <a:sym typeface="Helvetica Neue"/>
      </a:defRPr>
    </a:lvl2pPr>
    <a:lvl3pPr indent="457200" defTabSz="457200" latinLnBrk="0">
      <a:defRPr sz="2600">
        <a:latin typeface="+mn-lt"/>
        <a:ea typeface="+mn-ea"/>
        <a:cs typeface="+mn-cs"/>
        <a:sym typeface="Helvetica Neue"/>
      </a:defRPr>
    </a:lvl3pPr>
    <a:lvl4pPr indent="685800" defTabSz="457200" latinLnBrk="0">
      <a:defRPr sz="2600">
        <a:latin typeface="+mn-lt"/>
        <a:ea typeface="+mn-ea"/>
        <a:cs typeface="+mn-cs"/>
        <a:sym typeface="Helvetica Neue"/>
      </a:defRPr>
    </a:lvl4pPr>
    <a:lvl5pPr indent="914400" defTabSz="457200" latinLnBrk="0">
      <a:defRPr sz="2600">
        <a:latin typeface="+mn-lt"/>
        <a:ea typeface="+mn-ea"/>
        <a:cs typeface="+mn-cs"/>
        <a:sym typeface="Helvetica Neue"/>
      </a:defRPr>
    </a:lvl5pPr>
    <a:lvl6pPr indent="1143000" defTabSz="457200" latinLnBrk="0">
      <a:defRPr sz="2600">
        <a:latin typeface="+mn-lt"/>
        <a:ea typeface="+mn-ea"/>
        <a:cs typeface="+mn-cs"/>
        <a:sym typeface="Helvetica Neue"/>
      </a:defRPr>
    </a:lvl6pPr>
    <a:lvl7pPr indent="1371600" defTabSz="457200" latinLnBrk="0">
      <a:defRPr sz="2600">
        <a:latin typeface="+mn-lt"/>
        <a:ea typeface="+mn-ea"/>
        <a:cs typeface="+mn-cs"/>
        <a:sym typeface="Helvetica Neue"/>
      </a:defRPr>
    </a:lvl7pPr>
    <a:lvl8pPr indent="1600200" defTabSz="457200" latinLnBrk="0">
      <a:defRPr sz="2600">
        <a:latin typeface="+mn-lt"/>
        <a:ea typeface="+mn-ea"/>
        <a:cs typeface="+mn-cs"/>
        <a:sym typeface="Helvetica Neue"/>
      </a:defRPr>
    </a:lvl8pPr>
    <a:lvl9pPr indent="1828800" defTabSz="457200" latinLnBrk="0">
      <a:defRPr sz="26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creativecommons.org/licenses/by-nc-sa/4.0/legalcode" TargetMode="Externa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Enumerations in Swift are similar to things in other languages, but they're also much more powerful than in languages like C.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7" name="Shape 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In the simplest form, "enum" lets us group related things into a Type, such as the points of a compass (north, east, south, west).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1" name="Shape 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Do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Click to highlight "enum."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Click again to highlight "case."</a:t>
            </a:r>
          </a:p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The type name is "CompassPoint."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An instance of CompassPoint can be any one of the case values.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Follow the naming conventions : uppercase Type name, lowercase case items.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Do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Click to display using the CompassPoint enum.</a:t>
            </a:r>
          </a:p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Note that you can have a comma-separated list of items in a single case.</a:t>
            </a:r>
          </a:p>
          <a:p>
            <a:pPr>
              <a:defRPr sz="3000"/>
            </a:pPr>
            <a:r>
              <a:t>Do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Click to display one style of declaring an enum variable.</a:t>
            </a:r>
          </a:p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As with everything else, if the Swift compiler can't unambiguously infer the type, we have to help.</a:t>
            </a:r>
          </a:p>
          <a:p>
            <a:pPr>
              <a:defRPr sz="3000"/>
            </a:pPr>
            <a:r>
              <a:t>Do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Click to display another way to declare an enum variable.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Click to display changing the value with an enum.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6" name="Shape 1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You can switch on enum cases.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" name="Shape 1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You can use "==" for enum cases.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" name="Shape 1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Can you identify the mistake?</a:t>
            </a:r>
          </a:p>
          <a:p>
            <a:pPr>
              <a:defRPr sz="3000"/>
            </a:pPr>
            <a:r>
              <a:t>Do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Click to highlight the typo.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" name="Shape 1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Because we know at coding time what all the genres are, we can create an enum to specify them.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Then when we pass in ".animated", the compiler will catch typographical errors.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Shape 1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L569805A-en_WW App Development with Swift © 2021 Apple Inc. This work is licensed by Apple Inc. under the </a:t>
            </a:r>
            <a:r>
              <a:rPr u="sng">
                <a:hlinkClick r:id="rId3" invalidUrl="" action="" tgtFrame="" tooltip="" history="1" highlightClick="0" endSnd="0"/>
              </a:rPr>
              <a:t>Creative Commons Attribution-NonCommercial-ShareAlike 4.0 International</a:t>
            </a:r>
            <a:r>
              <a:t> license (</a:t>
            </a:r>
            <a:r>
              <a:rPr u="sng">
                <a:hlinkClick r:id="rId3" invalidUrl="" action="" tgtFrame="" tooltip="" history="1" highlightClick="0" endSnd="0"/>
              </a:rPr>
              <a:t>https://creativecommons.org/licenses/by-nc-sa/4.0/legalcode</a:t>
            </a:r>
            <a:r>
              <a:t>).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-nc-sa/4.0/legalcode" TargetMode="Externa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0" name="Text"/>
          <p:cNvSpPr/>
          <p:nvPr>
            <p:ph type="body" sz="quarter" idx="22"/>
          </p:nvPr>
        </p:nvSpPr>
        <p:spPr>
          <a:xfrm>
            <a:off x="1143000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1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/>
          <p:nvPr>
            <p:ph type="body" idx="1"/>
          </p:nvPr>
        </p:nvSpPr>
        <p:spPr>
          <a:xfrm>
            <a:off x="1143000" y="3911600"/>
            <a:ext cx="22098000" cy="9118600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marL="317500" indent="-317500" defTabSz="914400">
              <a:lnSpc>
                <a:spcPct val="100000"/>
              </a:lnSpc>
              <a:spcBef>
                <a:spcPts val="2800"/>
              </a:spcBef>
              <a:buSzPct val="90000"/>
              <a:buChar char="•"/>
              <a:defRPr spc="-48" sz="4800">
                <a:latin typeface="+mn-lt"/>
                <a:ea typeface="+mn-ea"/>
                <a:cs typeface="+mn-cs"/>
                <a:sym typeface="Helvetica Neue"/>
              </a:defRPr>
            </a:lvl1pPr>
            <a:lvl2pPr marL="635000" indent="-304800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2pPr>
            <a:lvl3pPr marL="947419" indent="-2997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3pPr>
            <a:lvl4pPr marL="1252219" indent="-2870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4pPr>
            <a:lvl5pPr marL="1550669" indent="-28066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s-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1" name="Text"/>
          <p:cNvSpPr/>
          <p:nvPr>
            <p:ph type="body" sz="quarter" idx="22"/>
          </p:nvPr>
        </p:nvSpPr>
        <p:spPr>
          <a:xfrm>
            <a:off x="1140172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2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1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ubtopic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9" name="Title Text"/>
          <p:cNvSpPr/>
          <p:nvPr>
            <p:ph type="title"/>
          </p:nvPr>
        </p:nvSpPr>
        <p:spPr>
          <a:xfrm>
            <a:off x="1143000" y="2743200"/>
            <a:ext cx="22098000" cy="8229600"/>
          </a:xfrm>
          <a:prstGeom prst="rect">
            <a:avLst/>
          </a:prstGeom>
          <a:ln w="12700"/>
        </p:spPr>
        <p:txBody>
          <a:bodyPr lIns="50800" tIns="50800" rIns="50800" bIns="50800" anchor="ctr"/>
          <a:lstStyle>
            <a:lvl1pPr defTabSz="914400">
              <a:lnSpc>
                <a:spcPts val="11200"/>
              </a:lnSpc>
              <a:spcBef>
                <a:spcPts val="0"/>
              </a:spcBef>
              <a:defRPr b="1" spc="-200" sz="100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losing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© 2021 Apple Inc.…"/>
          <p:cNvSpPr txBox="1"/>
          <p:nvPr/>
        </p:nvSpPr>
        <p:spPr>
          <a:xfrm>
            <a:off x="6628320" y="12982076"/>
            <a:ext cx="11127360" cy="55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/>
          <a:p>
            <a:pPr>
              <a:tabLst>
                <a:tab pos="1651000" algn="l"/>
              </a:tabLst>
              <a:defRPr sz="1500"/>
            </a:pPr>
            <a:r>
              <a:t>© 2021 Apple Inc. </a:t>
            </a:r>
          </a:p>
          <a:p>
            <a:pPr>
              <a:tabLst>
                <a:tab pos="1651000" algn="l"/>
              </a:tabLst>
              <a:defRPr sz="1500"/>
            </a:pPr>
            <a:r>
              <a:t>This work is licensed by Apple Inc. under the </a:t>
            </a:r>
            <a:r>
              <a:rPr>
                <a:hlinkClick r:id="rId2" invalidUrl="" action="" tgtFrame="" tooltip="" history="1" highlightClick="0" endSnd="0"/>
              </a:rPr>
              <a:t>Creative Commons Attribution-NonCommercial-ShareAlike 4.0 International</a:t>
            </a:r>
            <a:r>
              <a:t> license.</a:t>
            </a:r>
          </a:p>
        </p:txBody>
      </p:sp>
      <p:sp>
        <p:nvSpPr>
          <p:cNvPr id="58" name="Slide Number"/>
          <p:cNvSpPr/>
          <p:nvPr>
            <p:ph type="sldNum" sz="quarter" idx="2"/>
          </p:nvPr>
        </p:nvSpPr>
        <p:spPr>
          <a:xfrm>
            <a:off x="23963891" y="133350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29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524000" y="604741"/>
            <a:ext cx="21336000" cy="139142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7150" tIns="57150" rIns="57150" bIns="5715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1524000" y="762000"/>
            <a:ext cx="21336000" cy="14097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2776924" y="14414500"/>
            <a:ext cx="381204" cy="387070"/>
          </a:xfrm>
          <a:prstGeom prst="rect">
            <a:avLst/>
          </a:prstGeom>
          <a:ln w="25400">
            <a:miter lim="400000"/>
          </a:ln>
        </p:spPr>
        <p:txBody>
          <a:bodyPr wrap="none" lIns="57150" tIns="57150" rIns="57150" bIns="57150">
            <a:spAutoFit/>
          </a:bodyPr>
          <a:lstStyle>
            <a:lvl1pPr algn="l" defTabSz="822960">
              <a:lnSpc>
                <a:spcPct val="120000"/>
              </a:lnSpc>
              <a:spcBef>
                <a:spcPts val="1600"/>
              </a:spcBef>
              <a:defRPr sz="1800">
                <a:solidFill>
                  <a:srgbClr val="A6B0C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1pPr>
      <a:lvl2pPr marL="0" marR="0" indent="228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2pPr>
      <a:lvl3pPr marL="0" marR="0" indent="457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3pPr>
      <a:lvl4pPr marL="0" marR="0" indent="685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4pPr>
      <a:lvl5pPr marL="0" marR="0" indent="9144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5pPr>
      <a:lvl6pPr marL="0" marR="0" indent="11430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6pPr>
      <a:lvl7pPr marL="0" marR="0" indent="1371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7pPr>
      <a:lvl8pPr marL="0" marR="0" indent="1600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8pPr>
      <a:lvl9pPr marL="0" marR="0" indent="1828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9pPr>
    </p:titleStyle>
    <p:bodyStyle>
      <a:lvl1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1pPr>
      <a:lvl2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2pPr>
      <a:lvl3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3pPr>
      <a:lvl4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4pPr>
      <a:lvl5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5pPr>
      <a:lvl6pPr marL="0" marR="0" indent="11430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6pPr>
      <a:lvl7pPr marL="0" marR="0" indent="13716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7pPr>
      <a:lvl8pPr marL="0" marR="0" indent="16002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8pPr>
      <a:lvl9pPr marL="0" marR="0" indent="18288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9pPr>
    </p:bodyStyle>
    <p:otherStyle>
      <a:lvl1pPr marL="0" marR="0" indent="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68" name="Unit 3—Lesson 5:…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3—Lesson 5:</a:t>
            </a:r>
          </a:p>
          <a:p>
            <a:pPr/>
            <a:r>
              <a:t>Enumerations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3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4" name="Enumeration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Enumerations</a:t>
            </a:r>
          </a:p>
        </p:txBody>
      </p:sp>
      <p:pic>
        <p:nvPicPr>
          <p:cNvPr id="75" name="compass-467256_960_720.png" descr="compass-467256_960_72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48370" y="4128861"/>
            <a:ext cx="7487259" cy="74872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0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1" name="Rectangle"/>
          <p:cNvSpPr/>
          <p:nvPr/>
        </p:nvSpPr>
        <p:spPr>
          <a:xfrm>
            <a:off x="761516" y="3940595"/>
            <a:ext cx="22860968" cy="4060368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2" name="Rectangle"/>
          <p:cNvSpPr/>
          <p:nvPr/>
        </p:nvSpPr>
        <p:spPr>
          <a:xfrm>
            <a:off x="1622071" y="4805846"/>
            <a:ext cx="1106462" cy="479270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3" name="Rectangle"/>
          <p:cNvSpPr/>
          <p:nvPr/>
        </p:nvSpPr>
        <p:spPr>
          <a:xfrm>
            <a:off x="1622071" y="5434486"/>
            <a:ext cx="1106462" cy="479270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4" name="Rectangle"/>
          <p:cNvSpPr/>
          <p:nvPr/>
        </p:nvSpPr>
        <p:spPr>
          <a:xfrm>
            <a:off x="1622071" y="6063127"/>
            <a:ext cx="1106462" cy="479270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5" name="Rectangle"/>
          <p:cNvSpPr/>
          <p:nvPr/>
        </p:nvSpPr>
        <p:spPr>
          <a:xfrm>
            <a:off x="1622071" y="6691767"/>
            <a:ext cx="1106462" cy="479270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6" name="Rectangle"/>
          <p:cNvSpPr/>
          <p:nvPr/>
        </p:nvSpPr>
        <p:spPr>
          <a:xfrm>
            <a:off x="1123600" y="4126405"/>
            <a:ext cx="1106463" cy="479270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7" name="Enumeration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Enumerations</a:t>
            </a:r>
          </a:p>
        </p:txBody>
      </p:sp>
      <p:sp>
        <p:nvSpPr>
          <p:cNvPr id="88" name="enum CompassPoint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enum</a:t>
            </a:r>
            <a:r>
              <a:t> CompassPoint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case</a:t>
            </a:r>
            <a:r>
              <a:t> north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case</a:t>
            </a:r>
            <a:r>
              <a:t> east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case</a:t>
            </a:r>
            <a:r>
              <a:t> south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case</a:t>
            </a:r>
            <a:r>
              <a:t> west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pic>
        <p:nvPicPr>
          <p:cNvPr id="89" name="compass-467256_960_720.png" descr="compass-467256_960_72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378482" y="4062399"/>
            <a:ext cx="3816760" cy="3816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5" grpId="6"/>
      <p:bldP build="whole" bldLvl="1" animBg="1" rev="0" advAuto="0" spid="83" grpId="4"/>
      <p:bldP build="whole" bldLvl="1" animBg="1" rev="0" advAuto="0" spid="86" grpId="1"/>
      <p:bldP build="whole" bldLvl="1" animBg="1" rev="0" advAuto="0" spid="86" grpId="2"/>
      <p:bldP build="whole" bldLvl="1" animBg="1" rev="0" advAuto="0" spid="82" grpId="3"/>
      <p:bldP build="whole" bldLvl="1" animBg="1" rev="0" advAuto="0" spid="84" grpId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4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5" name="Rectangle"/>
          <p:cNvSpPr/>
          <p:nvPr/>
        </p:nvSpPr>
        <p:spPr>
          <a:xfrm>
            <a:off x="761516" y="3884012"/>
            <a:ext cx="22860968" cy="2187785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96" name="Enumeration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Enumerations</a:t>
            </a:r>
          </a:p>
        </p:txBody>
      </p:sp>
      <p:sp>
        <p:nvSpPr>
          <p:cNvPr id="97" name="enum CompassPoint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enum</a:t>
            </a:r>
            <a:r>
              <a:t> CompassPoint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case</a:t>
            </a:r>
            <a:r>
              <a:t> north, east, south, west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grpSp>
        <p:nvGrpSpPr>
          <p:cNvPr id="100" name="Group"/>
          <p:cNvGrpSpPr/>
          <p:nvPr/>
        </p:nvGrpSpPr>
        <p:grpSpPr>
          <a:xfrm>
            <a:off x="761517" y="6804752"/>
            <a:ext cx="22860968" cy="838957"/>
            <a:chOff x="0" y="0"/>
            <a:chExt cx="22860967" cy="838956"/>
          </a:xfrm>
        </p:grpSpPr>
        <p:sp>
          <p:nvSpPr>
            <p:cNvPr id="98" name="Rectangle"/>
            <p:cNvSpPr/>
            <p:nvPr/>
          </p:nvSpPr>
          <p:spPr>
            <a:xfrm>
              <a:off x="0" y="38856"/>
              <a:ext cx="22860968" cy="800101"/>
            </a:xfrm>
            <a:prstGeom prst="rect">
              <a:avLst/>
            </a:prstGeom>
            <a:solidFill>
              <a:srgbClr val="292B38"/>
            </a:solidFill>
            <a:ln w="254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/>
            </a:p>
          </p:txBody>
        </p:sp>
        <p:sp>
          <p:nvSpPr>
            <p:cNvPr id="99" name="var compassHeading = CompassPoint.west"/>
            <p:cNvSpPr txBox="1"/>
            <p:nvPr/>
          </p:nvSpPr>
          <p:spPr>
            <a:xfrm>
              <a:off x="544363" y="-1"/>
              <a:ext cx="8856193" cy="728920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3500" tIns="63500" rIns="63500" bIns="63500" numCol="1" anchor="ctr">
              <a:spAutoFit/>
            </a:bodyPr>
            <a:lstStyle/>
            <a:p>
              <a:pPr algn="l" defTabSz="822960">
                <a:lnSpc>
                  <a:spcPts val="5000"/>
                </a:lnSpc>
                <a:defRPr sz="3000"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rPr>
                  <a:solidFill>
                    <a:srgbClr val="3DCCCC"/>
                  </a:solidFill>
                </a:rPr>
                <a:t>var</a:t>
              </a:r>
              <a:r>
                <a:t> compassHeading = </a:t>
              </a:r>
              <a:r>
                <a:rPr>
                  <a:solidFill>
                    <a:srgbClr val="6CCE66"/>
                  </a:solidFill>
                </a:rPr>
                <a:t>CompassPoint</a:t>
              </a:r>
              <a:r>
                <a:t>.</a:t>
              </a:r>
              <a:r>
                <a:rPr>
                  <a:solidFill>
                    <a:srgbClr val="6CCE66"/>
                  </a:solidFill>
                </a:rPr>
                <a:t>west</a:t>
              </a:r>
            </a:p>
          </p:txBody>
        </p:sp>
      </p:grpSp>
      <p:grpSp>
        <p:nvGrpSpPr>
          <p:cNvPr id="103" name="Group"/>
          <p:cNvGrpSpPr/>
          <p:nvPr/>
        </p:nvGrpSpPr>
        <p:grpSpPr>
          <a:xfrm>
            <a:off x="761517" y="8219750"/>
            <a:ext cx="22860968" cy="894270"/>
            <a:chOff x="0" y="0"/>
            <a:chExt cx="22860967" cy="894269"/>
          </a:xfrm>
        </p:grpSpPr>
        <p:sp>
          <p:nvSpPr>
            <p:cNvPr id="101" name="Rectangle"/>
            <p:cNvSpPr/>
            <p:nvPr/>
          </p:nvSpPr>
          <p:spPr>
            <a:xfrm>
              <a:off x="0" y="94169"/>
              <a:ext cx="22860968" cy="800101"/>
            </a:xfrm>
            <a:prstGeom prst="rect">
              <a:avLst/>
            </a:prstGeom>
            <a:solidFill>
              <a:srgbClr val="292B38"/>
            </a:solidFill>
            <a:ln w="254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/>
            </a:p>
          </p:txBody>
        </p:sp>
        <p:sp>
          <p:nvSpPr>
            <p:cNvPr id="102" name="var compassHeading: CompassPoint = .west"/>
            <p:cNvSpPr txBox="1"/>
            <p:nvPr/>
          </p:nvSpPr>
          <p:spPr>
            <a:xfrm>
              <a:off x="544363" y="-1"/>
              <a:ext cx="9314955" cy="728920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3500" tIns="63500" rIns="63500" bIns="63500" numCol="1" anchor="ctr">
              <a:spAutoFit/>
            </a:bodyPr>
            <a:lstStyle/>
            <a:p>
              <a:pPr algn="l" defTabSz="822960">
                <a:lnSpc>
                  <a:spcPts val="5000"/>
                </a:lnSpc>
                <a:defRPr sz="3000"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rPr>
                  <a:solidFill>
                    <a:srgbClr val="3DCCCC"/>
                  </a:solidFill>
                </a:rPr>
                <a:t>var</a:t>
              </a:r>
              <a:r>
                <a:t> compassHeading: </a:t>
              </a:r>
              <a:r>
                <a:rPr>
                  <a:solidFill>
                    <a:srgbClr val="6CCE66"/>
                  </a:solidFill>
                </a:rPr>
                <a:t>CompassPoint</a:t>
              </a:r>
              <a:r>
                <a:t> = .</a:t>
              </a:r>
              <a:r>
                <a:rPr>
                  <a:solidFill>
                    <a:srgbClr val="6CCE66"/>
                  </a:solidFill>
                </a:rPr>
                <a:t>west</a:t>
              </a:r>
            </a:p>
          </p:txBody>
        </p:sp>
      </p:grpSp>
      <p:grpSp>
        <p:nvGrpSpPr>
          <p:cNvPr id="106" name="Group"/>
          <p:cNvGrpSpPr/>
          <p:nvPr/>
        </p:nvGrpSpPr>
        <p:grpSpPr>
          <a:xfrm>
            <a:off x="761517" y="8933601"/>
            <a:ext cx="22860968" cy="939531"/>
            <a:chOff x="0" y="0"/>
            <a:chExt cx="22860967" cy="939529"/>
          </a:xfrm>
        </p:grpSpPr>
        <p:sp>
          <p:nvSpPr>
            <p:cNvPr id="104" name="Rectangle"/>
            <p:cNvSpPr/>
            <p:nvPr/>
          </p:nvSpPr>
          <p:spPr>
            <a:xfrm>
              <a:off x="0" y="139429"/>
              <a:ext cx="22860968" cy="800101"/>
            </a:xfrm>
            <a:prstGeom prst="rect">
              <a:avLst/>
            </a:prstGeom>
            <a:solidFill>
              <a:srgbClr val="292B38"/>
            </a:solidFill>
            <a:ln w="254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/>
            </a:p>
          </p:txBody>
        </p:sp>
        <p:sp>
          <p:nvSpPr>
            <p:cNvPr id="105" name="compassHeading = .north"/>
            <p:cNvSpPr txBox="1"/>
            <p:nvPr/>
          </p:nvSpPr>
          <p:spPr>
            <a:xfrm>
              <a:off x="537009" y="-1"/>
              <a:ext cx="5415472" cy="728920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3500" tIns="63500" rIns="63500" bIns="63500" numCol="1" anchor="ctr">
              <a:spAutoFit/>
            </a:bodyPr>
            <a:lstStyle/>
            <a:p>
              <a:pPr algn="l" defTabSz="822960">
                <a:lnSpc>
                  <a:spcPts val="5000"/>
                </a:lnSpc>
                <a:defRPr sz="3000"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rPr>
                  <a:solidFill>
                    <a:srgbClr val="6CCE66"/>
                  </a:solidFill>
                </a:rPr>
                <a:t>compassHeading</a:t>
              </a:r>
              <a:r>
                <a:t> = .</a:t>
              </a:r>
              <a:r>
                <a:rPr>
                  <a:solidFill>
                    <a:srgbClr val="6CCE66"/>
                  </a:solidFill>
                </a:rPr>
                <a:t>north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6" grpId="3"/>
      <p:bldP build="whole" bldLvl="1" animBg="1" rev="0" advAuto="0" spid="100" grpId="1"/>
      <p:bldP build="whole" bldLvl="1" animBg="1" rev="0" advAuto="0" spid="103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1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2" name="Rectangle"/>
          <p:cNvSpPr/>
          <p:nvPr/>
        </p:nvSpPr>
        <p:spPr>
          <a:xfrm>
            <a:off x="761516" y="3845459"/>
            <a:ext cx="22860968" cy="7973019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13" name="Control flow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Control flow</a:t>
            </a:r>
          </a:p>
        </p:txBody>
      </p:sp>
      <p:sp>
        <p:nvSpPr>
          <p:cNvPr id="114" name="let compassHeading: CompassPoint = .west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compassHeading: </a:t>
            </a:r>
            <a:r>
              <a:rPr>
                <a:solidFill>
                  <a:srgbClr val="6CCE66"/>
                </a:solidFill>
              </a:rPr>
              <a:t>CompassPoint</a:t>
            </a:r>
            <a:r>
              <a:t> = .</a:t>
            </a:r>
            <a:r>
              <a:rPr>
                <a:solidFill>
                  <a:srgbClr val="6CCE66"/>
                </a:solidFill>
              </a:rPr>
              <a:t>west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switch</a:t>
            </a:r>
            <a:r>
              <a:t> </a:t>
            </a:r>
            <a:r>
              <a:rPr>
                <a:solidFill>
                  <a:srgbClr val="6CCE66"/>
                </a:solidFill>
              </a:rPr>
              <a:t>compassHeading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case</a:t>
            </a:r>
            <a:r>
              <a:t> .</a:t>
            </a:r>
            <a:r>
              <a:rPr>
                <a:solidFill>
                  <a:srgbClr val="6CCE66"/>
                </a:solidFill>
              </a:rPr>
              <a:t>north</a:t>
            </a:r>
            <a:r>
              <a:t>: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"I am heading north"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case</a:t>
            </a:r>
            <a:r>
              <a:t> .</a:t>
            </a:r>
            <a:r>
              <a:rPr>
                <a:solidFill>
                  <a:srgbClr val="6CCE66"/>
                </a:solidFill>
              </a:rPr>
              <a:t>east</a:t>
            </a:r>
            <a:r>
              <a:t>: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"I am heading east."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case</a:t>
            </a:r>
            <a:r>
              <a:t> .</a:t>
            </a:r>
            <a:r>
              <a:rPr>
                <a:solidFill>
                  <a:srgbClr val="6CCE66"/>
                </a:solidFill>
              </a:rPr>
              <a:t>south</a:t>
            </a:r>
            <a:r>
              <a:t>: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"I am heading south"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case</a:t>
            </a:r>
            <a:r>
              <a:t> .</a:t>
            </a:r>
            <a:r>
              <a:rPr>
                <a:solidFill>
                  <a:srgbClr val="6CCE66"/>
                </a:solidFill>
              </a:rPr>
              <a:t>west</a:t>
            </a:r>
            <a:r>
              <a:t>: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"I am heading west"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9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0" name="Control flow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Control flow</a:t>
            </a:r>
          </a:p>
        </p:txBody>
      </p:sp>
      <p:sp>
        <p:nvSpPr>
          <p:cNvPr id="121" name="Rectangle"/>
          <p:cNvSpPr/>
          <p:nvPr/>
        </p:nvSpPr>
        <p:spPr>
          <a:xfrm>
            <a:off x="761516" y="3981620"/>
            <a:ext cx="22860968" cy="3371840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22" name="let compassHeading: CompassPoint = .west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compassHeading: </a:t>
            </a:r>
            <a:r>
              <a:rPr>
                <a:solidFill>
                  <a:srgbClr val="6CCE66"/>
                </a:solidFill>
              </a:rPr>
              <a:t>CompassPoint</a:t>
            </a:r>
            <a:r>
              <a:t> = .</a:t>
            </a:r>
            <a:r>
              <a:rPr>
                <a:solidFill>
                  <a:srgbClr val="6CCE66"/>
                </a:solidFill>
              </a:rPr>
              <a:t>west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>
                <a:solidFill>
                  <a:srgbClr val="6CCE66"/>
                </a:solidFill>
              </a:rPr>
              <a:t>compassHeading</a:t>
            </a:r>
            <a:r>
              <a:t> == .</a:t>
            </a:r>
            <a:r>
              <a:rPr>
                <a:solidFill>
                  <a:srgbClr val="6CCE66"/>
                </a:solidFill>
              </a:rPr>
              <a:t>west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"I am heading west"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7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8" name="Rectangle"/>
          <p:cNvSpPr/>
          <p:nvPr/>
        </p:nvSpPr>
        <p:spPr>
          <a:xfrm>
            <a:off x="761516" y="3940595"/>
            <a:ext cx="22860968" cy="462579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29" name="Type safety benefit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safety benefits</a:t>
            </a:r>
          </a:p>
        </p:txBody>
      </p:sp>
      <p:sp>
        <p:nvSpPr>
          <p:cNvPr id="130" name="Rectangle"/>
          <p:cNvSpPr/>
          <p:nvPr/>
        </p:nvSpPr>
        <p:spPr>
          <a:xfrm>
            <a:off x="16330445" y="7928309"/>
            <a:ext cx="2316548" cy="541214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31" name="struct Movie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Movie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name: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releaseYear: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?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genre: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movie = </a:t>
            </a:r>
            <a:r>
              <a:rPr>
                <a:solidFill>
                  <a:srgbClr val="6CCE66"/>
                </a:solidFill>
              </a:rPr>
              <a:t>Movie</a:t>
            </a:r>
            <a:r>
              <a:t>(name: </a:t>
            </a:r>
            <a:r>
              <a:rPr>
                <a:solidFill>
                  <a:srgbClr val="F95B57"/>
                </a:solidFill>
              </a:rPr>
              <a:t>"Finding Dory"</a:t>
            </a:r>
            <a:r>
              <a:t>, releaseYear: 2016, genre: </a:t>
            </a:r>
            <a:r>
              <a:rPr>
                <a:solidFill>
                  <a:srgbClr val="F95B57"/>
                </a:solidFill>
              </a:rPr>
              <a:t>"Aminated"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36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37" name="Rectangle"/>
          <p:cNvSpPr/>
          <p:nvPr/>
        </p:nvSpPr>
        <p:spPr>
          <a:xfrm>
            <a:off x="761516" y="3954372"/>
            <a:ext cx="22860968" cy="7345798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38" name="Type safety benefit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safety benefits</a:t>
            </a:r>
          </a:p>
        </p:txBody>
      </p:sp>
      <p:sp>
        <p:nvSpPr>
          <p:cNvPr id="139" name="enum Genre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enum</a:t>
            </a:r>
            <a:r>
              <a:t> Genre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case</a:t>
            </a:r>
            <a:r>
              <a:t> animated, action, romance, documentary, biography, thriller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Movie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name: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releaseYear: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?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genre: </a:t>
            </a:r>
            <a:r>
              <a:rPr>
                <a:solidFill>
                  <a:srgbClr val="6CCE66"/>
                </a:solidFill>
              </a:rPr>
              <a:t>Genre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movie = </a:t>
            </a:r>
            <a:r>
              <a:rPr>
                <a:solidFill>
                  <a:srgbClr val="6CCE66"/>
                </a:solidFill>
              </a:rPr>
              <a:t>Movie</a:t>
            </a:r>
            <a:r>
              <a:t>(name: </a:t>
            </a:r>
            <a:r>
              <a:rPr>
                <a:solidFill>
                  <a:srgbClr val="F95B57"/>
                </a:solidFill>
              </a:rPr>
              <a:t>"Finding Dory"</a:t>
            </a:r>
            <a:r>
              <a:t>, releaseYear: 2016, genre: .</a:t>
            </a:r>
            <a:r>
              <a:rPr>
                <a:solidFill>
                  <a:srgbClr val="3DCCCC"/>
                </a:solidFill>
              </a:rPr>
              <a:t>animated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4" name="Lab: Enumeration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Lab: Enumerations</a:t>
            </a:r>
          </a:p>
        </p:txBody>
      </p:sp>
      <p:sp>
        <p:nvSpPr>
          <p:cNvPr id="145" name="Unit 3—Lesson 5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3—Lesson 5</a:t>
            </a:r>
          </a:p>
        </p:txBody>
      </p:sp>
      <p:sp>
        <p:nvSpPr>
          <p:cNvPr id="146" name="Open and complete the exercises in Lab - Enumerations.playground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Open and complete the exercises in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Lab - Enumerations.playground</a:t>
            </a:r>
          </a:p>
        </p:txBody>
      </p:sp>
      <p:grpSp>
        <p:nvGrpSpPr>
          <p:cNvPr id="149" name="Group"/>
          <p:cNvGrpSpPr/>
          <p:nvPr/>
        </p:nvGrpSpPr>
        <p:grpSpPr>
          <a:xfrm>
            <a:off x="21551900" y="1297017"/>
            <a:ext cx="1524001" cy="1524001"/>
            <a:chOff x="0" y="0"/>
            <a:chExt cx="1524000" cy="1524000"/>
          </a:xfrm>
        </p:grpSpPr>
        <p:sp>
          <p:nvSpPr>
            <p:cNvPr id="147" name="Circle"/>
            <p:cNvSpPr/>
            <p:nvPr/>
          </p:nvSpPr>
          <p:spPr>
            <a:xfrm>
              <a:off x="0" y="0"/>
              <a:ext cx="1524001" cy="1524001"/>
            </a:xfrm>
            <a:prstGeom prst="ellipse">
              <a:avLst/>
            </a:prstGeom>
            <a:gradFill flip="none" rotWithShape="1">
              <a:gsLst>
                <a:gs pos="0">
                  <a:srgbClr val="FE5F55"/>
                </a:gs>
                <a:gs pos="100000">
                  <a:srgbClr val="E4234A"/>
                </a:gs>
              </a:gsLst>
              <a:lin ang="5400000" scaled="0"/>
            </a:gradFill>
            <a:ln w="3810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00100">
                <a:spcBef>
                  <a:spcPts val="3000"/>
                </a:spcBef>
                <a:defRPr sz="4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pic>
          <p:nvPicPr>
            <p:cNvPr id="148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30261" y="411519"/>
              <a:ext cx="663478" cy="7009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62ACDB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