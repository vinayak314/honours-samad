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877FEA67-772D-4074-989A-CEF1D2AC0110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600">
        <a:latin typeface="+mn-lt"/>
        <a:ea typeface="+mn-ea"/>
        <a:cs typeface="+mn-cs"/>
        <a:sym typeface="Helvetica Neue"/>
      </a:defRPr>
    </a:lvl1pPr>
    <a:lvl2pPr indent="228600" defTabSz="457200" latinLnBrk="0">
      <a:defRPr sz="2600">
        <a:latin typeface="+mn-lt"/>
        <a:ea typeface="+mn-ea"/>
        <a:cs typeface="+mn-cs"/>
        <a:sym typeface="Helvetica Neue"/>
      </a:defRPr>
    </a:lvl2pPr>
    <a:lvl3pPr indent="457200" defTabSz="457200" latinLnBrk="0">
      <a:defRPr sz="2600">
        <a:latin typeface="+mn-lt"/>
        <a:ea typeface="+mn-ea"/>
        <a:cs typeface="+mn-cs"/>
        <a:sym typeface="Helvetica Neue"/>
      </a:defRPr>
    </a:lvl3pPr>
    <a:lvl4pPr indent="685800" defTabSz="457200" latinLnBrk="0">
      <a:defRPr sz="2600">
        <a:latin typeface="+mn-lt"/>
        <a:ea typeface="+mn-ea"/>
        <a:cs typeface="+mn-cs"/>
        <a:sym typeface="Helvetica Neue"/>
      </a:defRPr>
    </a:lvl4pPr>
    <a:lvl5pPr indent="914400" defTabSz="457200" latinLnBrk="0">
      <a:defRPr sz="2600">
        <a:latin typeface="+mn-lt"/>
        <a:ea typeface="+mn-ea"/>
        <a:cs typeface="+mn-cs"/>
        <a:sym typeface="Helvetica Neue"/>
      </a:defRPr>
    </a:lvl5pPr>
    <a:lvl6pPr indent="1143000" defTabSz="457200" latinLnBrk="0">
      <a:defRPr sz="2600">
        <a:latin typeface="+mn-lt"/>
        <a:ea typeface="+mn-ea"/>
        <a:cs typeface="+mn-cs"/>
        <a:sym typeface="Helvetica Neue"/>
      </a:defRPr>
    </a:lvl6pPr>
    <a:lvl7pPr indent="1371600" defTabSz="457200" latinLnBrk="0">
      <a:defRPr sz="2600">
        <a:latin typeface="+mn-lt"/>
        <a:ea typeface="+mn-ea"/>
        <a:cs typeface="+mn-cs"/>
        <a:sym typeface="Helvetica Neue"/>
      </a:defRPr>
    </a:lvl7pPr>
    <a:lvl8pPr indent="1600200" defTabSz="457200" latinLnBrk="0">
      <a:defRPr sz="2600">
        <a:latin typeface="+mn-lt"/>
        <a:ea typeface="+mn-ea"/>
        <a:cs typeface="+mn-cs"/>
        <a:sym typeface="Helvetica Neue"/>
      </a:defRPr>
    </a:lvl8pPr>
    <a:lvl9pPr indent="1828800" defTabSz="457200" latinLnBrk="0">
      <a:defRPr sz="26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If a function returns a class that has subclasses, we may need to know how to ask which subclass it is:</a:t>
            </a:r>
          </a:p>
          <a:p>
            <a:pPr>
              <a:defRPr sz="3000"/>
            </a:pPr>
            <a:r>
              <a:t>	func getClientPet() -&gt; Animal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" name="Shape 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Note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Shows the "is" syntax:</a:t>
            </a:r>
          </a:p>
          <a:p>
            <a:pPr>
              <a:defRPr sz="3000"/>
            </a:pPr>
            <a:r>
              <a:t>	if pet is Dog {}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Here’s another example.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Shape 1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Clr>
                <a:srgbClr val="000000"/>
              </a:buClr>
              <a:buSzPct val="100000"/>
              <a:buChar char="•"/>
              <a:defRPr sz="3000"/>
            </a:pPr>
            <a:r>
              <a:t>Sometimes we have a type that's too vague, and we need to tell or ask the compiler that we know—or want to know—if it can be more precise.</a:t>
            </a:r>
          </a:p>
          <a:p>
            <a:pPr marL="228599" indent="-228599">
              <a:buClr>
                <a:srgbClr val="000000"/>
              </a:buClr>
              <a:buSzPct val="100000"/>
              <a:buChar char="•"/>
              <a:defRPr sz="3000"/>
            </a:pPr>
            <a:r>
              <a:t>If we have a function that takes "Dog" and we have an instance that's "Animal," the compiler complains.  </a:t>
            </a:r>
          </a:p>
          <a:p>
            <a:pPr marL="228599" indent="-228599">
              <a:buClr>
                <a:srgbClr val="000000"/>
              </a:buClr>
              <a:buSzPct val="100000"/>
              <a:buChar char="•"/>
              <a:defRPr sz="3000"/>
            </a:pPr>
            <a:r>
              <a:t>So we need to:</a:t>
            </a:r>
          </a:p>
          <a:p>
            <a:pPr marL="546100" indent="-228600">
              <a:buSzPct val="100000"/>
              <a:buChar char="-"/>
              <a:defRPr sz="3000"/>
            </a:pPr>
            <a:r>
              <a:t>	Ask if it's a Dog</a:t>
            </a:r>
          </a:p>
          <a:p>
            <a:pPr marL="546100" indent="-228600">
              <a:buSzPct val="100000"/>
              <a:buChar char="-"/>
              <a:defRPr sz="3000"/>
            </a:pPr>
            <a:r>
              <a:t>	Tell the compiler that we know it's a Dog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if let theDog = pet as? Dog {}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If "pet" is of type "Dog," then the code runs.</a:t>
            </a:r>
          </a:p>
          <a:p>
            <a:pPr marL="228599" indent="-228599">
              <a:buSzPct val="100000"/>
              <a:buChar char="•"/>
              <a:defRPr sz="3000"/>
            </a:pPr>
            <a:r>
              <a:t>Remember, Swift says that "?" may be nil and "!" may crash.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The slide shows that SecondViewController is a UIViewController subclass.</a:t>
            </a:r>
          </a:p>
          <a:p>
            <a:pPr>
              <a:buClr>
                <a:srgbClr val="000000"/>
              </a:buCl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Go to the docs and show that the destination property of UIStoryboardSegue is UIViewController.</a:t>
            </a:r>
          </a:p>
          <a:p>
            <a:pPr>
              <a:buClr>
                <a:srgbClr val="000000"/>
              </a:buClr>
              <a:defRPr sz="3000"/>
            </a:pPr>
            <a:r>
              <a:t>Say 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We built the UI, so we know that the destination is really an instance of SecondViewController.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What if we're wrong? Answer: A crash will occur.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Remember: Swift says "?" means "may be nil," and "!" means "may crash"—so be sure!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6" name="Shape 1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Although Swift is strongly typed, you can specify a nonspecific type, when appropriate.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"Any" is any type.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 AnyObject is any class.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If a collection is "Any" or "AnyObject," you may need to do introspection.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Note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Shows "is" introspection.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As we saw with optionals, if/let also works with "as?".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Being type-specific is better when possible—the compiler can help you avoid errors—but "Any" and "AnyObject" are OK when necessary.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3—Lesson 2: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2:</a:t>
            </a:r>
          </a:p>
          <a:p>
            <a:pPr/>
            <a:r>
              <a:t>Type Casting and Inspection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2" name="Rectangle"/>
          <p:cNvSpPr/>
          <p:nvPr/>
        </p:nvSpPr>
        <p:spPr>
          <a:xfrm>
            <a:off x="761516" y="3827584"/>
            <a:ext cx="22860968" cy="373418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73" name="Type inspection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inspection</a:t>
            </a:r>
          </a:p>
        </p:txBody>
      </p:sp>
      <p:sp>
        <p:nvSpPr>
          <p:cNvPr id="74" name="func getClientPet() -&gt; Animal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getClientPet() -&gt; </a:t>
            </a:r>
            <a:r>
              <a:rPr>
                <a:solidFill>
                  <a:srgbClr val="6CCE66"/>
                </a:solidFill>
              </a:rPr>
              <a:t>Animal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979BB2"/>
                </a:solidFill>
              </a:rPr>
              <a:t>  //returns the pet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pet = </a:t>
            </a:r>
            <a:r>
              <a:rPr>
                <a:solidFill>
                  <a:srgbClr val="6CCE66"/>
                </a:solidFill>
              </a:rPr>
              <a:t>getClientPet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//`pet` is of type `Animal`</a:t>
            </a:r>
            <a:endParaRPr>
              <a:solidFill>
                <a:srgbClr val="979BB2"/>
              </a:solidFill>
            </a:endParaRPr>
          </a:p>
        </p:txBody>
      </p:sp>
      <p:sp>
        <p:nvSpPr>
          <p:cNvPr id="75" name="Slide Number"/>
          <p:cNvSpPr/>
          <p:nvPr>
            <p:ph type="sldNum" sz="quarter" idx="4294967295"/>
          </p:nvPr>
        </p:nvSpPr>
        <p:spPr>
          <a:xfrm>
            <a:off x="24069809" y="13042900"/>
            <a:ext cx="220219" cy="312167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0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1" name="Rectangle"/>
          <p:cNvSpPr/>
          <p:nvPr/>
        </p:nvSpPr>
        <p:spPr>
          <a:xfrm>
            <a:off x="761516" y="3944799"/>
            <a:ext cx="22860968" cy="614737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2" name="Type inspection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inspection</a:t>
            </a:r>
          </a:p>
        </p:txBody>
      </p:sp>
      <p:sp>
        <p:nvSpPr>
          <p:cNvPr id="83" name="Rectangle"/>
          <p:cNvSpPr/>
          <p:nvPr/>
        </p:nvSpPr>
        <p:spPr>
          <a:xfrm>
            <a:off x="2836534" y="4111588"/>
            <a:ext cx="1454120" cy="522727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4" name="Rectangle"/>
          <p:cNvSpPr/>
          <p:nvPr/>
        </p:nvSpPr>
        <p:spPr>
          <a:xfrm>
            <a:off x="4418295" y="5391141"/>
            <a:ext cx="1454120" cy="522727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5" name="Rectangle"/>
          <p:cNvSpPr/>
          <p:nvPr/>
        </p:nvSpPr>
        <p:spPr>
          <a:xfrm>
            <a:off x="4392895" y="6654751"/>
            <a:ext cx="1726000" cy="522727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6" name="if pet is Dog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Dog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client's pet is a dog"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Cat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client's pet is a cat"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Bird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client's pet is a bird"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client has a very exotic pet"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2" name="Rectangle"/>
          <p:cNvSpPr/>
          <p:nvPr/>
        </p:nvSpPr>
        <p:spPr>
          <a:xfrm>
            <a:off x="761516" y="3894455"/>
            <a:ext cx="22860968" cy="798758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3" name="Type inspection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inspection</a:t>
            </a:r>
          </a:p>
        </p:txBody>
      </p:sp>
      <p:sp>
        <p:nvSpPr>
          <p:cNvPr id="94" name="let pets = allPets() //`pets` is of type `[Animal]`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pets = allPets() </a:t>
            </a:r>
            <a:r>
              <a:rPr>
                <a:solidFill>
                  <a:srgbClr val="979BB2"/>
                </a:solidFill>
              </a:rPr>
              <a:t>//`pets` is of type `[Animal]`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dogCount = 0, catCount = 0, birdCount = 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pets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Dog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dogCount += 1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Cat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catCount += 1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Bird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birdCount += 1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"Brad looks after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dogCount</a:t>
            </a:r>
            <a:r>
              <a:rPr>
                <a:solidFill>
                  <a:srgbClr val="F95B57"/>
                </a:solidFill>
              </a:rPr>
              <a:t>) dogs,</a:t>
            </a:r>
            <a:r>
              <a:t> 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catCount</a:t>
            </a:r>
            <a:r>
              <a:rPr>
                <a:solidFill>
                  <a:srgbClr val="F95B57"/>
                </a:solidFill>
              </a:rPr>
              <a:t>) cats, and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birdCount</a:t>
            </a:r>
            <a:r>
              <a:rPr>
                <a:solidFill>
                  <a:srgbClr val="F95B57"/>
                </a:solidFill>
              </a:rPr>
              <a:t>) birds."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9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0" name="Type cast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casting</a:t>
            </a:r>
          </a:p>
        </p:txBody>
      </p:sp>
      <p:sp>
        <p:nvSpPr>
          <p:cNvPr id="101" name="Type casting in Swift is the process of converting an object from one type to another.…"/>
          <p:cNvSpPr/>
          <p:nvPr>
            <p:ph type="body" idx="1"/>
          </p:nvPr>
        </p:nvSpPr>
        <p:spPr>
          <a:xfrm>
            <a:off x="1250671" y="2905397"/>
            <a:ext cx="22319850" cy="9619706"/>
          </a:xfrm>
          <a:prstGeom prst="rect">
            <a:avLst/>
          </a:prstGeom>
        </p:spPr>
        <p:txBody>
          <a:bodyPr/>
          <a:lstStyle/>
          <a:p>
            <a:pPr marL="246393" indent="-246393" defTabSz="457200">
              <a:spcBef>
                <a:spcPts val="0"/>
              </a:spcBef>
              <a:defRPr spc="0" sz="3725">
                <a:latin typeface="Helvetica"/>
                <a:ea typeface="Helvetica"/>
                <a:cs typeface="Helvetica"/>
                <a:sym typeface="Helvetica"/>
              </a:defRPr>
            </a:pPr>
            <a:r>
              <a:t>Type casting in Swift is the process of converting an object from one type to another.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pc="0" sz="3725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246393" indent="-246393" defTabSz="457200">
              <a:spcBef>
                <a:spcPts val="0"/>
              </a:spcBef>
              <a:defRPr spc="0" sz="3725">
                <a:latin typeface="Helvetica"/>
                <a:ea typeface="Helvetica"/>
                <a:cs typeface="Helvetica"/>
                <a:sym typeface="Helvetica"/>
              </a:defRPr>
            </a:pPr>
            <a:r>
              <a:t>The syntax of type casting in Swift is as follows: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pc="0" sz="3725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lvl="6" defTabSz="457200">
              <a:lnSpc>
                <a:spcPct val="100000"/>
              </a:lnSpc>
              <a:defRPr sz="3625">
                <a:solidFill>
                  <a:srgbClr val="D7D7D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expression </a:t>
            </a:r>
            <a:r>
              <a:rPr>
                <a:solidFill>
                  <a:srgbClr val="CC99CD"/>
                </a:solidFill>
              </a:rPr>
              <a:t>as</a:t>
            </a:r>
            <a:r>
              <a:t> </a:t>
            </a:r>
            <a:r>
              <a:rPr>
                <a:solidFill>
                  <a:srgbClr val="F08D49"/>
                </a:solidFill>
              </a:rPr>
              <a:t>Type</a:t>
            </a:r>
          </a:p>
          <a:p>
            <a:pPr marL="239778" indent="-239778" defTabSz="457200">
              <a:spcBef>
                <a:spcPts val="0"/>
              </a:spcBef>
              <a:defRPr spc="0" sz="3625">
                <a:solidFill>
                  <a:srgbClr val="D7D7D7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marL="239778" indent="-239778" defTabSz="457200">
              <a:spcBef>
                <a:spcPts val="0"/>
              </a:spcBef>
              <a:defRPr spc="0" sz="3625">
                <a:solidFill>
                  <a:srgbClr val="D7D7D7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lvl="5" defTabSz="457200">
              <a:lnSpc>
                <a:spcPct val="100000"/>
              </a:lnSpc>
              <a:defRPr sz="3550">
                <a:solidFill>
                  <a:srgbClr val="99999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99CD"/>
                </a:solidFill>
              </a:rPr>
              <a:t>let</a:t>
            </a:r>
            <a:r>
              <a:rPr>
                <a:solidFill>
                  <a:srgbClr val="D7D7D7"/>
                </a:solidFill>
              </a:rPr>
              <a:t> stringValue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D7D7D7"/>
                </a:solidFill>
              </a:rPr>
              <a:t> </a:t>
            </a:r>
            <a:r>
              <a:rPr>
                <a:solidFill>
                  <a:srgbClr val="7EC699"/>
                </a:solidFill>
              </a:rPr>
              <a:t>"hello"</a:t>
            </a:r>
            <a:r>
              <a:rPr>
                <a:solidFill>
                  <a:srgbClr val="D7D7D7"/>
                </a:solidFill>
              </a:rPr>
              <a:t> </a:t>
            </a:r>
            <a:endParaRPr>
              <a:solidFill>
                <a:srgbClr val="D7D7D7"/>
              </a:solidFill>
            </a:endParaRPr>
          </a:p>
          <a:p>
            <a:pPr lvl="5" defTabSz="457200">
              <a:lnSpc>
                <a:spcPct val="100000"/>
              </a:lnSpc>
              <a:defRPr sz="3550">
                <a:solidFill>
                  <a:srgbClr val="99999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99CD"/>
                </a:solidFill>
              </a:rPr>
              <a:t>let</a:t>
            </a:r>
            <a:r>
              <a:rPr>
                <a:solidFill>
                  <a:srgbClr val="D7D7D7"/>
                </a:solidFill>
              </a:rPr>
              <a:t> intValue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D7D7D7"/>
                </a:solidFill>
              </a:rPr>
              <a:t> </a:t>
            </a:r>
            <a:r>
              <a:rPr>
                <a:solidFill>
                  <a:srgbClr val="F08D49"/>
                </a:solidFill>
              </a:rPr>
              <a:t>42</a:t>
            </a:r>
            <a:r>
              <a:rPr>
                <a:solidFill>
                  <a:srgbClr val="D7D7D7"/>
                </a:solidFill>
              </a:rPr>
              <a:t> </a:t>
            </a:r>
            <a:endParaRPr>
              <a:solidFill>
                <a:srgbClr val="D7D7D7"/>
              </a:solidFill>
            </a:endParaRPr>
          </a:p>
          <a:p>
            <a:pPr lvl="5" defTabSz="457200">
              <a:lnSpc>
                <a:spcPct val="100000"/>
              </a:lnSpc>
              <a:defRPr sz="3550">
                <a:solidFill>
                  <a:srgbClr val="99999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99CD"/>
                </a:solidFill>
              </a:rPr>
              <a:t>let</a:t>
            </a:r>
            <a:r>
              <a:rPr>
                <a:solidFill>
                  <a:srgbClr val="D7D7D7"/>
                </a:solidFill>
              </a:rPr>
              <a:t> doubleValue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D7D7D7"/>
                </a:solidFill>
              </a:rPr>
              <a:t> </a:t>
            </a:r>
            <a:r>
              <a:rPr>
                <a:solidFill>
                  <a:srgbClr val="F08D49"/>
                </a:solidFill>
              </a:rPr>
              <a:t>Double</a:t>
            </a:r>
            <a:r>
              <a:rPr>
                <a:solidFill>
                  <a:srgbClr val="D7D7D7"/>
                </a:solidFill>
              </a:rPr>
              <a:t>(intValue) </a:t>
            </a:r>
            <a:r>
              <a:t>// 42.0</a:t>
            </a:r>
            <a:r>
              <a:rPr>
                <a:solidFill>
                  <a:srgbClr val="D7D7D7"/>
                </a:solidFill>
              </a:rPr>
              <a:t> </a:t>
            </a:r>
            <a:endParaRPr>
              <a:solidFill>
                <a:srgbClr val="D7D7D7"/>
              </a:solidFill>
            </a:endParaRPr>
          </a:p>
          <a:p>
            <a:pPr lvl="5" defTabSz="457200">
              <a:lnSpc>
                <a:spcPct val="100000"/>
              </a:lnSpc>
              <a:defRPr sz="3550">
                <a:solidFill>
                  <a:srgbClr val="99999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99CD"/>
                </a:solidFill>
              </a:rPr>
              <a:t>let</a:t>
            </a:r>
            <a:r>
              <a:rPr>
                <a:solidFill>
                  <a:srgbClr val="D7D7D7"/>
                </a:solidFill>
              </a:rPr>
              <a:t> stringDoubleValue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D7D7D7"/>
                </a:solidFill>
              </a:rPr>
              <a:t> </a:t>
            </a:r>
            <a:r>
              <a:rPr>
                <a:solidFill>
                  <a:srgbClr val="F08D49"/>
                </a:solidFill>
              </a:rPr>
              <a:t>Double</a:t>
            </a:r>
            <a:r>
              <a:rPr>
                <a:solidFill>
                  <a:srgbClr val="D7D7D7"/>
                </a:solidFill>
              </a:rPr>
              <a:t>(stringValue) </a:t>
            </a:r>
            <a:r>
              <a:t>// This will fail and return nil</a:t>
            </a:r>
            <a:endParaRPr>
              <a:solidFill>
                <a:srgbClr val="D7D7D7"/>
              </a:solidFill>
            </a:endParaRP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259622" indent="-259622" defTabSz="457200">
              <a:spcBef>
                <a:spcPts val="0"/>
              </a:spcBef>
              <a:defRPr spc="0" sz="3925">
                <a:latin typeface="Helvetica"/>
                <a:ea typeface="Helvetica"/>
                <a:cs typeface="Helvetica"/>
                <a:sym typeface="Helvetica"/>
              </a:defRPr>
            </a:pPr>
            <a:r>
              <a:t>The first typecast converts an integer to a 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Double</a:t>
            </a:r>
            <a:r>
              <a:t>.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pc="0" sz="3925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259622" indent="-259622" defTabSz="457200">
              <a:spcBef>
                <a:spcPts val="0"/>
              </a:spcBef>
              <a:defRPr spc="0" sz="3925">
                <a:latin typeface="Helvetica"/>
                <a:ea typeface="Helvetica"/>
                <a:cs typeface="Helvetica"/>
                <a:sym typeface="Helvetica"/>
              </a:defRPr>
            </a:pPr>
            <a:r>
              <a:t>The second typecast tries to convert a string “hello” to a 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Double</a:t>
            </a:r>
            <a:r>
              <a:t>. Since “hello” is not a number, the typecast fails and returns 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nil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4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5" name="Type Cast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Casting</a:t>
            </a:r>
          </a:p>
        </p:txBody>
      </p:sp>
      <p:sp>
        <p:nvSpPr>
          <p:cNvPr id="106" name="Upcasting and Downcasting:…"/>
          <p:cNvSpPr/>
          <p:nvPr>
            <p:ph type="body" idx="1"/>
          </p:nvPr>
        </p:nvSpPr>
        <p:spPr>
          <a:xfrm>
            <a:off x="1143000" y="2533674"/>
            <a:ext cx="22098000" cy="10496526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20000"/>
              </a:lnSpc>
              <a:spcBef>
                <a:spcPts val="1200"/>
              </a:spcBef>
              <a:buSzTx/>
              <a:buNone/>
              <a:defRPr b="1" spc="0" sz="4000"/>
            </a:pPr>
            <a:r>
              <a:t>Upcasting and Downcasting:</a:t>
            </a:r>
            <a:endParaRPr b="0"/>
          </a:p>
          <a:p>
            <a:pPr marL="457200" defTabSz="457200">
              <a:lnSpc>
                <a:spcPct val="120000"/>
              </a:lnSpc>
              <a:spcBef>
                <a:spcPts val="0"/>
              </a:spcBef>
              <a:buSzPct val="80000"/>
              <a:buFont typeface="Times Roman"/>
              <a:defRPr spc="0" sz="4000"/>
            </a:pPr>
            <a:r>
              <a:rPr b="1" u="sng"/>
              <a:t>Upcasting:</a:t>
            </a:r>
            <a:r>
              <a:t> Converting a subclass instance to its superclass type. This is safe and implicit.</a:t>
            </a:r>
          </a:p>
          <a:p>
            <a:pPr marL="457200" defTabSz="457200">
              <a:lnSpc>
                <a:spcPct val="120000"/>
              </a:lnSpc>
              <a:spcBef>
                <a:spcPts val="0"/>
              </a:spcBef>
              <a:buSzPct val="80000"/>
              <a:buFont typeface="Times Roman"/>
              <a:defRPr spc="0" sz="4000"/>
            </a:pPr>
            <a:r>
              <a:rPr b="1" u="sng"/>
              <a:t>Downcasting:</a:t>
            </a:r>
            <a:r>
              <a:rPr u="sng"/>
              <a:t> </a:t>
            </a:r>
            <a:r>
              <a:t>Converting a superclass instance to a subclass type. This requires explicit casting and can fail if the instance isn't of the target subclass type.</a:t>
            </a: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SzTx/>
              <a:buNone/>
              <a:defRPr b="1" spc="0" sz="4000"/>
            </a:pPr>
          </a:p>
          <a:p>
            <a:pPr marL="0" indent="0" defTabSz="457200">
              <a:lnSpc>
                <a:spcPct val="120000"/>
              </a:lnSpc>
              <a:spcBef>
                <a:spcPts val="1200"/>
              </a:spcBef>
              <a:buSzTx/>
              <a:buNone/>
              <a:defRPr b="1" spc="0" sz="4000"/>
            </a:pPr>
            <a:r>
              <a:t>Type Casting Operators:</a:t>
            </a:r>
            <a:endParaRPr b="0"/>
          </a:p>
          <a:p>
            <a:pPr marL="432776" indent="-293076" defTabSz="457200">
              <a:lnSpc>
                <a:spcPct val="120000"/>
              </a:lnSpc>
              <a:spcBef>
                <a:spcPts val="0"/>
              </a:spcBef>
              <a:buSzPct val="80000"/>
              <a:buFont typeface="Courier"/>
              <a:defRPr spc="0" sz="4000"/>
            </a:pPr>
            <a:r>
              <a:rPr b="1">
                <a:solidFill>
                  <a:srgbClr val="FF9300"/>
                </a:solidFill>
              </a:rPr>
              <a:t>as?</a:t>
            </a:r>
            <a:r>
              <a:rPr b="1"/>
              <a:t> (Conditional Downcast):</a:t>
            </a:r>
            <a:r>
              <a:t> Attempts to downcast and returns an optional. If the downcast fails, it returns nil.</a:t>
            </a:r>
          </a:p>
          <a:p>
            <a:pPr marL="432776" indent="-293076" defTabSz="457200">
              <a:lnSpc>
                <a:spcPct val="120000"/>
              </a:lnSpc>
              <a:spcBef>
                <a:spcPts val="0"/>
              </a:spcBef>
              <a:buSzPct val="80000"/>
              <a:buFont typeface="Courier"/>
              <a:defRPr spc="0" sz="4000"/>
            </a:pPr>
            <a:r>
              <a:rPr b="1">
                <a:solidFill>
                  <a:srgbClr val="FF9300"/>
                </a:solidFill>
              </a:rPr>
              <a:t>as! </a:t>
            </a:r>
            <a:r>
              <a:rPr b="1"/>
              <a:t>(Forced Downcast):</a:t>
            </a:r>
            <a:r>
              <a:t> Forces a downcast and triggers a runtime error if it fails. Use only when you're certain of the instance's type.</a:t>
            </a:r>
          </a:p>
          <a:p>
            <a:pPr marL="432776" indent="-293076" defTabSz="457200">
              <a:lnSpc>
                <a:spcPct val="120000"/>
              </a:lnSpc>
              <a:spcBef>
                <a:spcPts val="0"/>
              </a:spcBef>
              <a:buSzPct val="80000"/>
              <a:buFont typeface="Courier"/>
              <a:defRPr spc="0" sz="4000"/>
            </a:pPr>
            <a:r>
              <a:rPr b="1">
                <a:solidFill>
                  <a:srgbClr val="FF9300"/>
                </a:solidFill>
              </a:rPr>
              <a:t>is</a:t>
            </a:r>
            <a:r>
              <a:rPr b="1"/>
              <a:t> (Type Check):</a:t>
            </a:r>
            <a:r>
              <a:t> Checks if an instance is of a certain type and returns a Boolean value.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9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0" name="Type Casting Operato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Casting Operators</a:t>
            </a:r>
          </a:p>
        </p:txBody>
      </p:sp>
      <p:graphicFrame>
        <p:nvGraphicFramePr>
          <p:cNvPr id="111" name="Table 1"/>
          <p:cNvGraphicFramePr/>
          <p:nvPr/>
        </p:nvGraphicFramePr>
        <p:xfrm>
          <a:off x="2264797" y="4074886"/>
          <a:ext cx="20524976" cy="831028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{877FEA67-772D-4074-989A-CEF1D2AC0110}</a:tableStyleId>
              </a:tblPr>
              <a:tblGrid>
                <a:gridCol w="2596877"/>
                <a:gridCol w="12732860"/>
                <a:gridCol w="5195238"/>
              </a:tblGrid>
              <a:tr h="117514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b="1"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Operator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just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b="1"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Purpose</a:t>
                      </a:r>
                    </a:p>
                  </a:txBody>
                  <a:tcPr marL="12700" marR="12700" marT="12700" marB="12700" anchor="ctr" anchorCtr="0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b="1"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Result Type</a:t>
                      </a:r>
                    </a:p>
                  </a:txBody>
                  <a:tcPr marL="12700" marR="12700" marT="12700" marB="12700" anchor="ctr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</a:tr>
              <a:tr h="2464309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is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just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 Check if an instance is of a certain subclass type.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Bool</a:t>
                      </a:r>
                    </a:p>
                  </a:txBody>
                  <a:tcPr marL="12700" marR="12700" marT="12700" marB="12700" anchor="ctr" anchorCtr="0" horzOverflow="overflow">
                    <a:lnR w="12700">
                      <a:miter lim="400000"/>
                    </a:lnR>
                  </a:tcPr>
                </a:tc>
              </a:tr>
              <a:tr h="216384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as?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just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 Conditional cast. Returns nil if the cast fails.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Optional (Type?)</a:t>
                      </a:r>
                    </a:p>
                  </a:txBody>
                  <a:tcPr marL="12700" marR="12700" marT="12700" marB="12700" anchor="ctr" anchorCtr="0" horzOverflow="overflow">
                    <a:lnR w="12700">
                      <a:miter lim="400000"/>
                    </a:lnR>
                  </a:tcPr>
                </a:tc>
              </a:tr>
              <a:tr h="250699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as!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just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 Forced cast. Crashes your app if the cast fails.</a:t>
                      </a:r>
                    </a:p>
                  </a:txBody>
                  <a:tcPr marL="12700" marR="12700" marT="12700" marB="127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510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7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Non-optional (Type)</a:t>
                      </a:r>
                    </a:p>
                  </a:txBody>
                  <a:tcPr marL="12700" marR="12700" marT="12700" marB="12700" anchor="ctr" anchorCtr="0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4" name="Downcasting vs. Upcast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665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Downcasting vs. Upcasting</a:t>
            </a:r>
          </a:p>
        </p:txBody>
      </p:sp>
      <p:sp>
        <p:nvSpPr>
          <p:cNvPr id="115" name="Downcasting is used to convert a value from a superclass type to a subclass type. The syntax for downcasting is as follows:…"/>
          <p:cNvSpPr/>
          <p:nvPr>
            <p:ph type="body" idx="1"/>
          </p:nvPr>
        </p:nvSpPr>
        <p:spPr>
          <a:xfrm>
            <a:off x="1143000" y="2400300"/>
            <a:ext cx="22098000" cy="10629900"/>
          </a:xfrm>
          <a:prstGeom prst="rect">
            <a:avLst/>
          </a:prstGeom>
        </p:spPr>
        <p:txBody>
          <a:bodyPr/>
          <a:lstStyle/>
          <a:p>
            <a:pPr marL="238125" indent="-238125">
              <a:defRPr spc="-36" sz="3600"/>
            </a:pPr>
            <a:r>
              <a:rPr b="1"/>
              <a:t>Downcasting</a:t>
            </a:r>
            <a:r>
              <a:t> is used to convert a value from a superclass type to a subclass type. The syntax for downcasting is as follows: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pc="0" sz="1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lvl="4" marL="0" indent="914400" defTabSz="457200">
              <a:spcBef>
                <a:spcPts val="0"/>
              </a:spcBef>
              <a:buSzTx/>
              <a:buNone/>
              <a:defRPr spc="0" sz="3950">
                <a:solidFill>
                  <a:srgbClr val="D7D7D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99CD"/>
                </a:solidFill>
              </a:rPr>
              <a:t>let</a:t>
            </a:r>
            <a:r>
              <a:t> instance </a:t>
            </a:r>
            <a:r>
              <a:rPr>
                <a:solidFill>
                  <a:srgbClr val="FFFFFF"/>
                </a:solidFill>
              </a:rPr>
              <a:t>=</a:t>
            </a:r>
            <a:r>
              <a:t> superclassValue </a:t>
            </a:r>
            <a:r>
              <a:rPr>
                <a:solidFill>
                  <a:srgbClr val="CC99CD"/>
                </a:solidFill>
              </a:rPr>
              <a:t>as?</a:t>
            </a:r>
            <a:r>
              <a:t> </a:t>
            </a:r>
            <a:r>
              <a:rPr>
                <a:solidFill>
                  <a:srgbClr val="F08D49"/>
                </a:solidFill>
              </a:rPr>
              <a:t>SubclassType</a:t>
            </a: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SzTx/>
              <a:buNone/>
              <a:defRPr spc="0" sz="1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231510" indent="-231510">
              <a:defRPr spc="-35" sz="3500"/>
            </a:pPr>
            <a:r>
              <a:t>The </a:t>
            </a:r>
            <a:r>
              <a:rPr>
                <a:solidFill>
                  <a:srgbClr val="E6A845"/>
                </a:solidFill>
              </a:rPr>
              <a:t>as?</a:t>
            </a:r>
            <a:r>
              <a:t> operator is used to perform a downcast and returns an optional value of type SubclassType. If the downcast is successful, the optional will contain the downcasted value, otherwise it’ll be nil.</a:t>
            </a:r>
          </a:p>
          <a:p>
            <a:pPr marL="231510" indent="-231510">
              <a:defRPr spc="-35" sz="3500"/>
            </a:pPr>
            <a:r>
              <a:t>Upcasting is used to convert a value from a subclass type to a superclass type. The syntax for upcasting is as follows: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pc="0" sz="1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lvl="3" marL="0" indent="685800" defTabSz="457200">
              <a:spcBef>
                <a:spcPts val="0"/>
              </a:spcBef>
              <a:buSzTx/>
              <a:buNone/>
              <a:defRPr spc="0" sz="4000">
                <a:solidFill>
                  <a:srgbClr val="D7D7D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99CD"/>
                </a:solidFill>
              </a:rPr>
              <a:t>let</a:t>
            </a:r>
            <a:r>
              <a:t> instance: </a:t>
            </a:r>
            <a:r>
              <a:rPr>
                <a:solidFill>
                  <a:srgbClr val="F08D49"/>
                </a:solidFill>
              </a:rPr>
              <a:t>SuperclassType</a:t>
            </a:r>
            <a: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t> subclassValue </a:t>
            </a:r>
            <a:r>
              <a:rPr>
                <a:solidFill>
                  <a:srgbClr val="CC99CD"/>
                </a:solidFill>
              </a:rPr>
              <a:t>as</a:t>
            </a:r>
            <a:r>
              <a:t> </a:t>
            </a:r>
            <a:r>
              <a:rPr>
                <a:solidFill>
                  <a:srgbClr val="F08D49"/>
                </a:solidFill>
              </a:rPr>
              <a:t>SuperclassType</a:t>
            </a: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ctr" defTabSz="457200">
              <a:spcBef>
                <a:spcPts val="0"/>
              </a:spcBef>
              <a:buSzTx/>
              <a:buNone/>
              <a:defRPr spc="0" sz="1400">
                <a:solidFill>
                  <a:srgbClr val="000000">
                    <a:alpha val="84705"/>
                  </a:srgb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SzTx/>
              <a:buNone/>
              <a:defRPr spc="0" sz="1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238125" indent="-238125" defTabSz="457200">
              <a:spcBef>
                <a:spcPts val="0"/>
              </a:spcBef>
              <a:defRPr spc="0" sz="3600">
                <a:latin typeface="Helvetica"/>
                <a:ea typeface="Helvetica"/>
                <a:cs typeface="Helvetica"/>
                <a:sym typeface="Helvetica"/>
              </a:defRPr>
            </a:pPr>
            <a:r>
              <a:t>The </a:t>
            </a:r>
            <a:r>
              <a:rPr spc="-35" sz="3500">
                <a:solidFill>
                  <a:srgbClr val="E6A845"/>
                </a:solidFill>
                <a:latin typeface="+mn-lt"/>
                <a:ea typeface="+mn-ea"/>
                <a:cs typeface="+mn-cs"/>
                <a:sym typeface="Helvetica Neue"/>
              </a:rPr>
              <a:t>as</a:t>
            </a:r>
            <a:r>
              <a:t> operator is used to perform an upcast. If the upcast is successful, the expression will be of type 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SuperclassType</a:t>
            </a:r>
            <a:r>
              <a:t>, otherwise it’ll cause a compile-time error.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8" name="Upcasting"/>
          <p:cNvSpPr/>
          <p:nvPr>
            <p:ph type="title"/>
          </p:nvPr>
        </p:nvSpPr>
        <p:spPr>
          <a:xfrm>
            <a:off x="1155700" y="0"/>
            <a:ext cx="9459151" cy="2057400"/>
          </a:xfrm>
          <a:prstGeom prst="rect">
            <a:avLst/>
          </a:prstGeom>
        </p:spPr>
        <p:txBody>
          <a:bodyPr/>
          <a:lstStyle/>
          <a:p>
            <a:pPr/>
            <a:r>
              <a:t>Upcasting</a:t>
            </a:r>
          </a:p>
        </p:txBody>
      </p:sp>
      <p:sp>
        <p:nvSpPr>
          <p:cNvPr id="119" name="Double-click to edit"/>
          <p:cNvSpPr/>
          <p:nvPr>
            <p:ph type="body" sz="half" idx="1"/>
          </p:nvPr>
        </p:nvSpPr>
        <p:spPr>
          <a:xfrm>
            <a:off x="1143000" y="2610932"/>
            <a:ext cx="10127756" cy="10419268"/>
          </a:xfrm>
          <a:prstGeom prst="rect">
            <a:avLst/>
          </a:prstGeom>
        </p:spPr>
        <p:txBody>
          <a:bodyPr/>
          <a:lstStyle/>
          <a:p>
            <a:pPr marL="0" indent="0" defTabSz="800100">
              <a:spcBef>
                <a:spcPts val="3000"/>
              </a:spcBef>
              <a:buSzTx/>
              <a:buNone/>
              <a:defRPr spc="0" sz="2600">
                <a:solidFill>
                  <a:srgbClr val="00F90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</p:txBody>
      </p:sp>
      <p:pic>
        <p:nvPicPr>
          <p:cNvPr id="12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610932"/>
            <a:ext cx="9804400" cy="9525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Downcasting"/>
          <p:cNvSpPr/>
          <p:nvPr/>
        </p:nvSpPr>
        <p:spPr>
          <a:xfrm>
            <a:off x="11729239" y="-1"/>
            <a:ext cx="9459152" cy="205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 algn="l" defTabSz="825500">
              <a:lnSpc>
                <a:spcPts val="7300"/>
              </a:lnSpc>
              <a:defRPr b="1" spc="-136" sz="6800"/>
            </a:lvl1pPr>
          </a:lstStyle>
          <a:p>
            <a:pPr/>
            <a:r>
              <a:t>Downcasting</a:t>
            </a:r>
          </a:p>
        </p:txBody>
      </p:sp>
      <p:pic>
        <p:nvPicPr>
          <p:cNvPr id="12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77067" y="3340434"/>
            <a:ext cx="7543801" cy="429260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Downcasting  with as?"/>
          <p:cNvSpPr txBox="1"/>
          <p:nvPr/>
        </p:nvSpPr>
        <p:spPr>
          <a:xfrm>
            <a:off x="12090098" y="2368768"/>
            <a:ext cx="4762450" cy="66029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>
            <a:lvl1pPr>
              <a:defRPr sz="3600"/>
            </a:lvl1pPr>
          </a:lstStyle>
          <a:p>
            <a:pPr/>
            <a:r>
              <a:t>Downcasting  with as?</a:t>
            </a:r>
          </a:p>
        </p:txBody>
      </p:sp>
      <p:pic>
        <p:nvPicPr>
          <p:cNvPr id="124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876639" y="9950629"/>
            <a:ext cx="6756401" cy="23622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Downcasting  with as!"/>
          <p:cNvSpPr txBox="1"/>
          <p:nvPr/>
        </p:nvSpPr>
        <p:spPr>
          <a:xfrm>
            <a:off x="12157992" y="8914953"/>
            <a:ext cx="4626662" cy="6603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>
            <a:lvl1pPr>
              <a:defRPr sz="3600"/>
            </a:lvl1pPr>
          </a:lstStyle>
          <a:p>
            <a:pPr/>
            <a:r>
              <a:t>Downcasting  with as!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8" name="Using is for Type Checking"/>
          <p:cNvSpPr/>
          <p:nvPr>
            <p:ph type="title"/>
          </p:nvPr>
        </p:nvSpPr>
        <p:spPr>
          <a:xfrm>
            <a:off x="1155700" y="0"/>
            <a:ext cx="14530681" cy="2057400"/>
          </a:xfrm>
          <a:prstGeom prst="rect">
            <a:avLst/>
          </a:prstGeom>
        </p:spPr>
        <p:txBody>
          <a:bodyPr/>
          <a:lstStyle/>
          <a:p>
            <a:pPr/>
            <a:r>
              <a:t>Using is for Type Checking</a:t>
            </a:r>
          </a:p>
        </p:txBody>
      </p:sp>
      <p:pic>
        <p:nvPicPr>
          <p:cNvPr id="1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24510" y="3610842"/>
            <a:ext cx="12791507" cy="70923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2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3" name="Rectangle"/>
          <p:cNvSpPr/>
          <p:nvPr/>
        </p:nvSpPr>
        <p:spPr>
          <a:xfrm>
            <a:off x="761516" y="3971019"/>
            <a:ext cx="22860968" cy="899976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34" name="Type cast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casting</a:t>
            </a:r>
          </a:p>
        </p:txBody>
      </p:sp>
      <p:sp>
        <p:nvSpPr>
          <p:cNvPr id="135" name="Rectangle"/>
          <p:cNvSpPr/>
          <p:nvPr/>
        </p:nvSpPr>
        <p:spPr>
          <a:xfrm>
            <a:off x="2009860" y="10510287"/>
            <a:ext cx="3294413" cy="473482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6" name="func walk(dog: Dog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walk(dog: </a:t>
            </a:r>
            <a:r>
              <a:rPr>
                <a:solidFill>
                  <a:srgbClr val="6CCE66"/>
                </a:solidFill>
              </a:rPr>
              <a:t>Dog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"Walking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dog.name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cleanLitterBox(cat: </a:t>
            </a:r>
            <a:r>
              <a:rPr>
                <a:solidFill>
                  <a:srgbClr val="6CCE66"/>
                </a:solidFill>
              </a:rPr>
              <a:t>Cat</a:t>
            </a:r>
            <a:r>
              <a:t>) {. . .}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cleanCage(bird: </a:t>
            </a:r>
            <a:r>
              <a:rPr>
                <a:solidFill>
                  <a:srgbClr val="6CCE66"/>
                </a:solidFill>
              </a:rPr>
              <a:t>Bird</a:t>
            </a:r>
            <a:r>
              <a:t>) {. . .}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pets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Dog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walk</a:t>
            </a:r>
            <a:r>
              <a:t>(dog: </a:t>
            </a:r>
            <a:r>
              <a:rPr>
                <a:solidFill>
                  <a:srgbClr val="6CCE66"/>
                </a:solidFill>
              </a:rPr>
              <a:t>pet</a:t>
            </a:r>
            <a:r>
              <a:t>) </a:t>
            </a:r>
            <a:r>
              <a:rPr>
                <a:solidFill>
                  <a:srgbClr val="979BB2"/>
                </a:solidFill>
              </a:rPr>
              <a:t>// Compiler error. The compiler sees `pet` as an `Animal`, not a `Dog`.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. . .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2" name="Rectangle"/>
          <p:cNvSpPr/>
          <p:nvPr/>
        </p:nvSpPr>
        <p:spPr>
          <a:xfrm>
            <a:off x="761516" y="3967700"/>
            <a:ext cx="22860968" cy="635402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3" name="Type cast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casting</a:t>
            </a:r>
          </a:p>
        </p:txBody>
      </p:sp>
      <p:sp>
        <p:nvSpPr>
          <p:cNvPr id="144" name="Rectangle"/>
          <p:cNvSpPr/>
          <p:nvPr/>
        </p:nvSpPr>
        <p:spPr>
          <a:xfrm>
            <a:off x="5455668" y="4747468"/>
            <a:ext cx="1849663" cy="522727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5" name="Rectangle"/>
          <p:cNvSpPr/>
          <p:nvPr/>
        </p:nvSpPr>
        <p:spPr>
          <a:xfrm>
            <a:off x="7052705" y="6012436"/>
            <a:ext cx="1849663" cy="522728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6" name="Rectangle"/>
          <p:cNvSpPr/>
          <p:nvPr/>
        </p:nvSpPr>
        <p:spPr>
          <a:xfrm>
            <a:off x="7348001" y="7320536"/>
            <a:ext cx="1951042" cy="522728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7" name="for pet in pets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</a:t>
            </a:r>
            <a:r>
              <a:t> pet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pets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dog = pet </a:t>
            </a:r>
            <a:r>
              <a:rPr>
                <a:solidFill>
                  <a:srgbClr val="3DCCCC"/>
                </a:solidFill>
              </a:rPr>
              <a:t>as</a:t>
            </a:r>
            <a:r>
              <a:t>? </a:t>
            </a:r>
            <a:r>
              <a:rPr>
                <a:solidFill>
                  <a:srgbClr val="6CCE66"/>
                </a:solidFill>
              </a:rPr>
              <a:t>Dog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walk</a:t>
            </a:r>
            <a:r>
              <a:t>(dog: dog)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 </a:t>
            </a:r>
            <a:r>
              <a:rPr>
                <a:solidFill>
                  <a:srgbClr val="3DCCCC"/>
                </a:solidFill>
              </a:rPr>
              <a:t>else if let</a:t>
            </a:r>
            <a:r>
              <a:t> cat = pet </a:t>
            </a:r>
            <a:r>
              <a:rPr>
                <a:solidFill>
                  <a:srgbClr val="3DCCCC"/>
                </a:solidFill>
              </a:rPr>
              <a:t>as</a:t>
            </a:r>
            <a:r>
              <a:t>? </a:t>
            </a:r>
            <a:r>
              <a:rPr>
                <a:solidFill>
                  <a:srgbClr val="6CCE66"/>
                </a:solidFill>
              </a:rPr>
              <a:t>Cat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cleanLitterBox</a:t>
            </a:r>
            <a:r>
              <a:t>(cat: cat)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 </a:t>
            </a:r>
            <a:r>
              <a:rPr>
                <a:solidFill>
                  <a:srgbClr val="3DCCCC"/>
                </a:solidFill>
              </a:rPr>
              <a:t>else if let</a:t>
            </a:r>
            <a:r>
              <a:t> bird = pet </a:t>
            </a:r>
            <a:r>
              <a:rPr>
                <a:solidFill>
                  <a:srgbClr val="3DCCCC"/>
                </a:solidFill>
              </a:rPr>
              <a:t>as</a:t>
            </a:r>
            <a:r>
              <a:t>? </a:t>
            </a:r>
            <a:r>
              <a:rPr>
                <a:solidFill>
                  <a:srgbClr val="6CCE66"/>
                </a:solidFill>
              </a:rPr>
              <a:t>Bird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cleanCage</a:t>
            </a:r>
            <a:r>
              <a:t>(bird: bird)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2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3" name="Rectangle"/>
          <p:cNvSpPr/>
          <p:nvPr/>
        </p:nvSpPr>
        <p:spPr>
          <a:xfrm>
            <a:off x="761516" y="3912770"/>
            <a:ext cx="22860968" cy="542704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4" name="Type cast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casting</a:t>
            </a:r>
          </a:p>
        </p:txBody>
      </p:sp>
      <p:sp>
        <p:nvSpPr>
          <p:cNvPr id="155" name="Rectangle"/>
          <p:cNvSpPr/>
          <p:nvPr/>
        </p:nvSpPr>
        <p:spPr>
          <a:xfrm>
            <a:off x="9191865" y="7333236"/>
            <a:ext cx="736283" cy="522728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56" name="class SecondViewController : UIViewController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class</a:t>
            </a:r>
            <a:r>
              <a:t> SecondViewController : </a:t>
            </a:r>
            <a:r>
              <a:rPr>
                <a:solidFill>
                  <a:srgbClr val="6CCE66"/>
                </a:solidFill>
              </a:rPr>
              <a:t>UIViewController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names: [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]?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prepare(for segue: </a:t>
            </a:r>
            <a:r>
              <a:rPr>
                <a:solidFill>
                  <a:srgbClr val="6CCE66"/>
                </a:solidFill>
              </a:rPr>
              <a:t>UIStoryboardSegue</a:t>
            </a:r>
            <a:r>
              <a:t>, sender: </a:t>
            </a:r>
            <a:r>
              <a:rPr>
                <a:solidFill>
                  <a:srgbClr val="3DCCCC"/>
                </a:solidFill>
              </a:rPr>
              <a:t>Any</a:t>
            </a:r>
            <a:r>
              <a:t>?)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secondVC = segue.</a:t>
            </a:r>
            <a:r>
              <a:rPr>
                <a:solidFill>
                  <a:srgbClr val="6CCE66"/>
                </a:solidFill>
              </a:rPr>
              <a:t>destination</a:t>
            </a:r>
            <a:r>
              <a:t> </a:t>
            </a:r>
            <a:r>
              <a:rPr>
                <a:solidFill>
                  <a:srgbClr val="3DCCCC"/>
                </a:solidFill>
              </a:rPr>
              <a:t>as</a:t>
            </a:r>
            <a:r>
              <a:t>! </a:t>
            </a:r>
            <a:r>
              <a:rPr>
                <a:solidFill>
                  <a:srgbClr val="6CCE66"/>
                </a:solidFill>
              </a:rPr>
              <a:t>SecondViewController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secondVC.</a:t>
            </a:r>
            <a:r>
              <a:rPr>
                <a:solidFill>
                  <a:srgbClr val="6CCE66"/>
                </a:solidFill>
              </a:rPr>
              <a:t>names</a:t>
            </a:r>
            <a:r>
              <a:t> = [</a:t>
            </a:r>
            <a:r>
              <a:rPr>
                <a:solidFill>
                  <a:srgbClr val="F95B57"/>
                </a:solidFill>
              </a:rPr>
              <a:t>"Peter"</a:t>
            </a:r>
            <a:r>
              <a:t>, </a:t>
            </a:r>
            <a:r>
              <a:rPr>
                <a:solidFill>
                  <a:srgbClr val="F95B57"/>
                </a:solidFill>
              </a:rPr>
              <a:t>"Jamie"</a:t>
            </a:r>
            <a:r>
              <a:t>, </a:t>
            </a:r>
            <a:r>
              <a:rPr>
                <a:solidFill>
                  <a:srgbClr val="F95B57"/>
                </a:solidFill>
              </a:rPr>
              <a:t>"Tricia"</a:t>
            </a:r>
            <a:r>
              <a:t>]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6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62" name="Rectangle"/>
          <p:cNvSpPr/>
          <p:nvPr/>
        </p:nvSpPr>
        <p:spPr>
          <a:xfrm>
            <a:off x="774217" y="10626604"/>
            <a:ext cx="22860968" cy="69006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3" name="Any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Any</a:t>
            </a:r>
          </a:p>
        </p:txBody>
      </p:sp>
      <p:sp>
        <p:nvSpPr>
          <p:cNvPr id="164" name="Homogenous collections are simpler to work with because you know the type of every instance within them.…"/>
          <p:cNvSpPr/>
          <p:nvPr>
            <p:ph type="body" idx="1"/>
          </p:nvPr>
        </p:nvSpPr>
        <p:spPr>
          <a:xfrm>
            <a:off x="1155700" y="2276773"/>
            <a:ext cx="22098000" cy="10531081"/>
          </a:xfrm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Homogenous collections are simpler to work with because you know the type of every instance within them.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But what if you want to work with nonspecific types? </a:t>
            </a: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Swift provides two special types: </a:t>
            </a:r>
            <a:r>
              <a:rPr>
                <a:solidFill>
                  <a:srgbClr val="FA975C"/>
                </a:solidFill>
              </a:rPr>
              <a:t>Any</a:t>
            </a:r>
            <a:r>
              <a:t> and </a:t>
            </a:r>
            <a:r>
              <a:rPr>
                <a:solidFill>
                  <a:srgbClr val="FA975C"/>
                </a:solidFill>
              </a:rPr>
              <a:t>AnyObject</a:t>
            </a:r>
            <a:r>
              <a:t>. </a:t>
            </a: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As the name implies, Any can represent an instance of any type: strings, doubles, functions, or whatever. </a:t>
            </a: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198437" indent="-198437" defTabSz="822960">
              <a:lnSpc>
                <a:spcPts val="5000"/>
              </a:lnSpc>
              <a:spcBef>
                <a:spcPts val="0"/>
              </a:spcBef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AnyObject can represent an instance of any class in Swift but not a structure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items: [</a:t>
            </a:r>
            <a:r>
              <a:rPr>
                <a:solidFill>
                  <a:srgbClr val="3DCCCC"/>
                </a:solidFill>
              </a:rPr>
              <a:t>Any</a:t>
            </a:r>
            <a:r>
              <a:t>] = [5, </a:t>
            </a:r>
            <a:r>
              <a:rPr>
                <a:solidFill>
                  <a:srgbClr val="F95B57"/>
                </a:solidFill>
              </a:rPr>
              <a:t>"Bill"</a:t>
            </a:r>
            <a:r>
              <a:t>, 6.7, </a:t>
            </a:r>
            <a:r>
              <a:rPr>
                <a:solidFill>
                  <a:srgbClr val="6CCE66"/>
                </a:solidFill>
              </a:rPr>
              <a:t>Dog</a:t>
            </a:r>
            <a:r>
              <a:t>()]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69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70" name="Rectangle"/>
          <p:cNvSpPr/>
          <p:nvPr/>
        </p:nvSpPr>
        <p:spPr>
          <a:xfrm>
            <a:off x="761516" y="3878598"/>
            <a:ext cx="22860968" cy="679897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1" name="Any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Any</a:t>
            </a:r>
          </a:p>
        </p:txBody>
      </p:sp>
      <p:sp>
        <p:nvSpPr>
          <p:cNvPr id="172" name="var items: [Any] = [5, &quot;Bill&quot;, 6.7, Dog()]…"/>
          <p:cNvSpPr/>
          <p:nvPr>
            <p:ph type="body" idx="1"/>
          </p:nvPr>
        </p:nvSpPr>
        <p:spPr>
          <a:xfrm>
            <a:off x="1155700" y="3807548"/>
            <a:ext cx="22098000" cy="9118601"/>
          </a:xfrm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items: [</a:t>
            </a:r>
            <a:r>
              <a:rPr>
                <a:solidFill>
                  <a:srgbClr val="3DCCCC"/>
                </a:solidFill>
              </a:rPr>
              <a:t>Any</a:t>
            </a:r>
            <a:r>
              <a:t>] = [5, </a:t>
            </a:r>
            <a:r>
              <a:rPr>
                <a:solidFill>
                  <a:srgbClr val="F95B57"/>
                </a:solidFill>
              </a:rPr>
              <a:t>"Bill"</a:t>
            </a:r>
            <a:r>
              <a:t>, 6.7, Dog()]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firstItem = </a:t>
            </a:r>
            <a:r>
              <a:rPr>
                <a:solidFill>
                  <a:srgbClr val="6CCE66"/>
                </a:solidFill>
              </a:rPr>
              <a:t>items</a:t>
            </a:r>
            <a:r>
              <a:t>[0]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6CCE66"/>
                </a:solidFill>
              </a:rPr>
              <a:t>firstItem</a:t>
            </a:r>
            <a:r>
              <a:t> </a:t>
            </a:r>
            <a:r>
              <a:rPr>
                <a:solidFill>
                  <a:srgbClr val="3DCCCC"/>
                </a:solidFill>
              </a:rPr>
              <a:t>is</a:t>
            </a:r>
            <a:r>
              <a:t>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first element is an integer"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firstItem is String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"The first element is a string"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"The first element is neither an integer nor a string"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77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78" name="Rectangle"/>
          <p:cNvSpPr/>
          <p:nvPr/>
        </p:nvSpPr>
        <p:spPr>
          <a:xfrm>
            <a:off x="761517" y="7876459"/>
            <a:ext cx="22860968" cy="63326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9" name="Rectangle"/>
          <p:cNvSpPr/>
          <p:nvPr/>
        </p:nvSpPr>
        <p:spPr>
          <a:xfrm>
            <a:off x="761516" y="3919522"/>
            <a:ext cx="22860968" cy="333336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Rectangle"/>
          <p:cNvSpPr/>
          <p:nvPr/>
        </p:nvSpPr>
        <p:spPr>
          <a:xfrm>
            <a:off x="7577775" y="5402977"/>
            <a:ext cx="881680" cy="510802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81" name="Any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Any</a:t>
            </a:r>
          </a:p>
        </p:txBody>
      </p:sp>
      <p:sp>
        <p:nvSpPr>
          <p:cNvPr id="182" name="var items: [Any] = [5, &quot;Bill&quot;, 6.7, Dog()]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items: [</a:t>
            </a:r>
            <a:r>
              <a:rPr>
                <a:solidFill>
                  <a:srgbClr val="3DCCCC"/>
                </a:solidFill>
              </a:rPr>
              <a:t>Any</a:t>
            </a:r>
            <a:r>
              <a:t>] = [5, </a:t>
            </a:r>
            <a:r>
              <a:rPr>
                <a:solidFill>
                  <a:srgbClr val="F95B57"/>
                </a:solidFill>
              </a:rPr>
              <a:t>"Bill"</a:t>
            </a:r>
            <a:r>
              <a:t>, 6.7, Dog()]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</a:t>
            </a:r>
            <a:r>
              <a:rPr>
                <a:solidFill>
                  <a:srgbClr val="6CCE66"/>
                </a:solidFill>
              </a:rPr>
              <a:t>firstItem</a:t>
            </a:r>
            <a:r>
              <a:t> = </a:t>
            </a:r>
            <a:r>
              <a:rPr>
                <a:solidFill>
                  <a:srgbClr val="6CCE66"/>
                </a:solidFill>
              </a:rPr>
              <a:t>items</a:t>
            </a:r>
            <a:r>
              <a:t>[0] </a:t>
            </a:r>
            <a:r>
              <a:rPr>
                <a:solidFill>
                  <a:srgbClr val="3DCCCC"/>
                </a:solidFill>
              </a:rPr>
              <a:t>as</a:t>
            </a:r>
            <a:r>
              <a:t>?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firstItem </a:t>
            </a:r>
            <a:r>
              <a:t>+ 4)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87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88" name="Casting with Switch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3"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pPr>
            <a:r>
              <a:t>Casting with Switch</a:t>
            </a:r>
          </a:p>
        </p:txBody>
      </p:sp>
      <p:sp>
        <p:nvSpPr>
          <p:cNvPr id="189" name="In Swift, type casting is done using the is and as operators. When working with a switch statement, you can use type casting to check the type of a value at runtime and perform different actions based on the actual type.…"/>
          <p:cNvSpPr/>
          <p:nvPr>
            <p:ph type="body" idx="1"/>
          </p:nvPr>
        </p:nvSpPr>
        <p:spPr>
          <a:prstGeom prst="rect">
            <a:avLst/>
          </a:prstGeom>
          <a:solidFill>
            <a:srgbClr val="292B38"/>
          </a:solidFill>
          <a:ln w="25400"/>
        </p:spPr>
        <p:txBody>
          <a:bodyPr/>
          <a:lstStyle/>
          <a:p>
            <a:pPr marL="297656" indent="-297656" defTabSz="800100">
              <a:spcBef>
                <a:spcPts val="3000"/>
              </a:spcBef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  <a:p>
            <a:pPr marL="297656" indent="-297656" defTabSz="800100">
              <a:spcBef>
                <a:spcPts val="3000"/>
              </a:spcBef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In Swift, type casting is done using the </a:t>
            </a:r>
            <a:r>
              <a:rPr sz="4000">
                <a:solidFill>
                  <a:srgbClr val="FFFB00"/>
                </a:solidFill>
                <a:latin typeface="Courier"/>
                <a:ea typeface="Courier"/>
                <a:cs typeface="Courier"/>
                <a:sym typeface="Courier"/>
              </a:rPr>
              <a:t>is</a:t>
            </a:r>
            <a:r>
              <a:t> and </a:t>
            </a:r>
            <a:r>
              <a:rPr sz="4000">
                <a:solidFill>
                  <a:srgbClr val="FFFB00"/>
                </a:solidFill>
                <a:latin typeface="Courier"/>
                <a:ea typeface="Courier"/>
                <a:cs typeface="Courier"/>
                <a:sym typeface="Courier"/>
              </a:rPr>
              <a:t>as</a:t>
            </a:r>
            <a:r>
              <a:rPr sz="400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t>operators. When working with a </a:t>
            </a:r>
            <a:r>
              <a:rPr sz="4000">
                <a:solidFill>
                  <a:srgbClr val="FFFB00"/>
                </a:solidFill>
                <a:latin typeface="Courier"/>
                <a:ea typeface="Courier"/>
                <a:cs typeface="Courier"/>
                <a:sym typeface="Courier"/>
              </a:rPr>
              <a:t>switch</a:t>
            </a:r>
            <a:r>
              <a:rPr sz="400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t>statement, you can use type casting to check the type of a value at runtime and perform different actions based on the actual type.</a:t>
            </a:r>
          </a:p>
          <a:p>
            <a:pPr marL="297656" indent="-297656" defTabSz="800100">
              <a:spcBef>
                <a:spcPts val="3000"/>
              </a:spcBef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  <a:p>
            <a:pPr marL="683846" indent="-683846" defTabSz="800100">
              <a:spcBef>
                <a:spcPts val="3000"/>
              </a:spcBef>
              <a:buSzPct val="100000"/>
              <a:buAutoNum type="arabicPeriod" startAt="1"/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4000">
                <a:solidFill>
                  <a:srgbClr val="FFFB00"/>
                </a:solidFill>
                <a:latin typeface="Courier"/>
                <a:ea typeface="Courier"/>
                <a:cs typeface="Courier"/>
                <a:sym typeface="Courier"/>
              </a:rPr>
              <a:t>is</a:t>
            </a:r>
            <a:r>
              <a:rPr b="1">
                <a:latin typeface="+mn-lt"/>
                <a:ea typeface="+mn-ea"/>
                <a:cs typeface="+mn-cs"/>
                <a:sym typeface="Helvetica Neue"/>
              </a:rPr>
              <a:t> Operator</a:t>
            </a:r>
            <a:r>
              <a:t>: Checks if a value is of a specific type.</a:t>
            </a:r>
          </a:p>
          <a:p>
            <a:pPr marL="683846" indent="-683846" defTabSz="800100">
              <a:spcBef>
                <a:spcPts val="3000"/>
              </a:spcBef>
              <a:buSzPct val="100000"/>
              <a:buAutoNum type="arabicPeriod" startAt="1"/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4000">
                <a:solidFill>
                  <a:srgbClr val="FFFB00"/>
                </a:solidFill>
                <a:latin typeface="Courier"/>
                <a:ea typeface="Courier"/>
                <a:cs typeface="Courier"/>
                <a:sym typeface="Courier"/>
              </a:rPr>
              <a:t>as?</a:t>
            </a:r>
            <a:r>
              <a:rPr b="1">
                <a:latin typeface="+mn-lt"/>
                <a:ea typeface="+mn-ea"/>
                <a:cs typeface="+mn-cs"/>
                <a:sym typeface="Helvetica Neue"/>
              </a:rPr>
              <a:t> Operator</a:t>
            </a:r>
            <a:r>
              <a:t>: Attempts to cast a value to a specific type (returns an optional).</a:t>
            </a:r>
          </a:p>
          <a:p>
            <a:pPr marL="683846" indent="-683846" defTabSz="800100">
              <a:spcBef>
                <a:spcPts val="3000"/>
              </a:spcBef>
              <a:buSzPct val="100000"/>
              <a:buAutoNum type="arabicPeriod" startAt="1"/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4000">
                <a:solidFill>
                  <a:srgbClr val="FFFB00"/>
                </a:solidFill>
                <a:latin typeface="Courier"/>
                <a:ea typeface="Courier"/>
                <a:cs typeface="Courier"/>
                <a:sym typeface="Courier"/>
              </a:rPr>
              <a:t>as! </a:t>
            </a:r>
            <a:r>
              <a:rPr b="1">
                <a:latin typeface="+mn-lt"/>
                <a:ea typeface="+mn-ea"/>
                <a:cs typeface="+mn-cs"/>
                <a:sym typeface="Helvetica Neue"/>
              </a:rPr>
              <a:t>Operator</a:t>
            </a:r>
            <a:r>
              <a:t>: Forcefully casts a value to a specific type (crashes if the cast fails).</a:t>
            </a:r>
          </a:p>
          <a:p>
            <a:pPr marL="297656" indent="-297656" defTabSz="800100">
              <a:spcBef>
                <a:spcPts val="3000"/>
              </a:spcBef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  <a:p>
            <a:pPr marL="0" indent="0" defTabSz="800100">
              <a:spcBef>
                <a:spcPts val="3000"/>
              </a:spcBef>
              <a:buSzTx/>
              <a:buNone/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92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93" name="Exampl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</a:t>
            </a:r>
          </a:p>
        </p:txBody>
      </p:sp>
      <p:sp>
        <p:nvSpPr>
          <p:cNvPr id="194" name="class Animal {}…"/>
          <p:cNvSpPr/>
          <p:nvPr>
            <p:ph type="body" sz="quarter" idx="1"/>
          </p:nvPr>
        </p:nvSpPr>
        <p:spPr>
          <a:xfrm>
            <a:off x="1115306" y="2985647"/>
            <a:ext cx="9296605" cy="531382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 Animal {}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 Dog: Animal {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func bark() {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print("Woof! Woof!")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 Cat: Animal {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func meow() {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print("Meow! Meow!")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00100">
              <a:lnSpc>
                <a:spcPct val="30000"/>
              </a:lnSpc>
              <a:spcBef>
                <a:spcPts val="2500"/>
              </a:spcBef>
              <a:buSzTx/>
              <a:buNone/>
              <a:defRPr spc="0" sz="41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</p:txBody>
      </p:sp>
      <p:sp>
        <p:nvSpPr>
          <p:cNvPr id="195" name="let animals: [Animal] = [Dog(), Cat(), Dog()]…"/>
          <p:cNvSpPr txBox="1"/>
          <p:nvPr/>
        </p:nvSpPr>
        <p:spPr>
          <a:xfrm>
            <a:off x="11780527" y="2470101"/>
            <a:ext cx="12538994" cy="634492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let animals: [Animal] = [Dog(), Cat(), Dog()]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for animal in animals {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switch animal {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case let dog as Dog: </a:t>
            </a:r>
            <a:r>
              <a:rPr>
                <a:solidFill>
                  <a:srgbClr val="FFFFFF"/>
                </a:solidFill>
              </a:rPr>
              <a:t>// Cast to Dog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dog.bark()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case let cat as Cat: </a:t>
            </a:r>
            <a:r>
              <a:rPr>
                <a:solidFill>
                  <a:srgbClr val="FFFFFF"/>
                </a:solidFill>
              </a:rPr>
              <a:t>// Cast to Cat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cat.meow()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default: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print("Unknown animal")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algn="l" defTabSz="800100">
              <a:lnSpc>
                <a:spcPct val="30000"/>
              </a:lnSpc>
              <a:spcBef>
                <a:spcPts val="2500"/>
              </a:spcBef>
              <a:defRPr sz="3600">
                <a:solidFill>
                  <a:srgbClr val="6CCE6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196" name="OUTPUT:…"/>
          <p:cNvSpPr txBox="1"/>
          <p:nvPr/>
        </p:nvSpPr>
        <p:spPr>
          <a:xfrm>
            <a:off x="18494080" y="8515892"/>
            <a:ext cx="4969131" cy="354248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>
            <a:spAutoFit/>
          </a:bodyPr>
          <a:lstStyle/>
          <a:p>
            <a:pPr algn="l">
              <a:defRPr sz="3800"/>
            </a:pPr>
            <a:r>
              <a:t>OUTPUT:</a:t>
            </a:r>
          </a:p>
          <a:p>
            <a:pPr algn="l">
              <a:defRPr sz="3800"/>
            </a:pPr>
          </a:p>
          <a:p>
            <a:pPr algn="l">
              <a:defRPr sz="3800"/>
            </a:pPr>
            <a:r>
              <a:t>Woof! Woof!</a:t>
            </a:r>
          </a:p>
          <a:p>
            <a:pPr algn="l">
              <a:defRPr sz="3800"/>
            </a:pPr>
            <a:r>
              <a:t>Meow! Meow!</a:t>
            </a:r>
          </a:p>
          <a:p>
            <a:pPr algn="l">
              <a:defRPr sz="3800"/>
            </a:pPr>
            <a:r>
              <a:t>Woof! Woof!</a:t>
            </a:r>
          </a:p>
        </p:txBody>
      </p:sp>
      <p:sp>
        <p:nvSpPr>
          <p:cNvPr id="197" name="NOTE: This is a useful way to handle multiple types in a structured way,…"/>
          <p:cNvSpPr txBox="1"/>
          <p:nvPr/>
        </p:nvSpPr>
        <p:spPr>
          <a:xfrm>
            <a:off x="391083" y="12309819"/>
            <a:ext cx="15066418" cy="134818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 algn="l" defTabSz="457200"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NOTE: This is a useful way to handle multiple types in a structured way, </a:t>
            </a:r>
          </a:p>
          <a:p>
            <a:pPr algn="l" defTabSz="457200"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avoiding the need for multiple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if let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guard let</a:t>
            </a:r>
            <a:r>
              <a:t> statements.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0" name="Lab: Type Casting and Inspection"/>
          <p:cNvSpPr/>
          <p:nvPr>
            <p:ph type="body" idx="22"/>
          </p:nvPr>
        </p:nvSpPr>
        <p:spPr>
          <a:xfrm>
            <a:off x="11557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Type Casting and Inspection</a:t>
            </a:r>
          </a:p>
        </p:txBody>
      </p:sp>
      <p:sp>
        <p:nvSpPr>
          <p:cNvPr id="201" name="Unit 3—Lesson 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2</a:t>
            </a:r>
          </a:p>
        </p:txBody>
      </p:sp>
      <p:sp>
        <p:nvSpPr>
          <p:cNvPr id="202" name="Open and complete the exercises in Lab - Type Casting.playground"/>
          <p:cNvSpPr/>
          <p:nvPr>
            <p:ph type="body" idx="1"/>
          </p:nvPr>
        </p:nvSpPr>
        <p:spPr>
          <a:xfrm>
            <a:off x="1155700" y="3930072"/>
            <a:ext cx="22098000" cy="91186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Type Casting.playground</a:t>
            </a:r>
          </a:p>
        </p:txBody>
      </p:sp>
      <p:grpSp>
        <p:nvGrpSpPr>
          <p:cNvPr id="205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203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204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