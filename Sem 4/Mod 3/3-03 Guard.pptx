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3429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685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0287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7145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057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24003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B848B367-3BCD-4CA4-9553-46CE1696828F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454D52"/>
              </a:solidFill>
              <a:prstDash val="solid"/>
              <a:miter lim="400000"/>
            </a:ln>
          </a:left>
          <a:right>
            <a:ln w="12700" cap="flat">
              <a:solidFill>
                <a:srgbClr val="454D52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454D52"/>
              </a:solidFill>
              <a:prstDash val="solid"/>
              <a:miter lim="400000"/>
            </a:ln>
          </a:insideV>
        </a:tcBdr>
        <a:fill>
          <a:solidFill>
            <a:srgbClr val="D1DADE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3BCCC"/>
              </a:solidFill>
              <a:prstDash val="solid"/>
              <a:miter lim="400000"/>
            </a:ln>
          </a:left>
          <a:right>
            <a:ln w="12700" cap="flat">
              <a:solidFill>
                <a:srgbClr val="A3BCCC"/>
              </a:solidFill>
              <a:prstDash val="solid"/>
              <a:miter lim="400000"/>
            </a:ln>
          </a:right>
          <a:top>
            <a:ln w="254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F7980"/>
              </a:solidFill>
              <a:prstDash val="solid"/>
              <a:miter lim="400000"/>
            </a:ln>
          </a:left>
          <a:right>
            <a:ln w="127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6F798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600">
        <a:latin typeface="+mn-lt"/>
        <a:ea typeface="+mn-ea"/>
        <a:cs typeface="+mn-cs"/>
        <a:sym typeface="Helvetica Neue"/>
      </a:defRPr>
    </a:lvl1pPr>
    <a:lvl2pPr indent="228600" defTabSz="457200" latinLnBrk="0">
      <a:defRPr sz="2600">
        <a:latin typeface="+mn-lt"/>
        <a:ea typeface="+mn-ea"/>
        <a:cs typeface="+mn-cs"/>
        <a:sym typeface="Helvetica Neue"/>
      </a:defRPr>
    </a:lvl2pPr>
    <a:lvl3pPr indent="457200" defTabSz="457200" latinLnBrk="0">
      <a:defRPr sz="2600">
        <a:latin typeface="+mn-lt"/>
        <a:ea typeface="+mn-ea"/>
        <a:cs typeface="+mn-cs"/>
        <a:sym typeface="Helvetica Neue"/>
      </a:defRPr>
    </a:lvl3pPr>
    <a:lvl4pPr indent="685800" defTabSz="457200" latinLnBrk="0">
      <a:defRPr sz="2600">
        <a:latin typeface="+mn-lt"/>
        <a:ea typeface="+mn-ea"/>
        <a:cs typeface="+mn-cs"/>
        <a:sym typeface="Helvetica Neue"/>
      </a:defRPr>
    </a:lvl4pPr>
    <a:lvl5pPr indent="914400" defTabSz="457200" latinLnBrk="0">
      <a:defRPr sz="2600">
        <a:latin typeface="+mn-lt"/>
        <a:ea typeface="+mn-ea"/>
        <a:cs typeface="+mn-cs"/>
        <a:sym typeface="Helvetica Neue"/>
      </a:defRPr>
    </a:lvl5pPr>
    <a:lvl6pPr indent="1143000" defTabSz="457200" latinLnBrk="0">
      <a:defRPr sz="2600">
        <a:latin typeface="+mn-lt"/>
        <a:ea typeface="+mn-ea"/>
        <a:cs typeface="+mn-cs"/>
        <a:sym typeface="Helvetica Neue"/>
      </a:defRPr>
    </a:lvl6pPr>
    <a:lvl7pPr indent="1371600" defTabSz="457200" latinLnBrk="0">
      <a:defRPr sz="2600">
        <a:latin typeface="+mn-lt"/>
        <a:ea typeface="+mn-ea"/>
        <a:cs typeface="+mn-cs"/>
        <a:sym typeface="Helvetica Neue"/>
      </a:defRPr>
    </a:lvl7pPr>
    <a:lvl8pPr indent="1600200" defTabSz="457200" latinLnBrk="0">
      <a:defRPr sz="2600">
        <a:latin typeface="+mn-lt"/>
        <a:ea typeface="+mn-ea"/>
        <a:cs typeface="+mn-cs"/>
        <a:sym typeface="Helvetica Neue"/>
      </a:defRPr>
    </a:lvl8pPr>
    <a:lvl9pPr indent="1828800" defTabSz="457200" latinLnBrk="0">
      <a:defRPr sz="26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reativecommons.org/licenses/by-nc-sa/4.0/legalcode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Recall the earlier discussion about how nested "if" statements can become difficult to parse.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Swift includes "guard" as another way to make code more readable.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Shape 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When code has many if statements, the important code is indented really far in.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Also, the "else" clauses end up far away from the "if."  It can be very hard to read.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hape 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While the flow could be cleaned up to reduce pyramiding and still using if statements, you can better convey your intent using guard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" name="Shape 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"guard" is a short circuit—usually to return.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The "all conditions ok" code ends up not indented.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hape 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Like an if/else statement, the "else" clause runs if the condition is false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This slide compares using "if" to using "guard."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Here's another example of the "good" path being indented. "guard" can also help with unwrapping optionals.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Note that the optional-bound value "eggs" is only in scope inside the if/let, but the "guard" one is available everywhere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When you use "guard let": If the guard succeeds, the "let" variable is in scope after the guard.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Just like if/let can unwrap multiple optionals, "guard" can too:</a:t>
            </a:r>
          </a:p>
          <a:p>
            <a:pPr>
              <a:defRPr sz="3000"/>
            </a:pPr>
            <a:r>
              <a:t>	guard let theTitle = title, let thePrice = price else { return }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This is a simple example: Try to imagine several things happening after the "guard" but not indented.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L569805A-en_WW App Development with Swift © 2021 Apple Inc. This work is licensed by Apple Inc. under the </a:t>
            </a:r>
            <a:r>
              <a:rPr u="sng">
                <a:hlinkClick r:id="rId3" invalidUrl="" action="" tgtFrame="" tooltip="" history="1" highlightClick="0" endSnd="0"/>
              </a:rPr>
              <a:t>Creative Commons Attribution-NonCommercial-ShareAlike 4.0 International</a:t>
            </a:r>
            <a:r>
              <a:t> license (</a:t>
            </a:r>
            <a:r>
              <a:rPr u="sng">
                <a:hlinkClick r:id="rId3" invalidUrl="" action="" tgtFrame="" tooltip="" history="1" highlightClick="0" endSnd="0"/>
              </a:rPr>
              <a:t>https://creativecommons.org/licenses/by-nc-sa/4.0/legalcode</a:t>
            </a:r>
            <a:r>
              <a:t>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-nc-sa/4.0/legalcode" TargetMode="Externa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" name="Text"/>
          <p:cNvSpPr/>
          <p:nvPr>
            <p:ph type="body" sz="quarter" idx="22"/>
          </p:nvPr>
        </p:nvSpPr>
        <p:spPr>
          <a:xfrm>
            <a:off x="1143000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idx="1"/>
          </p:nvPr>
        </p:nvSpPr>
        <p:spPr>
          <a:xfrm>
            <a:off x="1143000" y="3911600"/>
            <a:ext cx="22098000" cy="9118600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marL="317500" indent="-317500" defTabSz="914400">
              <a:lnSpc>
                <a:spcPct val="100000"/>
              </a:lnSpc>
              <a:spcBef>
                <a:spcPts val="2800"/>
              </a:spcBef>
              <a:buSzPct val="90000"/>
              <a:buChar char="•"/>
              <a:defRPr spc="-48" sz="4800">
                <a:latin typeface="+mn-lt"/>
                <a:ea typeface="+mn-ea"/>
                <a:cs typeface="+mn-cs"/>
                <a:sym typeface="Helvetica Neue"/>
              </a:defRPr>
            </a:lvl1pPr>
            <a:lvl2pPr marL="635000" indent="-304800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2pPr>
            <a:lvl3pPr marL="947419" indent="-2997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3pPr>
            <a:lvl4pPr marL="1252219" indent="-2870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4pPr>
            <a:lvl5pPr marL="1550669" indent="-28066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s-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1" name="Text"/>
          <p:cNvSpPr/>
          <p:nvPr>
            <p:ph type="body" sz="quarter" idx="22"/>
          </p:nvPr>
        </p:nvSpPr>
        <p:spPr>
          <a:xfrm>
            <a:off x="1140172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2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ubtopi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9" name="Title Text"/>
          <p:cNvSpPr/>
          <p:nvPr>
            <p:ph type="title"/>
          </p:nvPr>
        </p:nvSpPr>
        <p:spPr>
          <a:xfrm>
            <a:off x="1143000" y="2743200"/>
            <a:ext cx="22098000" cy="8229600"/>
          </a:xfrm>
          <a:prstGeom prst="rect">
            <a:avLst/>
          </a:prstGeom>
          <a:ln w="12700"/>
        </p:spPr>
        <p:txBody>
          <a:bodyPr lIns="50800" tIns="50800" rIns="50800" bIns="50800" anchor="ctr"/>
          <a:lstStyle>
            <a:lvl1pPr defTabSz="914400">
              <a:lnSpc>
                <a:spcPts val="11200"/>
              </a:lnSpc>
              <a:spcBef>
                <a:spcPts val="0"/>
              </a:spcBef>
              <a:defRPr b="1" spc="-200" sz="10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© 2021 Apple Inc.…"/>
          <p:cNvSpPr txBox="1"/>
          <p:nvPr/>
        </p:nvSpPr>
        <p:spPr>
          <a:xfrm>
            <a:off x="6628320" y="12982076"/>
            <a:ext cx="11127360" cy="55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>
              <a:tabLst>
                <a:tab pos="1651000" algn="l"/>
              </a:tabLst>
              <a:defRPr sz="1500"/>
            </a:pPr>
            <a:r>
              <a:t>© 2021 Apple Inc. </a:t>
            </a:r>
          </a:p>
          <a:p>
            <a:pPr>
              <a:tabLst>
                <a:tab pos="1651000" algn="l"/>
              </a:tabLst>
              <a:defRPr sz="1500"/>
            </a:pPr>
            <a:r>
              <a:t>This work is licensed by Apple Inc. under the </a:t>
            </a:r>
            <a:r>
              <a:rPr>
                <a:hlinkClick r:id="rId2" invalidUrl="" action="" tgtFrame="" tooltip="" history="1" highlightClick="0" endSnd="0"/>
              </a:rPr>
              <a:t>Creative Commons Attribution-NonCommercial-ShareAlike 4.0 International</a:t>
            </a:r>
            <a:r>
              <a:t> license.</a:t>
            </a:r>
          </a:p>
        </p:txBody>
      </p:sp>
      <p:sp>
        <p:nvSpPr>
          <p:cNvPr id="58" name="Slide Number"/>
          <p:cNvSpPr/>
          <p:nvPr>
            <p:ph type="sldNum" sz="quarter" idx="2"/>
          </p:nvPr>
        </p:nvSpPr>
        <p:spPr>
          <a:xfrm>
            <a:off x="23963891" y="133350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9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524000" y="604741"/>
            <a:ext cx="21336000" cy="139142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7150" tIns="57150" rIns="57150" bIns="571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524000" y="762000"/>
            <a:ext cx="21336000" cy="14097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2776924" y="14414500"/>
            <a:ext cx="381204" cy="387070"/>
          </a:xfrm>
          <a:prstGeom prst="rect">
            <a:avLst/>
          </a:prstGeom>
          <a:ln w="25400">
            <a:miter lim="400000"/>
          </a:ln>
        </p:spPr>
        <p:txBody>
          <a:bodyPr wrap="none" lIns="57150" tIns="57150" rIns="57150" bIns="57150">
            <a:spAutoFit/>
          </a:bodyPr>
          <a:lstStyle>
            <a:lvl1pPr algn="l" defTabSz="822960">
              <a:lnSpc>
                <a:spcPct val="120000"/>
              </a:lnSpc>
              <a:spcBef>
                <a:spcPts val="1600"/>
              </a:spcBef>
              <a:defRPr sz="1800">
                <a:solidFill>
                  <a:srgbClr val="A6B0C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1pPr>
      <a:lvl2pPr marL="0" marR="0" indent="228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2pPr>
      <a:lvl3pPr marL="0" marR="0" indent="457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3pPr>
      <a:lvl4pPr marL="0" marR="0" indent="685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4pPr>
      <a:lvl5pPr marL="0" marR="0" indent="9144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5pPr>
      <a:lvl6pPr marL="0" marR="0" indent="11430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6pPr>
      <a:lvl7pPr marL="0" marR="0" indent="1371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7pPr>
      <a:lvl8pPr marL="0" marR="0" indent="1600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8pPr>
      <a:lvl9pPr marL="0" marR="0" indent="1828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9pPr>
    </p:titleStyle>
    <p:bodyStyle>
      <a:lvl1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1pPr>
      <a:lvl2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2pPr>
      <a:lvl3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3pPr>
      <a:lvl4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4pPr>
      <a:lvl5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5pPr>
      <a:lvl6pPr marL="0" marR="0" indent="11430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6pPr>
      <a:lvl7pPr marL="0" marR="0" indent="13716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7pPr>
      <a:lvl8pPr marL="0" marR="0" indent="16002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8pPr>
      <a:lvl9pPr marL="0" marR="0" indent="18288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9pPr>
    </p:bodyStyle>
    <p:otherStyle>
      <a:lvl1pPr marL="0" marR="0" indent="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68" name="Unit 3—Lesson 3: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3—Lesson 3:</a:t>
            </a:r>
          </a:p>
          <a:p>
            <a:pPr/>
            <a:r>
              <a:t>Guard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unc singHappyBirthday() {…"/>
          <p:cNvSpPr txBox="1"/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solidFill>
                  <a:srgbClr val="3DCCCC"/>
                </a:solidFill>
              </a:rPr>
              <a:t>func</a:t>
            </a:r>
            <a:r>
              <a:t> singHappyBirthday() {</a:t>
            </a:r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6CCE66"/>
                </a:solidFill>
              </a:rPr>
              <a:t>birthdayIsToday</a:t>
            </a:r>
            <a:r>
              <a:t> {</a:t>
            </a:r>
          </a:p>
          <a:p>
            <a:pPr/>
            <a:r>
              <a:t>  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!</a:t>
            </a:r>
            <a:r>
              <a:rPr>
                <a:solidFill>
                  <a:srgbClr val="6CCE66"/>
                </a:solidFill>
              </a:rPr>
              <a:t>invitedGuests</a:t>
            </a:r>
            <a:r>
              <a:t>.isEmpty {</a:t>
            </a:r>
          </a:p>
          <a:p>
            <a:pPr/>
            <a:r>
              <a:t>    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6CCE66"/>
                </a:solidFill>
              </a:rPr>
              <a:t>cakeCandlesLit</a:t>
            </a:r>
            <a:r>
              <a:t> {</a:t>
            </a:r>
          </a:p>
          <a:p>
            <a:pPr/>
            <a:r>
              <a:t>    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"Happy Birthday to you!"</a:t>
            </a:r>
            <a:r>
              <a:t>)</a:t>
            </a:r>
          </a:p>
          <a:p>
            <a:pPr/>
            <a:r>
              <a:t>      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/>
            <a:r>
              <a:t>    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cake candle's haven't been lit."</a:t>
            </a:r>
            <a:r>
              <a:t>)</a:t>
            </a:r>
          </a:p>
          <a:p>
            <a:pPr/>
            <a:r>
              <a:t>      }</a:t>
            </a:r>
          </a:p>
          <a:p>
            <a:pPr/>
            <a:r>
              <a:t>    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/>
            <a:r>
              <a:t>  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"It's just a family party."</a:t>
            </a:r>
            <a:r>
              <a:t>)</a:t>
            </a:r>
          </a:p>
          <a:p>
            <a:pPr/>
            <a:r>
              <a:t>    }</a:t>
            </a:r>
          </a:p>
          <a:p>
            <a:pPr/>
            <a:r>
              <a:t>  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/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"No one has a birthday today."</a:t>
            </a:r>
            <a:r>
              <a:t>)</a:t>
            </a:r>
          </a:p>
          <a:p>
            <a:pPr/>
            <a:r>
              <a:t>  }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unc singHappyBirthday() {…"/>
          <p:cNvSpPr txBox="1"/>
          <p:nvPr>
            <p:ph type="subTitle" idx="1"/>
          </p:nvPr>
        </p:nvSpPr>
        <p:spPr>
          <a:xfrm>
            <a:off x="1524000" y="604741"/>
            <a:ext cx="21265926" cy="12636332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solidFill>
                  <a:srgbClr val="3DCCCC"/>
                </a:solidFill>
              </a:rPr>
              <a:t>func</a:t>
            </a:r>
            <a:r>
              <a:t> singHappyBirthday() {</a:t>
            </a:r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!</a:t>
            </a:r>
            <a:r>
              <a:rPr>
                <a:solidFill>
                  <a:srgbClr val="6CCE66"/>
                </a:solidFill>
              </a:rPr>
              <a:t>birthdayIsToday</a:t>
            </a:r>
            <a:r>
              <a:t> {</a:t>
            </a:r>
          </a:p>
          <a:p>
            <a:pPr lvl="1"/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"No one has a birthday today.”</a:t>
            </a:r>
            <a:r>
              <a:t>)</a:t>
            </a:r>
          </a:p>
          <a:p>
            <a:pPr lvl="1"/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</a:p>
          <a:p>
            <a:pPr lvl="1"/>
            <a:r>
              <a:t>  }</a:t>
            </a:r>
          </a:p>
          <a:p>
            <a:pPr lvl="1"/>
          </a:p>
          <a:p>
            <a:pPr lvl="1"/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 sz="3000">
                <a:solidFill>
                  <a:srgbClr val="6CCE66"/>
                </a:solidFill>
              </a:rPr>
              <a:t>invitedGuests</a:t>
            </a:r>
            <a:r>
              <a:t>.isEmpty</a:t>
            </a:r>
            <a:r>
              <a:rPr>
                <a:solidFill>
                  <a:srgbClr val="3DCCCC"/>
                </a:solidFill>
              </a:rPr>
              <a:t> </a:t>
            </a:r>
            <a:r>
              <a:t>{</a:t>
            </a:r>
          </a:p>
          <a:p>
            <a:pPr lvl="1"/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"It's just a family party.”</a:t>
            </a:r>
            <a:r>
              <a:t>)</a:t>
            </a:r>
          </a:p>
          <a:p>
            <a:pPr lvl="1"/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</a:p>
          <a:p>
            <a:pPr lvl="1"/>
            <a:r>
              <a:t>  }</a:t>
            </a:r>
          </a:p>
          <a:p>
            <a:pPr lvl="1"/>
          </a:p>
          <a:p>
            <a:pPr lvl="1"/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!</a:t>
            </a:r>
            <a:r>
              <a:rPr>
                <a:solidFill>
                  <a:srgbClr val="6CCE66"/>
                </a:solidFill>
              </a:rPr>
              <a:t>cakeCandlesLit</a:t>
            </a:r>
            <a:r>
              <a:t> {</a:t>
            </a:r>
          </a:p>
          <a:p>
            <a:pPr lvl="1"/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cake candle's haven't been lit.”</a:t>
            </a:r>
            <a:r>
              <a:t>)</a:t>
            </a:r>
          </a:p>
          <a:p>
            <a:pPr lvl="1"/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</a:p>
          <a:p>
            <a:pPr lvl="1"/>
            <a:r>
              <a:t>  }</a:t>
            </a:r>
          </a:p>
          <a:p>
            <a:pPr lvl="1"/>
          </a:p>
          <a:p>
            <a:pPr lvl="1"/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"Happy Birthday to you!"</a:t>
            </a:r>
            <a:r>
              <a:t>)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unc singHappyBirthday() {…"/>
          <p:cNvSpPr txBox="1"/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solidFill>
                  <a:srgbClr val="3DCCCC"/>
                </a:solidFill>
              </a:rPr>
              <a:t>func</a:t>
            </a:r>
            <a:r>
              <a:t> singHappyBirthday() {</a:t>
            </a:r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guard</a:t>
            </a:r>
            <a:r>
              <a:t> </a:t>
            </a:r>
            <a:r>
              <a:rPr>
                <a:solidFill>
                  <a:srgbClr val="6CCE66"/>
                </a:solidFill>
              </a:rPr>
              <a:t>birthdayIsToday</a:t>
            </a:r>
            <a:r>
              <a:t>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/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"No one has a birthday today."</a:t>
            </a:r>
            <a:r>
              <a:t>)</a:t>
            </a:r>
          </a:p>
          <a:p>
            <a:pPr/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</a:p>
          <a:p>
            <a:pPr/>
            <a:r>
              <a:t>  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guard</a:t>
            </a:r>
            <a:r>
              <a:t> !</a:t>
            </a:r>
            <a:r>
              <a:rPr sz="3000">
                <a:solidFill>
                  <a:srgbClr val="6CCE66"/>
                </a:solidFill>
              </a:rPr>
              <a:t>invitedGuests</a:t>
            </a:r>
            <a:r>
              <a:t>.isEmpty {</a:t>
            </a:r>
          </a:p>
          <a:p>
            <a:pPr/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"It's just a family party."</a:t>
            </a:r>
            <a:r>
              <a:t>)</a:t>
            </a:r>
          </a:p>
          <a:p>
            <a:pPr/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</a:p>
          <a:p>
            <a:pPr/>
            <a:r>
              <a:t>  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guard</a:t>
            </a:r>
            <a:r>
              <a:t> </a:t>
            </a:r>
            <a:r>
              <a:rPr>
                <a:solidFill>
                  <a:srgbClr val="6CCE66"/>
                </a:solidFill>
              </a:rPr>
              <a:t>cakeCandlesLit</a:t>
            </a:r>
            <a:r>
              <a:t>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/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cake's candles haven't been lit."</a:t>
            </a:r>
            <a:r>
              <a:t>)</a:t>
            </a:r>
          </a:p>
          <a:p>
            <a:pPr/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</a:p>
          <a:p>
            <a:pPr/>
            <a:r>
              <a:t>  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"Happy Birthday to you!"</a:t>
            </a:r>
            <a:r>
              <a:t>)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5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6" name="Rectangle"/>
          <p:cNvSpPr/>
          <p:nvPr/>
        </p:nvSpPr>
        <p:spPr>
          <a:xfrm>
            <a:off x="761516" y="4006456"/>
            <a:ext cx="22860968" cy="341808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7" name="guard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guard</a:t>
            </a:r>
          </a:p>
        </p:txBody>
      </p:sp>
      <p:sp>
        <p:nvSpPr>
          <p:cNvPr id="88" name="guard condition els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guard</a:t>
            </a:r>
            <a:r>
              <a:t> </a:t>
            </a:r>
            <a:r>
              <a:rPr i="1"/>
              <a:t>condition</a:t>
            </a:r>
            <a:r>
              <a:t>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979BB2"/>
                </a:solidFill>
              </a:rPr>
              <a:t>//false: execute some code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979BB2"/>
                </a:solidFill>
              </a:rPr>
              <a:t>//true: execute some code</a:t>
            </a:r>
            <a:endParaRPr>
              <a:solidFill>
                <a:srgbClr val="979BB2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3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4" name="Rectangle"/>
          <p:cNvSpPr/>
          <p:nvPr/>
        </p:nvSpPr>
        <p:spPr>
          <a:xfrm>
            <a:off x="761517" y="8148109"/>
            <a:ext cx="22860966" cy="489364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5" name="Rectangle"/>
          <p:cNvSpPr/>
          <p:nvPr/>
        </p:nvSpPr>
        <p:spPr>
          <a:xfrm>
            <a:off x="761516" y="3923950"/>
            <a:ext cx="22860967" cy="389281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6" name="guard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guard</a:t>
            </a:r>
          </a:p>
        </p:txBody>
      </p:sp>
      <p:sp>
        <p:nvSpPr>
          <p:cNvPr id="97" name="func divide(_ number: Double, by divisor: Double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divide(_ number: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, by divisor: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divisor != 0.0 {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result = number / divisor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(result)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divide(_ number: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, by divisor: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guard</a:t>
            </a:r>
            <a:r>
              <a:t> divisor != 0.0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 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  <a:r>
              <a:t> 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result = number / divisor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(result)</a:t>
            </a:r>
          </a:p>
          <a:p>
            <a:pPr marL="0" indent="0" defTabSz="773582">
              <a:lnSpc>
                <a:spcPts val="4700"/>
              </a:lnSpc>
              <a:spcBef>
                <a:spcPts val="0"/>
              </a:spcBef>
              <a:buSzTx/>
              <a:buNone/>
              <a:defRPr spc="0" sz="28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2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3" name="Rectangle"/>
          <p:cNvSpPr/>
          <p:nvPr/>
        </p:nvSpPr>
        <p:spPr>
          <a:xfrm>
            <a:off x="692804" y="7200688"/>
            <a:ext cx="22929679" cy="332301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4" name="Rectangle"/>
          <p:cNvSpPr/>
          <p:nvPr/>
        </p:nvSpPr>
        <p:spPr>
          <a:xfrm>
            <a:off x="761516" y="4019596"/>
            <a:ext cx="22860968" cy="264051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5" name="guard with optional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guard with optionals</a:t>
            </a:r>
          </a:p>
        </p:txBody>
      </p:sp>
      <p:sp>
        <p:nvSpPr>
          <p:cNvPr id="106" name="if let eggs = goose.eggs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eggs = </a:t>
            </a:r>
            <a:r>
              <a:rPr>
                <a:solidFill>
                  <a:srgbClr val="3DCCCC"/>
                </a:solidFill>
              </a:rPr>
              <a:t>goose.eggs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goose laid</a:t>
            </a:r>
            <a:r>
              <a:t> \</a:t>
            </a:r>
            <a:r>
              <a:rPr>
                <a:solidFill>
                  <a:srgbClr val="F95B57"/>
                </a:solidFill>
              </a:rPr>
              <a:t>(</a:t>
            </a:r>
            <a:r>
              <a:t>eggs.</a:t>
            </a:r>
            <a:r>
              <a:rPr>
                <a:solidFill>
                  <a:srgbClr val="6CCE66"/>
                </a:solidFill>
              </a:rPr>
              <a:t>count</a:t>
            </a:r>
            <a:r>
              <a:rPr>
                <a:solidFill>
                  <a:srgbClr val="F95B57"/>
                </a:solidFill>
              </a:rPr>
              <a:t>) eggs."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979BB2"/>
                </a:solidFill>
              </a:rPr>
              <a:t>//`eggs` is not accessible here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guard</a:t>
            </a:r>
            <a:r>
              <a:t> </a:t>
            </a:r>
            <a:r>
              <a:rPr>
                <a:solidFill>
                  <a:srgbClr val="6CCE66"/>
                </a:solidFill>
              </a:rPr>
              <a:t>let</a:t>
            </a:r>
            <a:r>
              <a:t> eggs = </a:t>
            </a:r>
            <a:r>
              <a:rPr>
                <a:solidFill>
                  <a:srgbClr val="6CCE66"/>
                </a:solidFill>
              </a:rPr>
              <a:t>goose</a:t>
            </a:r>
            <a:r>
              <a:t>.</a:t>
            </a:r>
            <a:r>
              <a:rPr>
                <a:solidFill>
                  <a:srgbClr val="6CCE66"/>
                </a:solidFill>
              </a:rPr>
              <a:t>eggs</a:t>
            </a:r>
            <a:r>
              <a:t>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 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return</a:t>
            </a:r>
            <a:r>
              <a:t> 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979BB2"/>
                </a:solidFill>
              </a:rPr>
              <a:t>//`eggs` is accessible hereafter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goose laid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eggs</a:t>
            </a:r>
            <a:r>
              <a:t>.</a:t>
            </a:r>
            <a:r>
              <a:rPr>
                <a:solidFill>
                  <a:srgbClr val="6CCE66"/>
                </a:solidFill>
              </a:rPr>
              <a:t>count</a:t>
            </a:r>
            <a:r>
              <a:rPr>
                <a:solidFill>
                  <a:srgbClr val="F95B57"/>
                </a:solidFill>
              </a:rPr>
              <a:t>) eggs."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2" name="Rectangle"/>
          <p:cNvSpPr/>
          <p:nvPr/>
        </p:nvSpPr>
        <p:spPr>
          <a:xfrm>
            <a:off x="761517" y="7869359"/>
            <a:ext cx="22860966" cy="386595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3" name="Rectangle"/>
          <p:cNvSpPr/>
          <p:nvPr/>
        </p:nvSpPr>
        <p:spPr>
          <a:xfrm>
            <a:off x="761516" y="3951452"/>
            <a:ext cx="22860968" cy="342306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4" name="guard with optional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guard with optionals</a:t>
            </a:r>
          </a:p>
        </p:txBody>
      </p:sp>
      <p:sp>
        <p:nvSpPr>
          <p:cNvPr id="115" name="func processBook(title: String?, price: Double?, pages: Int?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processBook(title: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?, price: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?, pages: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?)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theTitle = title,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thePrice = price,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thePages = pages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theTitle</a:t>
            </a:r>
            <a:r>
              <a:rPr>
                <a:solidFill>
                  <a:srgbClr val="F95B57"/>
                </a:solidFill>
              </a:rPr>
              <a:t>) costs $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thePrice</a:t>
            </a:r>
            <a:r>
              <a:rPr>
                <a:solidFill>
                  <a:srgbClr val="F95B57"/>
                </a:solidFill>
              </a:rPr>
              <a:t>) and has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thePages) </a:t>
            </a:r>
            <a:r>
              <a:rPr>
                <a:solidFill>
                  <a:srgbClr val="F95B57"/>
                </a:solidFill>
              </a:rPr>
              <a:t>pages."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processBook(title: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?, price: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?, pages: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?)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guard</a:t>
            </a:r>
            <a:r>
              <a:t>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theTitle = title, let thePrice = price, let thePages = pages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 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return</a:t>
            </a:r>
            <a:r>
              <a:t> 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theTitle</a:t>
            </a:r>
            <a:r>
              <a:rPr>
                <a:solidFill>
                  <a:srgbClr val="F95B57"/>
                </a:solidFill>
              </a:rPr>
              <a:t>) costs $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thePrice</a:t>
            </a:r>
            <a:r>
              <a:rPr>
                <a:solidFill>
                  <a:srgbClr val="F95B57"/>
                </a:solidFill>
              </a:rPr>
              <a:t>) and has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thePages</a:t>
            </a:r>
            <a:r>
              <a:rPr>
                <a:solidFill>
                  <a:srgbClr val="F95B57"/>
                </a:solidFill>
              </a:rPr>
              <a:t>) pages."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0" name="Lab: Guard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Guard</a:t>
            </a:r>
          </a:p>
        </p:txBody>
      </p:sp>
      <p:sp>
        <p:nvSpPr>
          <p:cNvPr id="121" name="Unit 3—Lesson 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3—Lesson 3</a:t>
            </a:r>
          </a:p>
        </p:txBody>
      </p:sp>
      <p:sp>
        <p:nvSpPr>
          <p:cNvPr id="122" name="Open and complete the exercises in Lab - Guard.playground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exercises in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Guard.playground</a:t>
            </a:r>
          </a:p>
        </p:txBody>
      </p:sp>
      <p:grpSp>
        <p:nvGrpSpPr>
          <p:cNvPr id="125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123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124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62ACDB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