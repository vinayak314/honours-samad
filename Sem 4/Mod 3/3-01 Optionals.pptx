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1pPr>
    <a:lvl2pPr marL="0" marR="0" indent="3429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2pPr>
    <a:lvl3pPr marL="0" marR="0" indent="6858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3pPr>
    <a:lvl4pPr marL="0" marR="0" indent="10287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4pPr>
    <a:lvl5pPr marL="0" marR="0" indent="13716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5pPr>
    <a:lvl6pPr marL="0" marR="0" indent="17145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6pPr>
    <a:lvl7pPr marL="0" marR="0" indent="20574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7pPr>
    <a:lvl8pPr marL="0" marR="0" indent="24003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8pPr>
    <a:lvl9pPr marL="0" marR="0" indent="27432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8471EDDC-D951-40A0-9A10-A74458D77C44}" styleName="">
    <a:tblBg/>
    <a:wholeTbl>
      <a:tcTxStyle b="off" i="off">
        <a:fontRef idx="minor">
          <a:srgbClr val="FFFFFF"/>
        </a:fontRef>
        <a:srgbClr val="FFFFFF"/>
      </a:tcTxStyle>
      <a:tcStyle>
        <a:tcBdr>
          <a:left>
            <a:ln w="12700" cap="flat">
              <a:solidFill>
                <a:srgbClr val="454D52"/>
              </a:solidFill>
              <a:prstDash val="solid"/>
              <a:miter lim="400000"/>
            </a:ln>
          </a:left>
          <a:right>
            <a:ln w="12700" cap="flat">
              <a:solidFill>
                <a:srgbClr val="454D52"/>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454D52"/>
              </a:solidFill>
              <a:prstDash val="solid"/>
              <a:miter lim="400000"/>
            </a:ln>
          </a:insideV>
        </a:tcBdr>
        <a:fill>
          <a:solidFill>
            <a:srgbClr val="D1DADE">
              <a:alpha val="25000"/>
            </a:srgbClr>
          </a:solidFill>
        </a:fill>
      </a:tcStyle>
    </a:wholeTbl>
    <a:band2H>
      <a:tcTxStyle b="def" i="def"/>
      <a:tcStyle>
        <a:tcBdr/>
        <a:fill>
          <a:solidFill>
            <a:srgbClr val="EFF1F3"/>
          </a:solidFill>
        </a:fill>
      </a:tcStyle>
    </a:band2H>
    <a:firstCol>
      <a:tcTxStyle b="off" i="off">
        <a:fontRef idx="minor">
          <a:srgbClr val="FFFFFF"/>
        </a:fontRef>
        <a:srgbClr val="FFFFFF"/>
      </a:tcTxStyle>
      <a:tcStyle>
        <a:tcBdr>
          <a:left>
            <a:ln w="12700" cap="flat">
              <a:noFill/>
              <a:miter lim="400000"/>
            </a:ln>
          </a:left>
          <a:right>
            <a:ln w="25400" cap="flat">
              <a:solidFill>
                <a:srgbClr val="6F7980"/>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A3BCCC"/>
              </a:solidFill>
              <a:prstDash val="solid"/>
              <a:miter lim="400000"/>
            </a:ln>
          </a:insideV>
        </a:tcBdr>
        <a:fill>
          <a:noFill/>
        </a:fill>
      </a:tcStyle>
    </a:firstCol>
    <a:lastRow>
      <a:tcTxStyle b="off" i="off">
        <a:fontRef idx="minor">
          <a:srgbClr val="FFFFFF"/>
        </a:fontRef>
        <a:srgbClr val="FFFFFF"/>
      </a:tcTxStyle>
      <a:tcStyle>
        <a:tcBdr>
          <a:left>
            <a:ln w="12700" cap="flat">
              <a:solidFill>
                <a:srgbClr val="A3BCCC"/>
              </a:solidFill>
              <a:prstDash val="solid"/>
              <a:miter lim="400000"/>
            </a:ln>
          </a:left>
          <a:right>
            <a:ln w="12700" cap="flat">
              <a:solidFill>
                <a:srgbClr val="A3BCCC"/>
              </a:solidFill>
              <a:prstDash val="solid"/>
              <a:miter lim="400000"/>
            </a:ln>
          </a:right>
          <a:top>
            <a:ln w="25400" cap="flat">
              <a:solidFill>
                <a:srgbClr val="6F7980"/>
              </a:solidFill>
              <a:prstDash val="solid"/>
              <a:miter lim="400000"/>
            </a:ln>
          </a:top>
          <a:bottom>
            <a:ln w="12700" cap="flat">
              <a:noFill/>
              <a:miter lim="400000"/>
            </a:ln>
          </a:bottom>
          <a:insideH>
            <a:ln w="12700" cap="flat">
              <a:solidFill>
                <a:srgbClr val="A3BCCC"/>
              </a:solidFill>
              <a:prstDash val="solid"/>
              <a:miter lim="400000"/>
            </a:ln>
          </a:insideH>
          <a:insideV>
            <a:ln w="12700" cap="flat">
              <a:solidFill>
                <a:srgbClr val="A3BCCC"/>
              </a:solidFill>
              <a:prstDash val="solid"/>
              <a:miter lim="400000"/>
            </a:ln>
          </a:insideV>
        </a:tcBdr>
        <a:fill>
          <a:noFill/>
        </a:fill>
      </a:tcStyle>
    </a:lastRow>
    <a:firstRow>
      <a:tcTxStyle b="off" i="off">
        <a:fontRef idx="minor">
          <a:srgbClr val="FFFFFF"/>
        </a:fontRef>
        <a:srgbClr val="FFFFFF"/>
      </a:tcTxStyle>
      <a:tcStyle>
        <a:tcBdr>
          <a:left>
            <a:ln w="12700" cap="flat">
              <a:solidFill>
                <a:srgbClr val="6F7980"/>
              </a:solidFill>
              <a:prstDash val="solid"/>
              <a:miter lim="400000"/>
            </a:ln>
          </a:left>
          <a:right>
            <a:ln w="12700" cap="flat">
              <a:solidFill>
                <a:srgbClr val="6F7980"/>
              </a:solidFill>
              <a:prstDash val="solid"/>
              <a:miter lim="400000"/>
            </a:ln>
          </a:right>
          <a:top>
            <a:ln w="12700" cap="flat">
              <a:noFill/>
              <a:miter lim="400000"/>
            </a:ln>
          </a:top>
          <a:bottom>
            <a:ln w="25400" cap="flat">
              <a:solidFill>
                <a:srgbClr val="6F7980"/>
              </a:solidFill>
              <a:prstDash val="solid"/>
              <a:miter lim="400000"/>
            </a:ln>
          </a:bottom>
          <a:insideH>
            <a:ln w="12700" cap="flat">
              <a:solidFill>
                <a:srgbClr val="A3BCCC"/>
              </a:solidFill>
              <a:prstDash val="solid"/>
              <a:miter lim="400000"/>
            </a:ln>
          </a:insideH>
          <a:insideV>
            <a:ln w="12700" cap="flat">
              <a:solidFill>
                <a:srgbClr val="6F798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4" name="Shape 64"/>
          <p:cNvSpPr/>
          <p:nvPr>
            <p:ph type="sldImg"/>
          </p:nvPr>
        </p:nvSpPr>
        <p:spPr>
          <a:xfrm>
            <a:off x="1143000" y="685800"/>
            <a:ext cx="4572000" cy="3429000"/>
          </a:xfrm>
          <a:prstGeom prst="rect">
            <a:avLst/>
          </a:prstGeom>
        </p:spPr>
        <p:txBody>
          <a:bodyPr/>
          <a:lstStyle/>
          <a:p>
            <a:pPr/>
          </a:p>
        </p:txBody>
      </p:sp>
      <p:sp>
        <p:nvSpPr>
          <p:cNvPr id="65" name="Shape 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spcBef>
        <a:spcPts val="1200"/>
      </a:spcBef>
      <a:defRPr sz="3000">
        <a:latin typeface="+mn-lt"/>
        <a:ea typeface="+mn-ea"/>
        <a:cs typeface="+mn-cs"/>
        <a:sym typeface="Helvetica Neue"/>
      </a:defRPr>
    </a:lvl1pPr>
    <a:lvl2pPr indent="228600" defTabSz="457200" latinLnBrk="0">
      <a:spcBef>
        <a:spcPts val="1200"/>
      </a:spcBef>
      <a:defRPr sz="3000">
        <a:latin typeface="+mn-lt"/>
        <a:ea typeface="+mn-ea"/>
        <a:cs typeface="+mn-cs"/>
        <a:sym typeface="Helvetica Neue"/>
      </a:defRPr>
    </a:lvl2pPr>
    <a:lvl3pPr indent="457200" defTabSz="457200" latinLnBrk="0">
      <a:spcBef>
        <a:spcPts val="1200"/>
      </a:spcBef>
      <a:defRPr sz="3000">
        <a:latin typeface="+mn-lt"/>
        <a:ea typeface="+mn-ea"/>
        <a:cs typeface="+mn-cs"/>
        <a:sym typeface="Helvetica Neue"/>
      </a:defRPr>
    </a:lvl3pPr>
    <a:lvl4pPr indent="685800" defTabSz="457200" latinLnBrk="0">
      <a:spcBef>
        <a:spcPts val="1200"/>
      </a:spcBef>
      <a:defRPr sz="3000">
        <a:latin typeface="+mn-lt"/>
        <a:ea typeface="+mn-ea"/>
        <a:cs typeface="+mn-cs"/>
        <a:sym typeface="Helvetica Neue"/>
      </a:defRPr>
    </a:lvl4pPr>
    <a:lvl5pPr indent="914400" defTabSz="457200" latinLnBrk="0">
      <a:spcBef>
        <a:spcPts val="1200"/>
      </a:spcBef>
      <a:defRPr sz="3000">
        <a:latin typeface="+mn-lt"/>
        <a:ea typeface="+mn-ea"/>
        <a:cs typeface="+mn-cs"/>
        <a:sym typeface="Helvetica Neue"/>
      </a:defRPr>
    </a:lvl5pPr>
    <a:lvl6pPr indent="1143000" defTabSz="457200" latinLnBrk="0">
      <a:spcBef>
        <a:spcPts val="1200"/>
      </a:spcBef>
      <a:defRPr sz="3000">
        <a:latin typeface="+mn-lt"/>
        <a:ea typeface="+mn-ea"/>
        <a:cs typeface="+mn-cs"/>
        <a:sym typeface="Helvetica Neue"/>
      </a:defRPr>
    </a:lvl6pPr>
    <a:lvl7pPr indent="1371600" defTabSz="457200" latinLnBrk="0">
      <a:spcBef>
        <a:spcPts val="1200"/>
      </a:spcBef>
      <a:defRPr sz="3000">
        <a:latin typeface="+mn-lt"/>
        <a:ea typeface="+mn-ea"/>
        <a:cs typeface="+mn-cs"/>
        <a:sym typeface="Helvetica Neue"/>
      </a:defRPr>
    </a:lvl7pPr>
    <a:lvl8pPr indent="1600200" defTabSz="457200" latinLnBrk="0">
      <a:spcBef>
        <a:spcPts val="1200"/>
      </a:spcBef>
      <a:defRPr sz="3000">
        <a:latin typeface="+mn-lt"/>
        <a:ea typeface="+mn-ea"/>
        <a:cs typeface="+mn-cs"/>
        <a:sym typeface="Helvetica Neue"/>
      </a:defRPr>
    </a:lvl8pPr>
    <a:lvl9pPr indent="1828800" defTabSz="457200" latinLnBrk="0">
      <a:spcBef>
        <a:spcPts val="1200"/>
      </a:spcBef>
      <a:defRPr sz="30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 Id="rId3" Type="http://schemas.openxmlformats.org/officeDocument/2006/relationships/hyperlink" Target="https://creativecommons.org/licenses/by-nc-sa/4.0/legalcod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Say</a:t>
            </a:r>
          </a:p>
          <a:p>
            <a:pPr marL="228600" indent="-228600">
              <a:buSzPct val="100000"/>
              <a:buChar char="•"/>
            </a:pPr>
            <a:r>
              <a:t>Remember that safety is one of the big goals of Swift. </a:t>
            </a:r>
          </a:p>
          <a:p>
            <a:pPr marL="228600" indent="-228600">
              <a:buSzPct val="100000"/>
              <a:buChar char="•"/>
            </a:pPr>
            <a:r>
              <a:t>Bugs are commonly created when you’re referencing "not having" something.</a:t>
            </a:r>
          </a:p>
          <a:p>
            <a:pPr marL="228600" indent="-228600">
              <a:buSzPct val="100000"/>
              <a:buChar char="•"/>
            </a:pPr>
            <a:r>
              <a:t>Swift has an interesting solution.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hape 77"/>
          <p:cNvSpPr/>
          <p:nvPr>
            <p:ph type="sldImg"/>
          </p:nvPr>
        </p:nvSpPr>
        <p:spPr>
          <a:prstGeom prst="rect">
            <a:avLst/>
          </a:prstGeom>
        </p:spPr>
        <p:txBody>
          <a:bodyPr/>
          <a:lstStyle/>
          <a:p>
            <a:pPr/>
          </a:p>
        </p:txBody>
      </p:sp>
      <p:sp>
        <p:nvSpPr>
          <p:cNvPr id="78" name="Shape 78"/>
          <p:cNvSpPr/>
          <p:nvPr>
            <p:ph type="body" sz="quarter" idx="1"/>
          </p:nvPr>
        </p:nvSpPr>
        <p:spPr>
          <a:prstGeom prst="rect">
            <a:avLst/>
          </a:prstGeom>
        </p:spPr>
        <p:txBody>
          <a:bodyPr/>
          <a:lstStyle/>
          <a:p>
            <a:pPr/>
            <a:r>
              <a:t>Say</a:t>
            </a:r>
          </a:p>
          <a:p>
            <a:pPr marL="228600" indent="-228600">
              <a:buSzPct val="100000"/>
              <a:buChar char="•"/>
            </a:pPr>
            <a:r>
              <a:t>This slide shows a Book struct with name and publicationYear properties.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Shape 86"/>
          <p:cNvSpPr/>
          <p:nvPr>
            <p:ph type="sldImg"/>
          </p:nvPr>
        </p:nvSpPr>
        <p:spPr>
          <a:prstGeom prst="rect">
            <a:avLst/>
          </a:prstGeom>
        </p:spPr>
        <p:txBody>
          <a:bodyPr/>
          <a:lstStyle/>
          <a:p>
            <a:pPr/>
          </a:p>
        </p:txBody>
      </p:sp>
      <p:sp>
        <p:nvSpPr>
          <p:cNvPr id="87" name="Shape 87"/>
          <p:cNvSpPr/>
          <p:nvPr>
            <p:ph type="body" sz="quarter" idx="1"/>
          </p:nvPr>
        </p:nvSpPr>
        <p:spPr>
          <a:prstGeom prst="rect">
            <a:avLst/>
          </a:prstGeom>
        </p:spPr>
        <p:txBody>
          <a:bodyPr/>
          <a:lstStyle/>
          <a:p>
            <a:pPr/>
            <a:r>
              <a:t>Say</a:t>
            </a:r>
          </a:p>
          <a:p>
            <a:pPr marL="228600" indent="-228600">
              <a:buSzPct val="100000"/>
              <a:buChar char="•"/>
            </a:pPr>
            <a:r>
              <a:t>What if we want to represent a book that hasn't been published yet?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Say</a:t>
            </a:r>
          </a:p>
          <a:p>
            <a:pPr marL="228600" indent="-228600">
              <a:buSzPct val="100000"/>
              <a:buChar char="•"/>
            </a:pPr>
            <a:r>
              <a:t>Zero isn't accurate, because that would mean the book is over 2,000 years old.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Shape 104"/>
          <p:cNvSpPr/>
          <p:nvPr>
            <p:ph type="sldImg"/>
          </p:nvPr>
        </p:nvSpPr>
        <p:spPr>
          <a:prstGeom prst="rect">
            <a:avLst/>
          </a:prstGeom>
        </p:spPr>
        <p:txBody>
          <a:bodyPr/>
          <a:lstStyle/>
          <a:p>
            <a:pPr/>
          </a:p>
        </p:txBody>
      </p:sp>
      <p:sp>
        <p:nvSpPr>
          <p:cNvPr id="105" name="Shape 105"/>
          <p:cNvSpPr/>
          <p:nvPr>
            <p:ph type="body" sz="quarter" idx="1"/>
          </p:nvPr>
        </p:nvSpPr>
        <p:spPr>
          <a:prstGeom prst="rect">
            <a:avLst/>
          </a:prstGeom>
        </p:spPr>
        <p:txBody>
          <a:bodyPr/>
          <a:lstStyle/>
          <a:p>
            <a:pPr/>
            <a:r>
              <a:t>Say</a:t>
            </a:r>
          </a:p>
          <a:p>
            <a:pPr marL="228600" indent="-228600">
              <a:buSzPct val="100000"/>
              <a:buChar char="•"/>
            </a:pPr>
            <a:r>
              <a:t>The current year isn't accurate either, because it may be released the next year. There's no known launch date.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120"/>
          <p:cNvSpPr/>
          <p:nvPr>
            <p:ph type="sldImg"/>
          </p:nvPr>
        </p:nvSpPr>
        <p:spPr>
          <a:prstGeom prst="rect">
            <a:avLst/>
          </a:prstGeom>
        </p:spPr>
        <p:txBody>
          <a:bodyPr/>
          <a:lstStyle/>
          <a:p>
            <a:pPr/>
          </a:p>
        </p:txBody>
      </p:sp>
      <p:sp>
        <p:nvSpPr>
          <p:cNvPr id="121" name="Shape 121"/>
          <p:cNvSpPr/>
          <p:nvPr>
            <p:ph type="body" sz="quarter" idx="1"/>
          </p:nvPr>
        </p:nvSpPr>
        <p:spPr>
          <a:prstGeom prst="rect">
            <a:avLst/>
          </a:prstGeom>
        </p:spPr>
        <p:txBody>
          <a:bodyPr/>
          <a:lstStyle/>
          <a:p>
            <a:pPr/>
            <a:r>
              <a:t>Say</a:t>
            </a:r>
          </a:p>
          <a:p>
            <a:pPr marL="228600" indent="-228600">
              <a:buSzPct val="100000"/>
              <a:buChar char="•"/>
            </a:pPr>
            <a:r>
              <a:rPr i="1"/>
              <a:t>nil</a:t>
            </a:r>
            <a:r>
              <a:t> represents the absence of a value, or nothing. Because there is no publicationYear value yet, publicationYear should be nil.</a:t>
            </a:r>
          </a:p>
          <a:p>
            <a:pPr marL="228600" indent="-228600">
              <a:buSzPct val="100000"/>
              <a:buChar char="•"/>
            </a:pPr>
            <a:r>
              <a:t>That looks better, but the compiler throws an error.</a:t>
            </a:r>
          </a:p>
          <a:p>
            <a:pPr>
              <a:buClr>
                <a:srgbClr val="000000"/>
              </a:buClr>
            </a:pPr>
            <a:r>
              <a:t>Do</a:t>
            </a:r>
          </a:p>
          <a:p>
            <a:pPr marL="228600" indent="-228600">
              <a:buSzPct val="100000"/>
              <a:buChar char="•"/>
            </a:pPr>
            <a:r>
              <a:t>Click to display the error.</a:t>
            </a:r>
          </a:p>
          <a:p>
            <a:pPr/>
            <a:r>
              <a:t>Say</a:t>
            </a:r>
          </a:p>
          <a:p>
            <a:pPr marL="228600" indent="-228600">
              <a:buClr>
                <a:srgbClr val="000000"/>
              </a:buClr>
              <a:buSzPct val="100000"/>
              <a:buChar char="•"/>
            </a:pPr>
            <a:r>
              <a:t>All instance properties must be set during initialization, and you can't pass nil to the </a:t>
            </a:r>
            <a:r>
              <a:rPr>
                <a:latin typeface="Menlo Regular"/>
                <a:ea typeface="Menlo Regular"/>
                <a:cs typeface="Menlo Regular"/>
                <a:sym typeface="Menlo Regular"/>
              </a:rPr>
              <a:t>publicationYear</a:t>
            </a:r>
            <a:r>
              <a:t> parameter because it expects an Int value.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Say</a:t>
            </a:r>
          </a:p>
          <a:p>
            <a:pPr marL="228600" indent="-228600">
              <a:buSzPct val="100000"/>
              <a:buChar char="•"/>
            </a:pPr>
            <a:r>
              <a:t>This slide shows let publicationYear: Int? and shows that nil will now work.</a:t>
            </a:r>
          </a:p>
          <a:p>
            <a:pPr marL="228600" indent="-228600">
              <a:buSzPct val="100000"/>
              <a:buChar char="•"/>
            </a:pPr>
            <a:r>
              <a:t>publicationYear may have a value or may be nil, which means "no value," not zero.</a:t>
            </a:r>
          </a:p>
          <a:p>
            <a:pPr marL="228600" indent="-228600">
              <a:buSzPct val="100000"/>
              <a:buChar char="•"/>
            </a:pPr>
            <a:r>
              <a:t>Anything can be optional—string, struct, and so 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pPr/>
            <a:r>
              <a:t>Do and Say</a:t>
            </a:r>
          </a:p>
          <a:p>
            <a:pPr marL="228600" indent="-228600">
              <a:buSzPct val="100000"/>
              <a:buChar char="•"/>
            </a:pPr>
            <a:r>
              <a:t>Click to display the first line. This defines a regular Int.</a:t>
            </a:r>
          </a:p>
          <a:p>
            <a:pPr marL="228600" indent="-228600">
              <a:buSzPct val="100000"/>
              <a:buChar char="•"/>
            </a:pPr>
            <a:r>
              <a:t>Click to display the second line. This generates an error.</a:t>
            </a:r>
          </a:p>
          <a:p>
            <a:pPr marL="228600" indent="-228600">
              <a:buSzPct val="100000"/>
              <a:buChar char="•"/>
            </a:pPr>
            <a:r>
              <a:t>Click to display the error. What type is it supposed to be? Int optional, String Optional, or other?</a:t>
            </a:r>
          </a:p>
          <a:p>
            <a:pPr marL="228600" indent="-228600">
              <a:buSzPct val="100000"/>
              <a:buChar char="•"/>
            </a:pPr>
            <a:r>
              <a:t>Click to display the two ways to define an optional.</a:t>
            </a:r>
          </a:p>
          <a:p>
            <a:pPr/>
            <a:r>
              <a:t>	var serverResponseCode: Int? = 404</a:t>
            </a:r>
          </a:p>
          <a:p>
            <a:pPr marL="228600" indent="-228600">
              <a:buSzPct val="100000"/>
              <a:buChar char="•"/>
            </a:pPr>
            <a:r>
              <a:t>This means it's 404 now, but it might be no value at some point.</a:t>
            </a:r>
          </a:p>
          <a:p>
            <a:pPr/>
            <a:r>
              <a:t>	var serverResponseCode: Int? = nil</a:t>
            </a:r>
          </a:p>
          <a:p>
            <a:pPr marL="228600" indent="-228600">
              <a:buSzPct val="100000"/>
              <a:buChar char="•"/>
            </a:pPr>
            <a:r>
              <a:t>This means no value now, but it might be an Int at some point.</a:t>
            </a:r>
          </a:p>
          <a:p>
            <a:pPr marL="228600" indent="-228600">
              <a:buSzPct val="100000"/>
              <a:buChar char="•"/>
            </a:pPr>
            <a:r>
              <a:t>Note that yo</a:t>
            </a:r>
            <a:r>
              <a:t>u can do var someInt: Int? and Swift makes it nil for you.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Shape 163"/>
          <p:cNvSpPr/>
          <p:nvPr>
            <p:ph type="sldImg"/>
          </p:nvPr>
        </p:nvSpPr>
        <p:spPr>
          <a:prstGeom prst="rect">
            <a:avLst/>
          </a:prstGeom>
        </p:spPr>
        <p:txBody>
          <a:bodyPr/>
          <a:lstStyle/>
          <a:p>
            <a:pPr/>
          </a:p>
        </p:txBody>
      </p:sp>
      <p:sp>
        <p:nvSpPr>
          <p:cNvPr id="164" name="Shape 164"/>
          <p:cNvSpPr/>
          <p:nvPr>
            <p:ph type="body" sz="quarter" idx="1"/>
          </p:nvPr>
        </p:nvSpPr>
        <p:spPr>
          <a:prstGeom prst="rect">
            <a:avLst/>
          </a:prstGeom>
        </p:spPr>
        <p:txBody>
          <a:bodyPr/>
          <a:lstStyle/>
          <a:p>
            <a:pPr/>
            <a:r>
              <a:t>Say</a:t>
            </a:r>
          </a:p>
          <a:p>
            <a:pPr marL="228600" indent="-228600">
              <a:buSzPct val="100000"/>
              <a:buChar char="•"/>
            </a:pPr>
            <a:r>
              <a:t>We're going to see several ways to safely deal with optionals.</a:t>
            </a:r>
          </a:p>
          <a:p>
            <a:pPr marL="228600" indent="-228600">
              <a:buSzPct val="100000"/>
              <a:buChar char="•"/>
            </a:pPr>
            <a:r>
              <a:t>One way to test an optional is to compare it to nil.</a:t>
            </a:r>
          </a:p>
          <a:p>
            <a:pPr marL="228600" indent="-228600">
              <a:buSzPct val="100000"/>
              <a:buChar char="•"/>
            </a:pPr>
            <a:r>
              <a:t>Describe "force unwrap":</a:t>
            </a:r>
          </a:p>
          <a:p>
            <a:pPr/>
            <a:r>
              <a:t>	"?" means variable may be nil. "!" means the app may crash.</a:t>
            </a:r>
          </a:p>
          <a:p>
            <a:pPr/>
            <a:r>
              <a:t>Do</a:t>
            </a:r>
          </a:p>
          <a:p>
            <a:pPr marL="228600" indent="-228600">
              <a:buSzPct val="100000"/>
              <a:buChar char="•"/>
            </a:pPr>
            <a:r>
              <a:t>Click to display the error.</a:t>
            </a:r>
          </a:p>
          <a:p>
            <a:pPr/>
            <a:r>
              <a:t>Say</a:t>
            </a:r>
          </a:p>
          <a:p>
            <a:pPr marL="228600" indent="-228600">
              <a:buSzPct val="100000"/>
              <a:buChar char="•"/>
            </a:pPr>
            <a:r>
              <a:t>If you use force unwrap and the value is nil, your app crashes.</a:t>
            </a:r>
          </a:p>
          <a:p>
            <a:pPr marL="228600" indent="-228600">
              <a:buSzPct val="100000"/>
              <a:buChar char="•"/>
            </a:pPr>
            <a:r>
              <a:t>There are very few use cases for this—we’ll see one in iOS.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Shape 172"/>
          <p:cNvSpPr/>
          <p:nvPr>
            <p:ph type="sldImg"/>
          </p:nvPr>
        </p:nvSpPr>
        <p:spPr>
          <a:prstGeom prst="rect">
            <a:avLst/>
          </a:prstGeom>
        </p:spPr>
        <p:txBody>
          <a:bodyPr/>
          <a:lstStyle/>
          <a:p>
            <a:pPr/>
          </a:p>
        </p:txBody>
      </p:sp>
      <p:sp>
        <p:nvSpPr>
          <p:cNvPr id="173" name="Shape 173"/>
          <p:cNvSpPr/>
          <p:nvPr>
            <p:ph type="body" sz="quarter" idx="1"/>
          </p:nvPr>
        </p:nvSpPr>
        <p:spPr>
          <a:prstGeom prst="rect">
            <a:avLst/>
          </a:prstGeom>
        </p:spPr>
        <p:txBody>
          <a:bodyPr/>
          <a:lstStyle/>
          <a:p>
            <a:pPr/>
            <a:r>
              <a:t>Say</a:t>
            </a:r>
          </a:p>
          <a:p>
            <a:pPr marL="228600" indent="-228600">
              <a:buSzPct val="100000"/>
              <a:buChar char="•"/>
            </a:pPr>
            <a:r>
              <a:t>Because it's so common to need to work with optionals, Swift has some shortcuts that are simpler than an explicit comparison to nil.</a:t>
            </a:r>
          </a:p>
          <a:p>
            <a:pPr marL="228600" indent="-228600">
              <a:buSzPct val="100000"/>
              <a:buChar char="•"/>
            </a:pPr>
            <a:r>
              <a:t>The first code example shows "if let" syntax: "optional binding."</a:t>
            </a:r>
          </a:p>
          <a:p>
            <a:pPr marL="228600" indent="-228600">
              <a:buSzPct val="100000"/>
              <a:buChar char="•"/>
            </a:pPr>
            <a:r>
              <a:t>Note that "if var" also works.</a:t>
            </a:r>
          </a:p>
          <a:p>
            <a:pPr marL="228600" indent="-228600">
              <a:buSzPct val="100000"/>
              <a:buChar char="•"/>
            </a:pPr>
            <a:r>
              <a:t>The second code example shows an "if let" example using the optional "publicationYear" property on </a:t>
            </a:r>
            <a:r>
              <a:rPr>
                <a:latin typeface="Menlo Regular"/>
                <a:ea typeface="Menlo Regular"/>
                <a:cs typeface="Menlo Regular"/>
                <a:sym typeface="Menlo Regular"/>
              </a:rPr>
              <a:t>Book</a:t>
            </a:r>
            <a:r>
              <a:t> from an earlier slide.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Say</a:t>
            </a:r>
          </a:p>
          <a:p>
            <a:pPr marL="228600" indent="-228600">
              <a:buSzPct val="100000"/>
              <a:buChar char="•"/>
            </a:pPr>
            <a:r>
              <a:t>Int has an init that takes a String parameter. What should it do if the input doesn't make sense?</a:t>
            </a:r>
          </a:p>
          <a:p>
            <a:pPr marL="228600" indent="-228600">
              <a:buSzPct val="100000"/>
              <a:buChar char="•"/>
            </a:pPr>
            <a:r>
              <a:t>This is a great use of optionals—the return type is Int? ("optional int")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Say</a:t>
            </a:r>
          </a:p>
          <a:p>
            <a:pPr marL="228600" indent="-228600">
              <a:buSzPct val="100000"/>
              <a:buChar char="•"/>
            </a:pPr>
            <a:r>
              <a:t>The first code example shows how to declare a function with an optional argument.</a:t>
            </a:r>
          </a:p>
          <a:p>
            <a:pPr marL="228600" indent="-228600">
              <a:buSzPct val="100000"/>
              <a:buChar char="•"/>
            </a:pPr>
            <a:r>
              <a:t>The second code example shows how to declare a function that returns an optional.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Say</a:t>
            </a:r>
          </a:p>
          <a:p>
            <a:pPr marL="228600" indent="-228600">
              <a:buSzPct val="100000"/>
              <a:buChar char="•"/>
            </a:pPr>
            <a:r>
              <a:t>We saw that init(string) can return nil. That's called a failable initializer—one that can return nil.</a:t>
            </a:r>
          </a:p>
          <a:p>
            <a:pPr marL="228600" indent="-228600">
              <a:buSzPct val="100000"/>
              <a:buChar char="•"/>
            </a:pPr>
            <a:r>
              <a:t>Here's a "Toddler" class with an "age" property.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hape 211"/>
          <p:cNvSpPr/>
          <p:nvPr>
            <p:ph type="sldImg"/>
          </p:nvPr>
        </p:nvSpPr>
        <p:spPr>
          <a:prstGeom prst="rect">
            <a:avLst/>
          </a:prstGeom>
        </p:spPr>
        <p:txBody>
          <a:bodyPr/>
          <a:lstStyle/>
          <a:p>
            <a:pPr/>
          </a:p>
        </p:txBody>
      </p:sp>
      <p:sp>
        <p:nvSpPr>
          <p:cNvPr id="212" name="Shape 212"/>
          <p:cNvSpPr/>
          <p:nvPr>
            <p:ph type="body" sz="quarter" idx="1"/>
          </p:nvPr>
        </p:nvSpPr>
        <p:spPr>
          <a:prstGeom prst="rect">
            <a:avLst/>
          </a:prstGeom>
        </p:spPr>
        <p:txBody>
          <a:bodyPr/>
          <a:lstStyle/>
          <a:p>
            <a:pPr/>
            <a:r>
              <a:t>Say</a:t>
            </a:r>
          </a:p>
          <a:p>
            <a:pPr marL="228600" indent="-228600">
              <a:buSzPct val="100000"/>
              <a:buChar char="•"/>
            </a:pPr>
            <a:r>
              <a:t>Let's say we want </a:t>
            </a:r>
            <a:r>
              <a:rPr>
                <a:latin typeface="Menlo Regular"/>
                <a:ea typeface="Menlo Regular"/>
                <a:cs typeface="Menlo Regular"/>
                <a:sym typeface="Menlo Regular"/>
              </a:rPr>
              <a:t>Toddler</a:t>
            </a:r>
            <a:r>
              <a:t> to return nil if someone tries to make an instance that's too old or too young:</a:t>
            </a:r>
          </a:p>
          <a:p>
            <a:pPr/>
            <a:r>
              <a:t>	init?(name:String, monthsOld:Int)</a:t>
            </a:r>
          </a:p>
          <a:p>
            <a:pPr marL="228600" indent="-228600">
              <a:buSzPct val="100000"/>
              <a:buChar char="•"/>
            </a:pPr>
            <a:r>
              <a:t>Note that the syntax is a bit odd here. You return nil, b</a:t>
            </a:r>
            <a:r>
              <a:t>ut you don't ret</a:t>
            </a:r>
            <a:r>
              <a:t>urn the success instance.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219"/>
          <p:cNvSpPr/>
          <p:nvPr>
            <p:ph type="sldImg"/>
          </p:nvPr>
        </p:nvSpPr>
        <p:spPr>
          <a:prstGeom prst="rect">
            <a:avLst/>
          </a:prstGeom>
        </p:spPr>
        <p:txBody>
          <a:bodyPr/>
          <a:lstStyle/>
          <a:p>
            <a:pPr/>
          </a:p>
        </p:txBody>
      </p:sp>
      <p:sp>
        <p:nvSpPr>
          <p:cNvPr id="220" name="Shape 220"/>
          <p:cNvSpPr/>
          <p:nvPr>
            <p:ph type="body" sz="quarter" idx="1"/>
          </p:nvPr>
        </p:nvSpPr>
        <p:spPr>
          <a:prstGeom prst="rect">
            <a:avLst/>
          </a:prstGeom>
        </p:spPr>
        <p:txBody>
          <a:bodyPr/>
          <a:lstStyle/>
          <a:p>
            <a:pPr/>
            <a:r>
              <a:t>Say</a:t>
            </a:r>
          </a:p>
          <a:p>
            <a:pPr marL="228600" indent="-228600">
              <a:buSzPct val="100000"/>
              <a:buChar char="•"/>
            </a:pPr>
            <a:r>
              <a:t>Let's say we want </a:t>
            </a:r>
            <a:r>
              <a:rPr>
                <a:latin typeface="Menlo Regular"/>
                <a:ea typeface="Menlo Regular"/>
                <a:cs typeface="Menlo Regular"/>
                <a:sym typeface="Menlo Regular"/>
              </a:rPr>
              <a:t>Toddler</a:t>
            </a:r>
            <a:r>
              <a:t> to return nil if someone tries to make an instance that's too old or too young:</a:t>
            </a:r>
          </a:p>
          <a:p>
            <a:pPr/>
            <a:r>
              <a:t>	init?(name:String, monthsOld:Int)</a:t>
            </a:r>
          </a:p>
          <a:p>
            <a:pPr marL="228600" indent="-228600">
              <a:buSzPct val="100000"/>
              <a:buChar char="•"/>
            </a:pPr>
            <a:r>
              <a:t>Note that the syntax is a bit odd here. You return nil, b</a:t>
            </a:r>
            <a:r>
              <a:t>ut you don't ret</a:t>
            </a:r>
            <a:r>
              <a:t>urn the success instance.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p>
            <a:pPr/>
            <a:r>
              <a:t>Say</a:t>
            </a:r>
          </a:p>
          <a:p>
            <a:pPr marL="228600" indent="-228600">
              <a:buSzPct val="100000"/>
              <a:buChar char="•"/>
            </a:pPr>
            <a:r>
              <a:t>Let's say we want </a:t>
            </a:r>
            <a:r>
              <a:rPr>
                <a:latin typeface="Menlo Regular"/>
                <a:ea typeface="Menlo Regular"/>
                <a:cs typeface="Menlo Regular"/>
                <a:sym typeface="Menlo Regular"/>
              </a:rPr>
              <a:t>Toddler</a:t>
            </a:r>
            <a:r>
              <a:t> to return nil if someone tries to make an instance that's too old or too young:</a:t>
            </a:r>
          </a:p>
          <a:p>
            <a:pPr/>
            <a:r>
              <a:t>	init?(name:String, monthsOld:Int)</a:t>
            </a:r>
          </a:p>
          <a:p>
            <a:pPr marL="228600" indent="-228600">
              <a:buSzPct val="100000"/>
              <a:buChar char="•"/>
            </a:pPr>
            <a:r>
              <a:t>Note that the syntax is a bit odd here. You return nil, b</a:t>
            </a:r>
            <a:r>
              <a:t>ut you don't ret</a:t>
            </a:r>
            <a:r>
              <a:t>urn the success instance.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Shape 236"/>
          <p:cNvSpPr/>
          <p:nvPr>
            <p:ph type="sldImg"/>
          </p:nvPr>
        </p:nvSpPr>
        <p:spPr>
          <a:prstGeom prst="rect">
            <a:avLst/>
          </a:prstGeom>
        </p:spPr>
        <p:txBody>
          <a:bodyPr/>
          <a:lstStyle/>
          <a:p>
            <a:pPr/>
          </a:p>
        </p:txBody>
      </p:sp>
      <p:sp>
        <p:nvSpPr>
          <p:cNvPr id="237" name="Shape 237"/>
          <p:cNvSpPr/>
          <p:nvPr>
            <p:ph type="body" sz="quarter" idx="1"/>
          </p:nvPr>
        </p:nvSpPr>
        <p:spPr>
          <a:prstGeom prst="rect">
            <a:avLst/>
          </a:prstGeom>
        </p:spPr>
        <p:txBody>
          <a:bodyPr/>
          <a:lstStyle/>
          <a:p>
            <a:pPr/>
            <a:r>
              <a:t>Say</a:t>
            </a:r>
          </a:p>
          <a:p>
            <a:pPr marL="228600" indent="-228600">
              <a:buSzPct val="100000"/>
              <a:buChar char="•"/>
            </a:pPr>
            <a:r>
              <a:t>The return type will be </a:t>
            </a:r>
            <a:r>
              <a:rPr>
                <a:latin typeface="Menlo Regular"/>
                <a:ea typeface="Menlo Regular"/>
                <a:cs typeface="Menlo Regular"/>
                <a:sym typeface="Menlo Regular"/>
              </a:rPr>
              <a:t>Toddler?</a:t>
            </a:r>
            <a:r>
              <a:t> so you need to unwrap with if/let or something.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Say</a:t>
            </a:r>
          </a:p>
          <a:p>
            <a:pPr marL="228600" indent="-228600">
              <a:buSzPct val="100000"/>
              <a:buChar char="•"/>
            </a:pPr>
            <a:r>
              <a:t>The return type will be </a:t>
            </a:r>
            <a:r>
              <a:rPr>
                <a:latin typeface="Menlo Regular"/>
                <a:ea typeface="Menlo Regular"/>
                <a:cs typeface="Menlo Regular"/>
                <a:sym typeface="Menlo Regular"/>
              </a:rPr>
              <a:t>Toddler?</a:t>
            </a:r>
            <a:r>
              <a:t> so you need to unwrap with if/let or something.</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hape 251"/>
          <p:cNvSpPr/>
          <p:nvPr>
            <p:ph type="sldImg"/>
          </p:nvPr>
        </p:nvSpPr>
        <p:spPr>
          <a:prstGeom prst="rect">
            <a:avLst/>
          </a:prstGeom>
        </p:spPr>
        <p:txBody>
          <a:bodyPr/>
          <a:lstStyle/>
          <a:p>
            <a:pPr/>
          </a:p>
        </p:txBody>
      </p:sp>
      <p:sp>
        <p:nvSpPr>
          <p:cNvPr id="252" name="Shape 252"/>
          <p:cNvSpPr/>
          <p:nvPr>
            <p:ph type="body" sz="quarter" idx="1"/>
          </p:nvPr>
        </p:nvSpPr>
        <p:spPr>
          <a:prstGeom prst="rect">
            <a:avLst/>
          </a:prstGeom>
        </p:spPr>
        <p:txBody>
          <a:bodyPr/>
          <a:lstStyle/>
          <a:p>
            <a:pPr/>
            <a:r>
              <a:t>Say</a:t>
            </a:r>
          </a:p>
          <a:p>
            <a:pPr marL="228600" indent="-228600">
              <a:buSzPct val="100000"/>
              <a:buChar char="•"/>
            </a:pPr>
            <a:r>
              <a:t>The setup shows three structures (“structs”) with optional properties.</a:t>
            </a:r>
          </a:p>
          <a:p>
            <a:pPr marL="228600" indent="-228600">
              <a:buSzPct val="100000"/>
              <a:buChar char="•"/>
            </a:pPr>
            <a:r>
              <a:t>Note that a Person can have a Residence, which can have an Address (Person &gt; Residence &gt; Address).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hape 260"/>
          <p:cNvSpPr/>
          <p:nvPr>
            <p:ph type="sldImg"/>
          </p:nvPr>
        </p:nvSpPr>
        <p:spPr>
          <a:prstGeom prst="rect">
            <a:avLst/>
          </a:prstGeom>
        </p:spPr>
        <p:txBody>
          <a:bodyPr/>
          <a:lstStyle/>
          <a:p>
            <a:pPr/>
          </a:p>
        </p:txBody>
      </p:sp>
      <p:sp>
        <p:nvSpPr>
          <p:cNvPr id="261" name="Shape 261"/>
          <p:cNvSpPr/>
          <p:nvPr>
            <p:ph type="body" sz="quarter" idx="1"/>
          </p:nvPr>
        </p:nvSpPr>
        <p:spPr>
          <a:prstGeom prst="rect">
            <a:avLst/>
          </a:prstGeom>
        </p:spPr>
        <p:txBody>
          <a:bodyPr/>
          <a:lstStyle/>
          <a:p>
            <a:pPr/>
            <a:r>
              <a:t>Say</a:t>
            </a:r>
          </a:p>
          <a:p>
            <a:pPr marL="228600" indent="-228600">
              <a:buSzPct val="100000"/>
              <a:buChar char="•"/>
            </a:pPr>
            <a:r>
              <a:t>The setup shows three structures (“structs”) with optional properties.</a:t>
            </a:r>
          </a:p>
          <a:p>
            <a:pPr marL="228600" indent="-228600">
              <a:buSzPct val="100000"/>
              <a:buChar char="•"/>
            </a:pPr>
            <a:r>
              <a:t>Note that a Person can have a Residence, which can have an Address (Person &gt; Residence &gt; Address).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Say</a:t>
            </a:r>
          </a:p>
          <a:p>
            <a:pPr marL="228600" indent="-228600">
              <a:buSzPct val="100000"/>
              <a:buChar char="•"/>
            </a:pPr>
            <a:r>
              <a:t>We can do more checking with if/let but we get the "pyramid of doom."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Say</a:t>
            </a:r>
          </a:p>
          <a:p>
            <a:pPr marL="228600" indent="-228600">
              <a:buSzPct val="100000"/>
              <a:buChar char="•"/>
            </a:pPr>
            <a:r>
              <a:t>The optional chaining example: The if/let will short-circuit if it encounters nil.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317"/>
          <p:cNvSpPr/>
          <p:nvPr>
            <p:ph type="sldImg"/>
          </p:nvPr>
        </p:nvSpPr>
        <p:spPr>
          <a:prstGeom prst="rect">
            <a:avLst/>
          </a:prstGeom>
        </p:spPr>
        <p:txBody>
          <a:bodyPr/>
          <a:lstStyle/>
          <a:p>
            <a:pPr/>
          </a:p>
        </p:txBody>
      </p:sp>
      <p:sp>
        <p:nvSpPr>
          <p:cNvPr id="318" name="Shape 318"/>
          <p:cNvSpPr/>
          <p:nvPr>
            <p:ph type="body" sz="quarter" idx="1"/>
          </p:nvPr>
        </p:nvSpPr>
        <p:spPr>
          <a:prstGeom prst="rect">
            <a:avLst/>
          </a:prstGeom>
        </p:spPr>
        <p:txBody>
          <a:bodyPr/>
          <a:lstStyle/>
          <a:p>
            <a:pPr/>
            <a:r>
              <a:t>This way, if the first optional isn’t present, the second guard statement won’t be executed.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Shape 333"/>
          <p:cNvSpPr/>
          <p:nvPr>
            <p:ph type="sldImg"/>
          </p:nvPr>
        </p:nvSpPr>
        <p:spPr>
          <a:prstGeom prst="rect">
            <a:avLst/>
          </a:prstGeom>
        </p:spPr>
        <p:txBody>
          <a:bodyPr/>
          <a:lstStyle/>
          <a:p>
            <a:pPr/>
          </a:p>
        </p:txBody>
      </p:sp>
      <p:sp>
        <p:nvSpPr>
          <p:cNvPr id="334" name="Shape 334"/>
          <p:cNvSpPr/>
          <p:nvPr>
            <p:ph type="body" sz="quarter" idx="1"/>
          </p:nvPr>
        </p:nvSpPr>
        <p:spPr>
          <a:prstGeom prst="rect">
            <a:avLst/>
          </a:prstGeom>
        </p:spPr>
        <p:txBody>
          <a:bodyPr/>
          <a:lstStyle/>
          <a:p>
            <a:pPr>
              <a:spcBef>
                <a:spcPts val="0"/>
              </a:spcBef>
              <a:defRPr sz="2600"/>
            </a:pPr>
            <a:r>
              <a:t>L569805A-en_WW App Development with Swift © 2021 Apple Inc. This work is licensed by Apple Inc. under the </a:t>
            </a:r>
            <a:r>
              <a:rPr u="sng">
                <a:hlinkClick r:id="rId3" invalidUrl="" action="" tgtFrame="" tooltip="" history="1" highlightClick="0" endSnd="0"/>
              </a:rPr>
              <a:t>Creative Commons Attribution-NonCommercial-ShareAlike 4.0 International</a:t>
            </a:r>
            <a:r>
              <a:t> license (</a:t>
            </a:r>
            <a:r>
              <a:rPr u="sng">
                <a:hlinkClick r:id="rId3" invalidUrl="" action="" tgtFrame="" tooltip="" history="1" highlightClick="0" endSnd="0"/>
              </a:rPr>
              <a:t>https://creativecommons.org/licenses/by-nc-sa/4.0/legalcode</a:t>
            </a:r>
            <a:r>
              <a: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nc-sa/4.0/legalcode"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Code">
    <p:spTree>
      <p:nvGrpSpPr>
        <p:cNvPr id="1" name=""/>
        <p:cNvGrpSpPr/>
        <p:nvPr/>
      </p:nvGrpSpPr>
      <p:grpSpPr>
        <a:xfrm>
          <a:off x="0" y="0"/>
          <a:ext cx="0" cy="0"/>
          <a:chOff x="0" y="0"/>
          <a:chExt cx="0" cy="0"/>
        </a:xfrm>
      </p:grpSpPr>
      <p:sp>
        <p:nvSpPr>
          <p:cNvPr id="1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
    <p:bg>
      <p:bgPr>
        <a:solidFill>
          <a:srgbClr val="000000"/>
        </a:solidFill>
      </p:bgPr>
    </p:bg>
    <p:spTree>
      <p:nvGrpSpPr>
        <p:cNvPr id="1" name=""/>
        <p:cNvGrpSpPr/>
        <p:nvPr/>
      </p:nvGrpSpPr>
      <p:grpSpPr>
        <a:xfrm>
          <a:off x="0" y="0"/>
          <a:ext cx="0" cy="0"/>
          <a:chOff x="0" y="0"/>
          <a:chExt cx="0" cy="0"/>
        </a:xfrm>
      </p:grpSpPr>
      <p:sp>
        <p:nvSpPr>
          <p:cNvPr id="19"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 name="Text"/>
          <p:cNvSpPr/>
          <p:nvPr>
            <p:ph type="body" sz="quarter" idx="22"/>
          </p:nvPr>
        </p:nvSpPr>
        <p:spPr>
          <a:xfrm>
            <a:off x="1143000"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21"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22" name="Body Level One…"/>
          <p:cNvSpPr/>
          <p:nvPr>
            <p:ph type="body" idx="1"/>
          </p:nvPr>
        </p:nvSpPr>
        <p:spPr>
          <a:xfrm>
            <a:off x="1143000" y="3911600"/>
            <a:ext cx="22098000" cy="9118600"/>
          </a:xfrm>
          <a:prstGeom prst="rect">
            <a:avLst/>
          </a:prstGeom>
          <a:ln w="12700"/>
        </p:spPr>
        <p:txBody>
          <a:bodyPr lIns="50800" tIns="50800" rIns="50800" bIns="50800"/>
          <a:lstStyle>
            <a:lvl1pPr marL="317500" indent="-317500" defTabSz="914400">
              <a:lnSpc>
                <a:spcPct val="100000"/>
              </a:lnSpc>
              <a:spcBef>
                <a:spcPts val="2800"/>
              </a:spcBef>
              <a:buSzPct val="90000"/>
              <a:buChar char="•"/>
              <a:defRPr spc="-48" sz="4800">
                <a:latin typeface="+mn-lt"/>
                <a:ea typeface="+mn-ea"/>
                <a:cs typeface="+mn-cs"/>
                <a:sym typeface="Helvetica Neue"/>
              </a:defRPr>
            </a:lvl1pPr>
            <a:lvl2pPr marL="635000" indent="-304800" defTabSz="914400">
              <a:lnSpc>
                <a:spcPct val="100000"/>
              </a:lnSpc>
              <a:spcBef>
                <a:spcPts val="2800"/>
              </a:spcBef>
              <a:buSzPct val="80000"/>
              <a:buChar char="-"/>
              <a:defRPr spc="-48" sz="4800">
                <a:latin typeface="+mn-lt"/>
                <a:ea typeface="+mn-ea"/>
                <a:cs typeface="+mn-cs"/>
                <a:sym typeface="Helvetica Neue"/>
              </a:defRPr>
            </a:lvl2pPr>
            <a:lvl3pPr marL="947419" indent="-299719" defTabSz="914400">
              <a:lnSpc>
                <a:spcPct val="100000"/>
              </a:lnSpc>
              <a:spcBef>
                <a:spcPts val="2800"/>
              </a:spcBef>
              <a:buSzPct val="80000"/>
              <a:buChar char="-"/>
              <a:defRPr spc="-48" sz="4800">
                <a:latin typeface="+mn-lt"/>
                <a:ea typeface="+mn-ea"/>
                <a:cs typeface="+mn-cs"/>
                <a:sym typeface="Helvetica Neue"/>
              </a:defRPr>
            </a:lvl3pPr>
            <a:lvl4pPr marL="1252219" indent="-287019" defTabSz="914400">
              <a:lnSpc>
                <a:spcPct val="100000"/>
              </a:lnSpc>
              <a:spcBef>
                <a:spcPts val="2800"/>
              </a:spcBef>
              <a:buSzPct val="80000"/>
              <a:buChar char="-"/>
              <a:defRPr spc="-48" sz="4800">
                <a:latin typeface="+mn-lt"/>
                <a:ea typeface="+mn-ea"/>
                <a:cs typeface="+mn-cs"/>
                <a:sym typeface="Helvetica Neue"/>
              </a:defRPr>
            </a:lvl4pPr>
            <a:lvl5pPr marL="1550669" indent="-280669" defTabSz="914400">
              <a:lnSpc>
                <a:spcPct val="100000"/>
              </a:lnSpc>
              <a:spcBef>
                <a:spcPts val="2800"/>
              </a:spcBef>
              <a:buSzPct val="80000"/>
              <a:buChar char="-"/>
              <a:defRPr spc="-48" sz="48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s-Only">
    <p:bg>
      <p:bgPr>
        <a:solidFill>
          <a:srgbClr val="000000"/>
        </a:solidFill>
      </p:bgPr>
    </p:bg>
    <p:spTree>
      <p:nvGrpSpPr>
        <p:cNvPr id="1" name=""/>
        <p:cNvGrpSpPr/>
        <p:nvPr/>
      </p:nvGrpSpPr>
      <p:grpSpPr>
        <a:xfrm>
          <a:off x="0" y="0"/>
          <a:ext cx="0" cy="0"/>
          <a:chOff x="0" y="0"/>
          <a:chExt cx="0" cy="0"/>
        </a:xfrm>
      </p:grpSpPr>
      <p:sp>
        <p:nvSpPr>
          <p:cNvPr id="3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 name="Text"/>
          <p:cNvSpPr/>
          <p:nvPr>
            <p:ph type="body" sz="quarter" idx="22"/>
          </p:nvPr>
        </p:nvSpPr>
        <p:spPr>
          <a:xfrm>
            <a:off x="1140172"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32"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3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00000"/>
        </a:solidFill>
      </p:bgPr>
    </p:bg>
    <p:spTree>
      <p:nvGrpSpPr>
        <p:cNvPr id="1" name=""/>
        <p:cNvGrpSpPr/>
        <p:nvPr/>
      </p:nvGrpSpPr>
      <p:grpSpPr>
        <a:xfrm>
          <a:off x="0" y="0"/>
          <a:ext cx="0" cy="0"/>
          <a:chOff x="0" y="0"/>
          <a:chExt cx="0" cy="0"/>
        </a:xfrm>
      </p:grpSpPr>
      <p:sp>
        <p:nvSpPr>
          <p:cNvPr id="4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1"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ubtopic">
    <p:bg>
      <p:bgPr>
        <a:solidFill>
          <a:srgbClr val="000000"/>
        </a:solidFill>
      </p:bgPr>
    </p:bg>
    <p:spTree>
      <p:nvGrpSpPr>
        <p:cNvPr id="1" name=""/>
        <p:cNvGrpSpPr/>
        <p:nvPr/>
      </p:nvGrpSpPr>
      <p:grpSpPr>
        <a:xfrm>
          <a:off x="0" y="0"/>
          <a:ext cx="0" cy="0"/>
          <a:chOff x="0" y="0"/>
          <a:chExt cx="0" cy="0"/>
        </a:xfrm>
      </p:grpSpPr>
      <p:sp>
        <p:nvSpPr>
          <p:cNvPr id="48"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9" name="Title Text"/>
          <p:cNvSpPr/>
          <p:nvPr>
            <p:ph type="title"/>
          </p:nvPr>
        </p:nvSpPr>
        <p:spPr>
          <a:xfrm>
            <a:off x="1143000" y="2743200"/>
            <a:ext cx="22098000" cy="8229600"/>
          </a:xfrm>
          <a:prstGeom prst="rect">
            <a:avLst/>
          </a:prstGeom>
          <a:ln w="12700"/>
        </p:spPr>
        <p:txBody>
          <a:bodyPr lIns="50800" tIns="50800" rIns="50800" bIns="50800" anchor="ctr"/>
          <a:lstStyle>
            <a:lvl1pPr defTabSz="914400">
              <a:lnSpc>
                <a:spcPts val="11200"/>
              </a:lnSpc>
              <a:spcBef>
                <a:spcPts val="0"/>
              </a:spcBef>
              <a:defRPr b="1" spc="-200" sz="10000">
                <a:latin typeface="+mn-lt"/>
                <a:ea typeface="+mn-ea"/>
                <a:cs typeface="+mn-cs"/>
                <a:sym typeface="Helvetica Neue"/>
              </a:defRPr>
            </a:lvl1pPr>
          </a:lstStyle>
          <a:p>
            <a:pPr/>
            <a:r>
              <a:t>Title Text</a:t>
            </a:r>
          </a:p>
        </p:txBody>
      </p:sp>
      <p:sp>
        <p:nvSpPr>
          <p:cNvPr id="50"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losing">
    <p:bg>
      <p:bgPr>
        <a:solidFill>
          <a:srgbClr val="000000"/>
        </a:solidFill>
      </p:bgPr>
    </p:bg>
    <p:spTree>
      <p:nvGrpSpPr>
        <p:cNvPr id="1" name=""/>
        <p:cNvGrpSpPr/>
        <p:nvPr/>
      </p:nvGrpSpPr>
      <p:grpSpPr>
        <a:xfrm>
          <a:off x="0" y="0"/>
          <a:ext cx="0" cy="0"/>
          <a:chOff x="0" y="0"/>
          <a:chExt cx="0" cy="0"/>
        </a:xfrm>
      </p:grpSpPr>
      <p:sp>
        <p:nvSpPr>
          <p:cNvPr id="57" name="© 2021 Apple Inc.…"/>
          <p:cNvSpPr txBox="1"/>
          <p:nvPr/>
        </p:nvSpPr>
        <p:spPr>
          <a:xfrm>
            <a:off x="6628320" y="12982076"/>
            <a:ext cx="11127360" cy="553467"/>
          </a:xfrm>
          <a:prstGeom prst="rect">
            <a:avLst/>
          </a:prstGeom>
          <a:ln w="25400">
            <a:miter lim="400000"/>
          </a:ln>
          <a:extLst>
            <a:ext uri="{C572A759-6A51-4108-AA02-DFA0A04FC94B}">
              <ma14:wrappingTextBoxFlag xmlns:ma14="http://schemas.microsoft.com/office/mac/drawingml/2011/main" val="1"/>
            </a:ext>
          </a:extLst>
        </p:spPr>
        <p:txBody>
          <a:bodyPr wrap="none" lIns="63500" tIns="63500" rIns="63500" bIns="63500" anchor="ctr">
            <a:spAutoFit/>
          </a:bodyPr>
          <a:lstStyle/>
          <a:p>
            <a:pPr>
              <a:tabLst>
                <a:tab pos="1651000" algn="l"/>
              </a:tabLst>
              <a:defRPr sz="1500"/>
            </a:pPr>
            <a:r>
              <a:t>© 2021 Apple Inc. </a:t>
            </a:r>
          </a:p>
          <a:p>
            <a:pPr>
              <a:tabLst>
                <a:tab pos="1651000" algn="l"/>
              </a:tabLst>
              <a:defRPr sz="1500"/>
            </a:pPr>
            <a:r>
              <a:t>This work is licensed by Apple Inc. under the </a:t>
            </a:r>
            <a:r>
              <a:rPr>
                <a:hlinkClick r:id="rId2" invalidUrl="" action="" tgtFrame="" tooltip="" history="1" highlightClick="0" endSnd="0"/>
              </a:rPr>
              <a:t>Creative Commons Attribution-NonCommercial-ShareAlike 4.0 International</a:t>
            </a:r>
            <a:r>
              <a:t> license.</a:t>
            </a:r>
          </a:p>
        </p:txBody>
      </p:sp>
      <p:sp>
        <p:nvSpPr>
          <p:cNvPr id="58" name="Slide Number"/>
          <p:cNvSpPr/>
          <p:nvPr>
            <p:ph type="sldNum" sz="quarter" idx="2"/>
          </p:nvPr>
        </p:nvSpPr>
        <p:spPr>
          <a:xfrm>
            <a:off x="23963891" y="133350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292B38"/>
        </a:solidFill>
      </p:bgPr>
    </p:bg>
    <p:spTree>
      <p:nvGrpSpPr>
        <p:cNvPr id="1" name=""/>
        <p:cNvGrpSpPr/>
        <p:nvPr/>
      </p:nvGrpSpPr>
      <p:grpSpPr>
        <a:xfrm>
          <a:off x="0" y="0"/>
          <a:ext cx="0" cy="0"/>
          <a:chOff x="0" y="0"/>
          <a:chExt cx="0" cy="0"/>
        </a:xfrm>
      </p:grpSpPr>
      <p:sp>
        <p:nvSpPr>
          <p:cNvPr id="2" name="Body Level One…"/>
          <p:cNvSpPr txBox="1"/>
          <p:nvPr>
            <p:ph type="body" idx="1"/>
          </p:nvPr>
        </p:nvSpPr>
        <p:spPr>
          <a:xfrm>
            <a:off x="1524000" y="604741"/>
            <a:ext cx="21336000" cy="13914262"/>
          </a:xfrm>
          <a:prstGeom prst="rect">
            <a:avLst/>
          </a:prstGeom>
          <a:ln w="25400">
            <a:miter lim="400000"/>
          </a:ln>
          <a:extLst>
            <a:ext uri="{C572A759-6A51-4108-AA02-DFA0A04FC94B}">
              <ma14:wrappingTextBoxFlag xmlns:ma14="http://schemas.microsoft.com/office/mac/drawingml/2011/main" val="1"/>
            </a:ext>
          </a:extLst>
        </p:spPr>
        <p:txBody>
          <a:bodyPr lIns="57150" tIns="57150" rIns="57150" bIns="57150"/>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1524000" y="762000"/>
            <a:ext cx="21336000" cy="1409700"/>
          </a:xfrm>
          <a:prstGeom prst="rect">
            <a:avLst/>
          </a:prstGeom>
          <a:ln w="254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4" name="Slide Number"/>
          <p:cNvSpPr txBox="1"/>
          <p:nvPr>
            <p:ph type="sldNum" sz="quarter" idx="2"/>
          </p:nvPr>
        </p:nvSpPr>
        <p:spPr>
          <a:xfrm>
            <a:off x="22776924" y="14414500"/>
            <a:ext cx="381204" cy="387070"/>
          </a:xfrm>
          <a:prstGeom prst="rect">
            <a:avLst/>
          </a:prstGeom>
          <a:ln w="25400">
            <a:miter lim="400000"/>
          </a:ln>
        </p:spPr>
        <p:txBody>
          <a:bodyPr wrap="none" lIns="57150" tIns="57150" rIns="57150" bIns="57150">
            <a:spAutoFit/>
          </a:bodyPr>
          <a:lstStyle>
            <a:lvl1pPr algn="l" defTabSz="822960">
              <a:lnSpc>
                <a:spcPct val="120000"/>
              </a:lnSpc>
              <a:spcBef>
                <a:spcPts val="1600"/>
              </a:spcBef>
              <a:defRPr sz="1800">
                <a:solidFill>
                  <a:srgbClr val="A6B0C0"/>
                </a:solidFill>
                <a:latin typeface="Helvetica Neue Thin"/>
                <a:ea typeface="Helvetica Neue Thin"/>
                <a:cs typeface="Helvetica Neue Thin"/>
                <a:sym typeface="Helvetica Neue Thin"/>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1pPr>
      <a:lvl2pPr marL="0" marR="0" indent="228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2pPr>
      <a:lvl3pPr marL="0" marR="0" indent="457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3pPr>
      <a:lvl4pPr marL="0" marR="0" indent="685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4pPr>
      <a:lvl5pPr marL="0" marR="0" indent="9144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5pPr>
      <a:lvl6pPr marL="0" marR="0" indent="11430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6pPr>
      <a:lvl7pPr marL="0" marR="0" indent="1371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7pPr>
      <a:lvl8pPr marL="0" marR="0" indent="1600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8pPr>
      <a:lvl9pPr marL="0" marR="0" indent="1828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9pPr>
    </p:titleStyle>
    <p:bodyStyle>
      <a:lvl1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1pPr>
      <a:lvl2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2pPr>
      <a:lvl3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3pPr>
      <a:lvl4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4pPr>
      <a:lvl5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5pPr>
      <a:lvl6pPr marL="0" marR="0" indent="11430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6pPr>
      <a:lvl7pPr marL="0" marR="0" indent="13716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7pPr>
      <a:lvl8pPr marL="0" marR="0" indent="16002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8pPr>
      <a:lvl9pPr marL="0" marR="0" indent="18288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9pPr>
    </p:bodyStyle>
    <p:otherStyle>
      <a:lvl1pPr marL="0" marR="0" indent="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1pPr>
      <a:lvl2pPr marL="0" marR="0" indent="228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2pPr>
      <a:lvl3pPr marL="0" marR="0" indent="457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3pPr>
      <a:lvl4pPr marL="0" marR="0" indent="685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4pPr>
      <a:lvl5pPr marL="0" marR="0" indent="9144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5pPr>
      <a:lvl6pPr marL="0" marR="0" indent="11430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6pPr>
      <a:lvl7pPr marL="0" marR="0" indent="1371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7pPr>
      <a:lvl8pPr marL="0" marR="0" indent="1600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8pPr>
      <a:lvl9pPr marL="0" marR="0" indent="1828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68" name="Unit 3—Lesson 1:…"/>
          <p:cNvSpPr/>
          <p:nvPr>
            <p:ph type="title"/>
          </p:nvPr>
        </p:nvSpPr>
        <p:spPr>
          <a:prstGeom prst="rect">
            <a:avLst/>
          </a:prstGeom>
        </p:spPr>
        <p:txBody>
          <a:bodyPr/>
          <a:lstStyle/>
          <a:p>
            <a:pPr/>
            <a:r>
              <a:t>Unit 3—Lesson 1:</a:t>
            </a:r>
          </a:p>
          <a:p>
            <a:pPr/>
            <a:r>
              <a:t>Optionals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7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74" name="Rectangle"/>
          <p:cNvSpPr/>
          <p:nvPr/>
        </p:nvSpPr>
        <p:spPr>
          <a:xfrm>
            <a:off x="761516" y="3898900"/>
            <a:ext cx="22860968" cy="7632700"/>
          </a:xfrm>
          <a:prstGeom prst="rect">
            <a:avLst/>
          </a:prstGeom>
          <a:solidFill>
            <a:srgbClr val="292B38"/>
          </a:solidFill>
          <a:ln w="25400">
            <a:miter lim="400000"/>
          </a:ln>
        </p:spPr>
        <p:txBody>
          <a:bodyPr lIns="63500" tIns="63500" rIns="63500" bIns="63500" anchor="ctr"/>
          <a:lstStyle/>
          <a:p>
            <a:pPr/>
          </a:p>
        </p:txBody>
      </p:sp>
      <p:sp>
        <p:nvSpPr>
          <p:cNvPr id="75" name="nil"/>
          <p:cNvSpPr/>
          <p:nvPr>
            <p:ph type="title"/>
          </p:nvPr>
        </p:nvSpPr>
        <p:spPr>
          <a:prstGeom prst="rect">
            <a:avLst/>
          </a:prstGeom>
        </p:spPr>
        <p:txBody>
          <a:bodyPr/>
          <a:lstStyle/>
          <a:p>
            <a:pPr/>
            <a:r>
              <a:t>nil</a:t>
            </a:r>
          </a:p>
        </p:txBody>
      </p:sp>
      <p:sp>
        <p:nvSpPr>
          <p:cNvPr id="76" name="struct Book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struct</a:t>
            </a:r>
            <a:r>
              <a:t> Book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let</a:t>
            </a:r>
            <a:r>
              <a:t> name: </a:t>
            </a:r>
            <a:r>
              <a:rPr>
                <a:solidFill>
                  <a:srgbClr val="6CCE66"/>
                </a:solidFill>
              </a:rPr>
              <a:t>String</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let</a:t>
            </a:r>
            <a:r>
              <a:t> publicationYear: </a:t>
            </a:r>
            <a:r>
              <a:rPr>
                <a:solidFill>
                  <a:srgbClr val="6CCE66"/>
                </a:solidFill>
              </a:rPr>
              <a:t>Int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firstHarryPotter = </a:t>
            </a:r>
            <a:r>
              <a:rPr>
                <a:solidFill>
                  <a:srgbClr val="6CCE66"/>
                </a:solidFill>
              </a:rPr>
              <a:t>Book</a:t>
            </a:r>
            <a:r>
              <a:t>(name: </a:t>
            </a:r>
            <a:r>
              <a:rPr>
                <a:solidFill>
                  <a:srgbClr val="F95B57"/>
                </a:solidFill>
              </a:rPr>
              <a:t>"Harry Potter and the Sorcerer's Stone"</a:t>
            </a:r>
            <a:r>
              <a:t>, </a:t>
            </a:r>
            <a:br/>
            <a:r>
              <a:t>                            publicationYear: 1997)</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secondHarryPotter = </a:t>
            </a:r>
            <a:r>
              <a:rPr>
                <a:solidFill>
                  <a:srgbClr val="6CCE66"/>
                </a:solidFill>
              </a:rPr>
              <a:t>Book</a:t>
            </a:r>
            <a:r>
              <a:t>(name: </a:t>
            </a:r>
            <a:r>
              <a:rPr>
                <a:solidFill>
                  <a:srgbClr val="F95B57"/>
                </a:solidFill>
              </a:rPr>
              <a:t>"Harry Potter and the Chamber of Secrets"</a:t>
            </a:r>
            <a:r>
              <a:t>, </a:t>
            </a:r>
            <a:br/>
            <a:r>
              <a:t>                             publicationYear: 1998)</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books = [</a:t>
            </a:r>
            <a:r>
              <a:rPr>
                <a:solidFill>
                  <a:srgbClr val="6CCE66"/>
                </a:solidFill>
              </a:rPr>
              <a:t>firstHarryPotter</a:t>
            </a:r>
            <a:r>
              <a:t>, </a:t>
            </a:r>
            <a:r>
              <a:rPr>
                <a:solidFill>
                  <a:srgbClr val="6CCE66"/>
                </a:solidFill>
              </a:rPr>
              <a:t>secondHarryPotter</a:t>
            </a:r>
            <a:r>
              <a: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81"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82" name="Rectangle"/>
          <p:cNvSpPr/>
          <p:nvPr/>
        </p:nvSpPr>
        <p:spPr>
          <a:xfrm>
            <a:off x="761516" y="3898900"/>
            <a:ext cx="22860968" cy="1524001"/>
          </a:xfrm>
          <a:prstGeom prst="rect">
            <a:avLst/>
          </a:prstGeom>
          <a:solidFill>
            <a:srgbClr val="292B38"/>
          </a:solidFill>
          <a:ln w="25400">
            <a:miter lim="400000"/>
          </a:ln>
        </p:spPr>
        <p:txBody>
          <a:bodyPr lIns="63500" tIns="63500" rIns="63500" bIns="63500" anchor="ctr"/>
          <a:lstStyle/>
          <a:p>
            <a:pPr/>
          </a:p>
        </p:txBody>
      </p:sp>
      <p:sp>
        <p:nvSpPr>
          <p:cNvPr id="83" name="nil"/>
          <p:cNvSpPr/>
          <p:nvPr>
            <p:ph type="title"/>
          </p:nvPr>
        </p:nvSpPr>
        <p:spPr>
          <a:prstGeom prst="rect">
            <a:avLst/>
          </a:prstGeom>
        </p:spPr>
        <p:txBody>
          <a:bodyPr/>
          <a:lstStyle/>
          <a:p>
            <a:pPr/>
            <a:r>
              <a:t>nil</a:t>
            </a:r>
          </a:p>
        </p:txBody>
      </p:sp>
      <p:sp>
        <p:nvSpPr>
          <p:cNvPr id="84" name="Rectangle"/>
          <p:cNvSpPr/>
          <p:nvPr/>
        </p:nvSpPr>
        <p:spPr>
          <a:xfrm>
            <a:off x="11270653" y="4707793"/>
            <a:ext cx="747807" cy="547417"/>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85" name="let unannouncedBook = Book(name: &quot;Rebels and Lions&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unannouncedBook = </a:t>
            </a:r>
            <a:r>
              <a:rPr>
                <a:solidFill>
                  <a:srgbClr val="6CCE66"/>
                </a:solidFill>
              </a:rPr>
              <a:t>Book</a:t>
            </a:r>
            <a:r>
              <a:t>(name: </a:t>
            </a:r>
            <a:r>
              <a:rPr>
                <a:solidFill>
                  <a:srgbClr val="F95B57"/>
                </a:solidFill>
              </a:rPr>
              <a:t>"Rebels and Lions"</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publicationYear: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90"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91" name="Rectangle"/>
          <p:cNvSpPr/>
          <p:nvPr/>
        </p:nvSpPr>
        <p:spPr>
          <a:xfrm>
            <a:off x="761516" y="3898900"/>
            <a:ext cx="22860968" cy="1524001"/>
          </a:xfrm>
          <a:prstGeom prst="rect">
            <a:avLst/>
          </a:prstGeom>
          <a:solidFill>
            <a:srgbClr val="292B38"/>
          </a:solidFill>
          <a:ln w="25400">
            <a:miter lim="400000"/>
          </a:ln>
        </p:spPr>
        <p:txBody>
          <a:bodyPr lIns="63500" tIns="63500" rIns="63500" bIns="63500" anchor="ctr"/>
          <a:lstStyle/>
          <a:p>
            <a:pPr/>
          </a:p>
        </p:txBody>
      </p:sp>
      <p:sp>
        <p:nvSpPr>
          <p:cNvPr id="92" name="nil"/>
          <p:cNvSpPr/>
          <p:nvPr>
            <p:ph type="title"/>
          </p:nvPr>
        </p:nvSpPr>
        <p:spPr>
          <a:prstGeom prst="rect">
            <a:avLst/>
          </a:prstGeom>
        </p:spPr>
        <p:txBody>
          <a:bodyPr/>
          <a:lstStyle/>
          <a:p>
            <a:pPr/>
            <a:r>
              <a:t>nil</a:t>
            </a:r>
          </a:p>
        </p:txBody>
      </p:sp>
      <p:sp>
        <p:nvSpPr>
          <p:cNvPr id="93" name="Rectangle"/>
          <p:cNvSpPr/>
          <p:nvPr/>
        </p:nvSpPr>
        <p:spPr>
          <a:xfrm>
            <a:off x="11246642" y="4707793"/>
            <a:ext cx="308157" cy="547417"/>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94" name="let unannouncedBook = Book(name: &quot;Rebels and Lions&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unannouncedBook = </a:t>
            </a:r>
            <a:r>
              <a:rPr>
                <a:solidFill>
                  <a:srgbClr val="6CCE66"/>
                </a:solidFill>
              </a:rPr>
              <a:t>Book</a:t>
            </a:r>
            <a:r>
              <a:t>(name: </a:t>
            </a:r>
            <a:r>
              <a:rPr>
                <a:solidFill>
                  <a:srgbClr val="F95B57"/>
                </a:solidFill>
              </a:rPr>
              <a:t>"Rebels and Lions"</a:t>
            </a:r>
            <a:r>
              <a:t>,</a:t>
            </a:r>
            <a:endParaRPr>
              <a:solidFill>
                <a:srgbClr val="F95B57"/>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F95B57"/>
                </a:solidFill>
              </a:rPr>
              <a:t>                           </a:t>
            </a:r>
            <a:r>
              <a:t>publicationYear: 0)</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9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00" name="Rectangle"/>
          <p:cNvSpPr/>
          <p:nvPr/>
        </p:nvSpPr>
        <p:spPr>
          <a:xfrm>
            <a:off x="761516" y="3898900"/>
            <a:ext cx="22860968" cy="1524001"/>
          </a:xfrm>
          <a:prstGeom prst="rect">
            <a:avLst/>
          </a:prstGeom>
          <a:solidFill>
            <a:srgbClr val="292B38"/>
          </a:solidFill>
          <a:ln w="25400">
            <a:miter lim="400000"/>
          </a:ln>
        </p:spPr>
        <p:txBody>
          <a:bodyPr lIns="63500" tIns="63500" rIns="63500" bIns="63500" anchor="ctr"/>
          <a:lstStyle/>
          <a:p>
            <a:pPr/>
          </a:p>
        </p:txBody>
      </p:sp>
      <p:sp>
        <p:nvSpPr>
          <p:cNvPr id="101" name="Rectangle"/>
          <p:cNvSpPr/>
          <p:nvPr/>
        </p:nvSpPr>
        <p:spPr>
          <a:xfrm>
            <a:off x="11246642" y="4720493"/>
            <a:ext cx="967904" cy="547417"/>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02" name="nil"/>
          <p:cNvSpPr/>
          <p:nvPr>
            <p:ph type="title"/>
          </p:nvPr>
        </p:nvSpPr>
        <p:spPr>
          <a:prstGeom prst="rect">
            <a:avLst/>
          </a:prstGeom>
        </p:spPr>
        <p:txBody>
          <a:bodyPr/>
          <a:lstStyle/>
          <a:p>
            <a:pPr/>
            <a:r>
              <a:t>nil</a:t>
            </a:r>
          </a:p>
        </p:txBody>
      </p:sp>
      <p:sp>
        <p:nvSpPr>
          <p:cNvPr id="103" name="let unannouncedBook = Book(name: &quot;Rebels and Lions&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unannouncedBook = </a:t>
            </a:r>
            <a:r>
              <a:rPr>
                <a:solidFill>
                  <a:srgbClr val="6CCE66"/>
                </a:solidFill>
              </a:rPr>
              <a:t>Book</a:t>
            </a:r>
            <a:r>
              <a:t>(name: </a:t>
            </a:r>
            <a:r>
              <a:rPr>
                <a:solidFill>
                  <a:srgbClr val="F95B57"/>
                </a:solidFill>
              </a:rPr>
              <a:t>"Rebels and Lions"</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publicationYear: 2027)</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0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09" name="Rectangle"/>
          <p:cNvSpPr/>
          <p:nvPr/>
        </p:nvSpPr>
        <p:spPr>
          <a:xfrm>
            <a:off x="761516" y="3898900"/>
            <a:ext cx="22860968" cy="1524000"/>
          </a:xfrm>
          <a:prstGeom prst="rect">
            <a:avLst/>
          </a:prstGeom>
          <a:solidFill>
            <a:srgbClr val="292B38"/>
          </a:solidFill>
          <a:ln w="25400">
            <a:miter lim="400000"/>
          </a:ln>
        </p:spPr>
        <p:txBody>
          <a:bodyPr lIns="63500" tIns="63500" rIns="63500" bIns="63500" anchor="ctr"/>
          <a:lstStyle/>
          <a:p>
            <a:pPr/>
          </a:p>
        </p:txBody>
      </p:sp>
      <p:sp>
        <p:nvSpPr>
          <p:cNvPr id="110" name="Rectangle"/>
          <p:cNvSpPr/>
          <p:nvPr/>
        </p:nvSpPr>
        <p:spPr>
          <a:xfrm>
            <a:off x="11233942" y="4715637"/>
            <a:ext cx="797218" cy="547417"/>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11" name="nil"/>
          <p:cNvSpPr/>
          <p:nvPr>
            <p:ph type="title"/>
          </p:nvPr>
        </p:nvSpPr>
        <p:spPr>
          <a:prstGeom prst="rect">
            <a:avLst/>
          </a:prstGeom>
        </p:spPr>
        <p:txBody>
          <a:bodyPr/>
          <a:lstStyle/>
          <a:p>
            <a:pPr/>
            <a:r>
              <a:t>nil</a:t>
            </a:r>
          </a:p>
        </p:txBody>
      </p:sp>
      <p:sp>
        <p:nvSpPr>
          <p:cNvPr id="112" name="let unannouncedBook = Book(name: &quot;Rebels and Lions&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unannouncedBook = </a:t>
            </a:r>
            <a:r>
              <a:rPr>
                <a:solidFill>
                  <a:srgbClr val="6CCE66"/>
                </a:solidFill>
              </a:rPr>
              <a:t>Book</a:t>
            </a:r>
            <a:r>
              <a:t>(name: </a:t>
            </a:r>
            <a:r>
              <a:rPr>
                <a:solidFill>
                  <a:srgbClr val="F95B57"/>
                </a:solidFill>
              </a:rPr>
              <a:t>"Rebels and Lions"</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publicationYear: </a:t>
            </a:r>
            <a:r>
              <a:rPr>
                <a:solidFill>
                  <a:srgbClr val="3DCCCC"/>
                </a:solidFill>
              </a:rPr>
              <a:t>nil</a:t>
            </a:r>
            <a:r>
              <a:t>)</a:t>
            </a:r>
          </a:p>
        </p:txBody>
      </p:sp>
      <p:grpSp>
        <p:nvGrpSpPr>
          <p:cNvPr id="119" name="Group"/>
          <p:cNvGrpSpPr/>
          <p:nvPr/>
        </p:nvGrpSpPr>
        <p:grpSpPr>
          <a:xfrm>
            <a:off x="13601700" y="4616200"/>
            <a:ext cx="9628037" cy="747599"/>
            <a:chOff x="0" y="0"/>
            <a:chExt cx="9628036" cy="747597"/>
          </a:xfrm>
        </p:grpSpPr>
        <p:sp>
          <p:nvSpPr>
            <p:cNvPr id="113" name="Rectangle"/>
            <p:cNvSpPr/>
            <p:nvPr/>
          </p:nvSpPr>
          <p:spPr>
            <a:xfrm>
              <a:off x="419464" y="79952"/>
              <a:ext cx="9208573" cy="587694"/>
            </a:xfrm>
            <a:prstGeom prst="rect">
              <a:avLst/>
            </a:prstGeom>
            <a:solidFill>
              <a:srgbClr val="FFAD99"/>
            </a:solidFill>
            <a:ln w="25400" cap="flat">
              <a:noFill/>
              <a:miter lim="400000"/>
            </a:ln>
            <a:effectLst/>
          </p:spPr>
          <p:txBody>
            <a:bodyPr wrap="square" lIns="63500" tIns="63500" rIns="63500" bIns="63500" numCol="1" anchor="ctr">
              <a:noAutofit/>
            </a:bodyPr>
            <a:lstStyle/>
            <a:p>
              <a:pPr/>
            </a:p>
          </p:txBody>
        </p:sp>
        <p:sp>
          <p:nvSpPr>
            <p:cNvPr id="114" name="Shape"/>
            <p:cNvSpPr/>
            <p:nvPr/>
          </p:nvSpPr>
          <p:spPr>
            <a:xfrm>
              <a:off x="0" y="80954"/>
              <a:ext cx="459271" cy="5856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05" y="84"/>
                  </a:moveTo>
                  <a:lnTo>
                    <a:pt x="0" y="11041"/>
                  </a:lnTo>
                  <a:lnTo>
                    <a:pt x="19505" y="21590"/>
                  </a:lnTo>
                  <a:lnTo>
                    <a:pt x="21219" y="21600"/>
                  </a:lnTo>
                  <a:lnTo>
                    <a:pt x="21600" y="0"/>
                  </a:lnTo>
                  <a:lnTo>
                    <a:pt x="19505" y="84"/>
                  </a:lnTo>
                  <a:close/>
                </a:path>
              </a:pathLst>
            </a:custGeom>
            <a:solidFill>
              <a:srgbClr val="FFAD99"/>
            </a:solidFill>
            <a:ln w="12700" cap="flat">
              <a:noFill/>
              <a:miter lim="400000"/>
            </a:ln>
            <a:effectLst/>
          </p:spPr>
          <p:txBody>
            <a:bodyPr wrap="square" lIns="50800" tIns="50800" rIns="50800" bIns="50800" numCol="1" anchor="ctr">
              <a:noAutofit/>
            </a:bodyPr>
            <a:lstStyle/>
            <a:p>
              <a:pPr algn="l" defTabSz="457200">
                <a:defRPr sz="1200">
                  <a:solidFill>
                    <a:srgbClr val="000000"/>
                  </a:solidFill>
                </a:defRPr>
              </a:pPr>
            </a:p>
          </p:txBody>
        </p:sp>
        <p:sp>
          <p:nvSpPr>
            <p:cNvPr id="115" name="Nil is not compatible with expected argument type ‘Int’"/>
            <p:cNvSpPr txBox="1"/>
            <p:nvPr/>
          </p:nvSpPr>
          <p:spPr>
            <a:xfrm>
              <a:off x="1101498" y="137128"/>
              <a:ext cx="8376219" cy="473341"/>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l" defTabSz="800100">
                <a:defRPr>
                  <a:solidFill>
                    <a:srgbClr val="000000"/>
                  </a:solidFill>
                  <a:latin typeface="Helvetica Neue Medium"/>
                  <a:ea typeface="Helvetica Neue Medium"/>
                  <a:cs typeface="Helvetica Neue Medium"/>
                  <a:sym typeface="Helvetica Neue Medium"/>
                </a:defRPr>
              </a:lvl1pPr>
            </a:lstStyle>
            <a:p>
              <a:pPr/>
              <a:r>
                <a:t>Nil is not compatible with expected argument type ‘Int’</a:t>
              </a:r>
            </a:p>
          </p:txBody>
        </p:sp>
        <p:grpSp>
          <p:nvGrpSpPr>
            <p:cNvPr id="118" name="Group"/>
            <p:cNvGrpSpPr/>
            <p:nvPr/>
          </p:nvGrpSpPr>
          <p:grpSpPr>
            <a:xfrm>
              <a:off x="361227" y="0"/>
              <a:ext cx="747599" cy="747598"/>
              <a:chOff x="0" y="0"/>
              <a:chExt cx="747597" cy="747597"/>
            </a:xfrm>
          </p:grpSpPr>
          <p:sp>
            <p:nvSpPr>
              <p:cNvPr id="116" name="Polygon"/>
              <p:cNvSpPr/>
              <p:nvPr/>
            </p:nvSpPr>
            <p:spPr>
              <a:xfrm rot="20220000">
                <a:off x="88725" y="88725"/>
                <a:ext cx="570148" cy="5701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8437" y="3163"/>
                    </a:lnTo>
                    <a:lnTo>
                      <a:pt x="21600" y="10800"/>
                    </a:lnTo>
                    <a:lnTo>
                      <a:pt x="18437" y="18437"/>
                    </a:lnTo>
                    <a:lnTo>
                      <a:pt x="10800" y="21600"/>
                    </a:lnTo>
                    <a:lnTo>
                      <a:pt x="3163" y="18437"/>
                    </a:lnTo>
                    <a:lnTo>
                      <a:pt x="0" y="10800"/>
                    </a:lnTo>
                    <a:lnTo>
                      <a:pt x="3163" y="3163"/>
                    </a:lnTo>
                    <a:close/>
                  </a:path>
                </a:pathLst>
              </a:custGeom>
              <a:solidFill>
                <a:srgbClr val="FF2600"/>
              </a:solidFill>
              <a:ln w="25400" cap="flat">
                <a:noFill/>
                <a:miter lim="400000"/>
              </a:ln>
              <a:effectLst/>
            </p:spPr>
            <p:txBody>
              <a:bodyPr wrap="square" lIns="63500" tIns="63500" rIns="63500" bIns="63500" numCol="1" anchor="ctr">
                <a:noAutofit/>
              </a:bodyPr>
              <a:lstStyle/>
              <a:p>
                <a:pPr/>
              </a:p>
            </p:txBody>
          </p:sp>
          <p:sp>
            <p:nvSpPr>
              <p:cNvPr id="117" name="!"/>
              <p:cNvSpPr txBox="1"/>
              <p:nvPr/>
            </p:nvSpPr>
            <p:spPr>
              <a:xfrm>
                <a:off x="241872" y="44129"/>
                <a:ext cx="283565" cy="635663"/>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lvl1pPr defTabSz="800100">
                  <a:defRPr b="1" sz="4200"/>
                </a:lvl1pPr>
              </a:lstStyle>
              <a:p>
                <a:pPr/>
                <a:r>
                  <a:t>!</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9"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Rectangle"/>
          <p:cNvSpPr/>
          <p:nvPr/>
        </p:nvSpPr>
        <p:spPr>
          <a:xfrm>
            <a:off x="7567434" y="2101349"/>
            <a:ext cx="223242" cy="480474"/>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24" name="struct Book {…"/>
          <p:cNvSpPr txBox="1"/>
          <p:nvPr>
            <p:ph type="subTitle" idx="1"/>
          </p:nvPr>
        </p:nvSpPr>
        <p:spPr>
          <a:prstGeom prst="rect">
            <a:avLst/>
          </a:prstGeom>
        </p:spPr>
        <p:txBody>
          <a:bodyPr/>
          <a:lstStyle/>
          <a:p>
            <a:pPr>
              <a:defRPr sz="3000"/>
            </a:pPr>
            <a:r>
              <a:rPr>
                <a:solidFill>
                  <a:srgbClr val="3DCCCC"/>
                </a:solidFill>
              </a:rPr>
              <a:t>struct</a:t>
            </a:r>
            <a:r>
              <a:t> Book {</a:t>
            </a:r>
          </a:p>
          <a:p>
            <a:pPr>
              <a:defRPr sz="3000"/>
            </a:pPr>
            <a:r>
              <a:t>  </a:t>
            </a:r>
            <a:r>
              <a:rPr>
                <a:solidFill>
                  <a:srgbClr val="3DCCCC"/>
                </a:solidFill>
              </a:rPr>
              <a:t>let</a:t>
            </a:r>
            <a:r>
              <a:t> name: </a:t>
            </a:r>
            <a:r>
              <a:rPr>
                <a:solidFill>
                  <a:srgbClr val="6CCE66"/>
                </a:solidFill>
              </a:rPr>
              <a:t>String</a:t>
            </a:r>
          </a:p>
          <a:p>
            <a:pPr>
              <a:defRPr sz="3000"/>
            </a:pPr>
            <a:r>
              <a:t>  </a:t>
            </a:r>
            <a:r>
              <a:rPr>
                <a:solidFill>
                  <a:srgbClr val="3DCCCC"/>
                </a:solidFill>
              </a:rPr>
              <a:t>let</a:t>
            </a:r>
            <a:r>
              <a:t> publicationYear: </a:t>
            </a:r>
            <a:r>
              <a:rPr>
                <a:solidFill>
                  <a:srgbClr val="6CCE66"/>
                </a:solidFill>
              </a:rPr>
              <a:t>Int</a:t>
            </a:r>
            <a:r>
              <a:t>?</a:t>
            </a:r>
          </a:p>
          <a:p>
            <a:pPr>
              <a:defRPr sz="3000"/>
            </a:pPr>
            <a:r>
              <a:t>}</a:t>
            </a:r>
          </a:p>
          <a:p>
            <a:pPr>
              <a:defRPr sz="3000"/>
            </a:pPr>
          </a:p>
          <a:p>
            <a:pPr>
              <a:defRPr sz="3000"/>
            </a:pPr>
            <a:r>
              <a:rPr>
                <a:solidFill>
                  <a:srgbClr val="3DCCCC"/>
                </a:solidFill>
              </a:rPr>
              <a:t>let</a:t>
            </a:r>
            <a:r>
              <a:t> firstHarryPotter = </a:t>
            </a:r>
            <a:r>
              <a:rPr>
                <a:solidFill>
                  <a:srgbClr val="6CCE66"/>
                </a:solidFill>
              </a:rPr>
              <a:t>Book</a:t>
            </a:r>
            <a:r>
              <a:t>(name: </a:t>
            </a:r>
            <a:r>
              <a:rPr>
                <a:solidFill>
                  <a:srgbClr val="F95B57"/>
                </a:solidFill>
              </a:rPr>
              <a:t>"Harry Potter and the Sorcerer's Stone"</a:t>
            </a:r>
            <a:r>
              <a:t>, </a:t>
            </a:r>
          </a:p>
          <a:p>
            <a:pPr>
              <a:defRPr sz="3000"/>
            </a:pPr>
            <a:r>
              <a:t>                            publicationYear: 1997)</a:t>
            </a:r>
          </a:p>
          <a:p>
            <a:pPr>
              <a:defRPr sz="3000"/>
            </a:pPr>
            <a:r>
              <a:rPr>
                <a:solidFill>
                  <a:srgbClr val="3DCCCC"/>
                </a:solidFill>
              </a:rPr>
              <a:t>let</a:t>
            </a:r>
            <a:r>
              <a:t> secondHarryPotter = </a:t>
            </a:r>
            <a:r>
              <a:rPr>
                <a:solidFill>
                  <a:srgbClr val="6CCE66"/>
                </a:solidFill>
              </a:rPr>
              <a:t>Book</a:t>
            </a:r>
            <a:r>
              <a:t>(name: </a:t>
            </a:r>
            <a:r>
              <a:rPr>
                <a:solidFill>
                  <a:srgbClr val="F95B57"/>
                </a:solidFill>
              </a:rPr>
              <a:t>"Harry Potter and the Chamber of Secrets"</a:t>
            </a:r>
            <a:r>
              <a:t>, </a:t>
            </a:r>
            <a:br/>
            <a:r>
              <a:t>                             publicationYear: 1998)</a:t>
            </a:r>
          </a:p>
          <a:p>
            <a:pPr>
              <a:defRPr sz="3000"/>
            </a:pPr>
          </a:p>
          <a:p>
            <a:pPr>
              <a:defRPr sz="3000"/>
            </a:pPr>
            <a:r>
              <a:rPr>
                <a:solidFill>
                  <a:srgbClr val="3DCCCC"/>
                </a:solidFill>
              </a:rPr>
              <a:t>let</a:t>
            </a:r>
            <a:r>
              <a:t> books = [</a:t>
            </a:r>
            <a:r>
              <a:rPr>
                <a:solidFill>
                  <a:srgbClr val="6CCE66"/>
                </a:solidFill>
              </a:rPr>
              <a:t>firstHarryPotter</a:t>
            </a:r>
            <a:r>
              <a:t>, </a:t>
            </a:r>
            <a:r>
              <a:rPr>
                <a:solidFill>
                  <a:srgbClr val="6CCE66"/>
                </a:solidFill>
              </a:rPr>
              <a:t>secondHarryPotter</a:t>
            </a:r>
            <a:r>
              <a:t>]</a:t>
            </a:r>
          </a:p>
          <a:p>
            <a:pPr>
              <a:defRPr sz="3000"/>
            </a:pPr>
          </a:p>
          <a:p>
            <a:pPr>
              <a:defRPr sz="3000"/>
            </a:pPr>
            <a:r>
              <a:rPr>
                <a:solidFill>
                  <a:srgbClr val="3DCCCC"/>
                </a:solidFill>
              </a:rPr>
              <a:t>let</a:t>
            </a:r>
            <a:r>
              <a:t> unannouncedBook = </a:t>
            </a:r>
            <a:r>
              <a:rPr>
                <a:solidFill>
                  <a:srgbClr val="6CCE66"/>
                </a:solidFill>
              </a:rPr>
              <a:t>Book</a:t>
            </a:r>
            <a:r>
              <a:t>(name: </a:t>
            </a:r>
            <a:r>
              <a:rPr>
                <a:solidFill>
                  <a:srgbClr val="F95B57"/>
                </a:solidFill>
              </a:rPr>
              <a:t>"Rebels and Lions"</a:t>
            </a:r>
            <a:r>
              <a:t>, publicationYear: </a:t>
            </a:r>
            <a:r>
              <a:rPr>
                <a:solidFill>
                  <a:srgbClr val="3DCCCC"/>
                </a:solidFill>
              </a:rPr>
              <a:t>nil</a:t>
            </a:r>
            <a:r>
              <a: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2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30" name="Rectangle"/>
          <p:cNvSpPr/>
          <p:nvPr/>
        </p:nvSpPr>
        <p:spPr>
          <a:xfrm>
            <a:off x="761516" y="3898900"/>
            <a:ext cx="22860968" cy="800100"/>
          </a:xfrm>
          <a:prstGeom prst="rect">
            <a:avLst/>
          </a:prstGeom>
          <a:solidFill>
            <a:srgbClr val="292B38"/>
          </a:solidFill>
          <a:ln w="25400">
            <a:miter lim="400000"/>
          </a:ln>
        </p:spPr>
        <p:txBody>
          <a:bodyPr lIns="63500" tIns="63500" rIns="63500" bIns="63500" anchor="ctr"/>
          <a:lstStyle/>
          <a:p>
            <a:pPr/>
          </a:p>
        </p:txBody>
      </p:sp>
      <p:sp>
        <p:nvSpPr>
          <p:cNvPr id="131" name="Rectangle"/>
          <p:cNvSpPr/>
          <p:nvPr/>
        </p:nvSpPr>
        <p:spPr>
          <a:xfrm>
            <a:off x="761517" y="5316104"/>
            <a:ext cx="22860968" cy="800101"/>
          </a:xfrm>
          <a:prstGeom prst="rect">
            <a:avLst/>
          </a:prstGeom>
          <a:solidFill>
            <a:srgbClr val="292B38"/>
          </a:solidFill>
          <a:ln w="25400">
            <a:miter lim="400000"/>
          </a:ln>
        </p:spPr>
        <p:txBody>
          <a:bodyPr lIns="63500" tIns="63500" rIns="63500" bIns="63500" anchor="ctr"/>
          <a:lstStyle/>
          <a:p>
            <a:pPr/>
          </a:p>
        </p:txBody>
      </p:sp>
      <p:sp>
        <p:nvSpPr>
          <p:cNvPr id="132" name="Rectangle"/>
          <p:cNvSpPr/>
          <p:nvPr/>
        </p:nvSpPr>
        <p:spPr>
          <a:xfrm>
            <a:off x="761517" y="8165686"/>
            <a:ext cx="22860968" cy="800101"/>
          </a:xfrm>
          <a:prstGeom prst="rect">
            <a:avLst/>
          </a:prstGeom>
          <a:solidFill>
            <a:srgbClr val="292B38"/>
          </a:solidFill>
          <a:ln w="25400">
            <a:miter lim="400000"/>
          </a:ln>
        </p:spPr>
        <p:txBody>
          <a:bodyPr lIns="63500" tIns="63500" rIns="63500" bIns="63500" anchor="ctr"/>
          <a:lstStyle/>
          <a:p>
            <a:pPr/>
          </a:p>
        </p:txBody>
      </p:sp>
      <p:sp>
        <p:nvSpPr>
          <p:cNvPr id="133" name="Rectangle"/>
          <p:cNvSpPr/>
          <p:nvPr/>
        </p:nvSpPr>
        <p:spPr>
          <a:xfrm>
            <a:off x="761517" y="6746819"/>
            <a:ext cx="22860968" cy="800101"/>
          </a:xfrm>
          <a:prstGeom prst="rect">
            <a:avLst/>
          </a:prstGeom>
          <a:solidFill>
            <a:srgbClr val="292B38"/>
          </a:solidFill>
          <a:ln w="25400">
            <a:miter lim="400000"/>
          </a:ln>
        </p:spPr>
        <p:txBody>
          <a:bodyPr lIns="63500" tIns="63500" rIns="63500" bIns="63500" anchor="ctr"/>
          <a:lstStyle/>
          <a:p>
            <a:pPr/>
          </a:p>
        </p:txBody>
      </p:sp>
      <p:sp>
        <p:nvSpPr>
          <p:cNvPr id="134" name="Rectangle"/>
          <p:cNvSpPr/>
          <p:nvPr/>
        </p:nvSpPr>
        <p:spPr>
          <a:xfrm>
            <a:off x="6447782" y="6919333"/>
            <a:ext cx="1350178" cy="480473"/>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35" name="Rectangle"/>
          <p:cNvSpPr/>
          <p:nvPr/>
        </p:nvSpPr>
        <p:spPr>
          <a:xfrm>
            <a:off x="6447782" y="8338200"/>
            <a:ext cx="1350178" cy="480473"/>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36" name="Specifying the type of an optional"/>
          <p:cNvSpPr/>
          <p:nvPr>
            <p:ph type="title"/>
          </p:nvPr>
        </p:nvSpPr>
        <p:spPr>
          <a:prstGeom prst="rect">
            <a:avLst/>
          </a:prstGeom>
        </p:spPr>
        <p:txBody>
          <a:bodyPr/>
          <a:lstStyle/>
          <a:p>
            <a:pPr/>
            <a:r>
              <a:t>Specifying the type of an optional</a:t>
            </a:r>
          </a:p>
        </p:txBody>
      </p:sp>
      <p:sp>
        <p:nvSpPr>
          <p:cNvPr id="137" name="var serverResponseCode: Int? = 404  var serverResponseCode: Int? = nil"/>
          <p:cNvSpPr/>
          <p:nvPr>
            <p:ph type="body" idx="1"/>
          </p:nvPr>
        </p:nvSpPr>
        <p:spPr>
          <a:xfrm>
            <a:off x="1143000" y="4150505"/>
            <a:ext cx="22098000" cy="9118601"/>
          </a:xfrm>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500"/>
              </a:lnSpc>
              <a:spcBef>
                <a:spcPts val="0"/>
              </a:spcBef>
              <a:buSzTx/>
              <a:buNone/>
              <a:defRPr spc="0" sz="3000">
                <a:latin typeface="Menlo Regular"/>
                <a:ea typeface="Menlo Regular"/>
                <a:cs typeface="Menlo Regular"/>
                <a:sym typeface="Menlo Regular"/>
              </a:defRPr>
            </a:pPr>
            <a:r>
              <a:rPr>
                <a:solidFill>
                  <a:srgbClr val="3DCCCC"/>
                </a:solidFill>
              </a:rPr>
              <a:t>var</a:t>
            </a:r>
            <a:r>
              <a:t> serverResponseCode: </a:t>
            </a:r>
            <a:r>
              <a:rPr>
                <a:solidFill>
                  <a:srgbClr val="6CCE66"/>
                </a:solidFill>
              </a:rPr>
              <a:t>Int</a:t>
            </a:r>
            <a:r>
              <a:t>? = 404</a:t>
            </a:r>
            <a:br/>
            <a:br/>
            <a:r>
              <a:rPr>
                <a:solidFill>
                  <a:srgbClr val="3DCCCC"/>
                </a:solidFill>
              </a:rPr>
              <a:t>var</a:t>
            </a:r>
            <a:r>
              <a:t> serverResponseCode: </a:t>
            </a:r>
            <a:r>
              <a:rPr>
                <a:solidFill>
                  <a:srgbClr val="6CCE66"/>
                </a:solidFill>
              </a:rPr>
              <a:t>Int</a:t>
            </a:r>
            <a:r>
              <a:t>? = nil</a:t>
            </a:r>
          </a:p>
        </p:txBody>
      </p:sp>
      <p:grpSp>
        <p:nvGrpSpPr>
          <p:cNvPr id="144" name="Group"/>
          <p:cNvGrpSpPr/>
          <p:nvPr/>
        </p:nvGrpSpPr>
        <p:grpSpPr>
          <a:xfrm>
            <a:off x="13601700" y="5123578"/>
            <a:ext cx="9628037" cy="1161476"/>
            <a:chOff x="0" y="-218776"/>
            <a:chExt cx="9628036" cy="1161474"/>
          </a:xfrm>
        </p:grpSpPr>
        <p:sp>
          <p:nvSpPr>
            <p:cNvPr id="138" name="Rectangle"/>
            <p:cNvSpPr/>
            <p:nvPr/>
          </p:nvSpPr>
          <p:spPr>
            <a:xfrm>
              <a:off x="419464" y="79952"/>
              <a:ext cx="9208573" cy="587694"/>
            </a:xfrm>
            <a:prstGeom prst="rect">
              <a:avLst/>
            </a:prstGeom>
            <a:solidFill>
              <a:srgbClr val="FFAD99"/>
            </a:solidFill>
            <a:ln w="25400" cap="flat">
              <a:noFill/>
              <a:miter lim="400000"/>
            </a:ln>
            <a:effectLst/>
          </p:spPr>
          <p:txBody>
            <a:bodyPr wrap="square" lIns="63500" tIns="63500" rIns="63500" bIns="63500" numCol="1" anchor="ctr">
              <a:noAutofit/>
            </a:bodyPr>
            <a:lstStyle/>
            <a:p>
              <a:pPr/>
            </a:p>
          </p:txBody>
        </p:sp>
        <p:sp>
          <p:nvSpPr>
            <p:cNvPr id="139" name="Shape"/>
            <p:cNvSpPr/>
            <p:nvPr/>
          </p:nvSpPr>
          <p:spPr>
            <a:xfrm>
              <a:off x="0" y="80954"/>
              <a:ext cx="459271" cy="5856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05" y="84"/>
                  </a:moveTo>
                  <a:lnTo>
                    <a:pt x="0" y="11041"/>
                  </a:lnTo>
                  <a:lnTo>
                    <a:pt x="19505" y="21590"/>
                  </a:lnTo>
                  <a:lnTo>
                    <a:pt x="21219" y="21600"/>
                  </a:lnTo>
                  <a:lnTo>
                    <a:pt x="21600" y="0"/>
                  </a:lnTo>
                  <a:lnTo>
                    <a:pt x="19505" y="84"/>
                  </a:lnTo>
                  <a:close/>
                </a:path>
              </a:pathLst>
            </a:custGeom>
            <a:solidFill>
              <a:srgbClr val="FFAD99"/>
            </a:solidFill>
            <a:ln w="12700" cap="flat">
              <a:noFill/>
              <a:miter lim="400000"/>
            </a:ln>
            <a:effectLst/>
          </p:spPr>
          <p:txBody>
            <a:bodyPr wrap="square" lIns="50800" tIns="50800" rIns="50800" bIns="50800" numCol="1" anchor="ctr">
              <a:noAutofit/>
            </a:bodyPr>
            <a:lstStyle/>
            <a:p>
              <a:pPr algn="l" defTabSz="457200">
                <a:defRPr sz="1200">
                  <a:solidFill>
                    <a:srgbClr val="000000"/>
                  </a:solidFill>
                </a:defRPr>
              </a:pPr>
            </a:p>
          </p:txBody>
        </p:sp>
        <p:sp>
          <p:nvSpPr>
            <p:cNvPr id="140" name="‘nil’ requires a contextual type"/>
            <p:cNvSpPr txBox="1"/>
            <p:nvPr/>
          </p:nvSpPr>
          <p:spPr>
            <a:xfrm>
              <a:off x="1101498" y="137128"/>
              <a:ext cx="8376219" cy="473341"/>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lvl1pPr algn="l">
                <a:defRPr sz="2900">
                  <a:solidFill>
                    <a:srgbClr val="000000"/>
                  </a:solidFill>
                  <a:latin typeface="Helvetica Neue Medium"/>
                  <a:ea typeface="Helvetica Neue Medium"/>
                  <a:cs typeface="Helvetica Neue Medium"/>
                  <a:sym typeface="Helvetica Neue Medium"/>
                </a:defRPr>
              </a:lvl1pPr>
            </a:lstStyle>
            <a:p>
              <a:pPr/>
              <a:r>
                <a:t>‘nil’ requires a contextual type</a:t>
              </a:r>
            </a:p>
          </p:txBody>
        </p:sp>
        <p:grpSp>
          <p:nvGrpSpPr>
            <p:cNvPr id="143" name="Group"/>
            <p:cNvGrpSpPr/>
            <p:nvPr/>
          </p:nvGrpSpPr>
          <p:grpSpPr>
            <a:xfrm>
              <a:off x="361227" y="-218777"/>
              <a:ext cx="747599" cy="1161475"/>
              <a:chOff x="0" y="-218776"/>
              <a:chExt cx="747597" cy="1161474"/>
            </a:xfrm>
          </p:grpSpPr>
          <p:sp>
            <p:nvSpPr>
              <p:cNvPr id="141" name="Polygon"/>
              <p:cNvSpPr/>
              <p:nvPr/>
            </p:nvSpPr>
            <p:spPr>
              <a:xfrm rot="20220000">
                <a:off x="88725" y="88725"/>
                <a:ext cx="570148" cy="5701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8437" y="3163"/>
                    </a:lnTo>
                    <a:lnTo>
                      <a:pt x="21600" y="10800"/>
                    </a:lnTo>
                    <a:lnTo>
                      <a:pt x="18437" y="18437"/>
                    </a:lnTo>
                    <a:lnTo>
                      <a:pt x="10800" y="21600"/>
                    </a:lnTo>
                    <a:lnTo>
                      <a:pt x="3163" y="18437"/>
                    </a:lnTo>
                    <a:lnTo>
                      <a:pt x="0" y="10800"/>
                    </a:lnTo>
                    <a:lnTo>
                      <a:pt x="3163" y="3163"/>
                    </a:lnTo>
                    <a:close/>
                  </a:path>
                </a:pathLst>
              </a:custGeom>
              <a:solidFill>
                <a:srgbClr val="FF2600"/>
              </a:solidFill>
              <a:ln w="25400" cap="flat">
                <a:noFill/>
                <a:miter lim="400000"/>
              </a:ln>
              <a:effectLst/>
            </p:spPr>
            <p:txBody>
              <a:bodyPr wrap="square" lIns="63500" tIns="63500" rIns="63500" bIns="63500" numCol="1" anchor="ctr">
                <a:noAutofit/>
              </a:bodyPr>
              <a:lstStyle/>
              <a:p>
                <a:pPr/>
              </a:p>
            </p:txBody>
          </p:sp>
          <p:sp>
            <p:nvSpPr>
              <p:cNvPr id="142" name="!"/>
              <p:cNvSpPr txBox="1"/>
              <p:nvPr/>
            </p:nvSpPr>
            <p:spPr>
              <a:xfrm>
                <a:off x="237536" y="-218777"/>
                <a:ext cx="292237" cy="1161475"/>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noAutofit/>
              </a:bodyPr>
              <a:lstStyle>
                <a:lvl1pPr>
                  <a:defRPr b="1" sz="4200"/>
                </a:lvl1pPr>
              </a:lstStyle>
              <a:p>
                <a:pPr/>
                <a:r>
                  <a:t>!</a:t>
                </a:r>
              </a:p>
            </p:txBody>
          </p:sp>
        </p:grpSp>
      </p:grpSp>
      <p:sp>
        <p:nvSpPr>
          <p:cNvPr id="145" name="var serverResponseCode = 404"/>
          <p:cNvSpPr txBox="1"/>
          <p:nvPr/>
        </p:nvSpPr>
        <p:spPr>
          <a:xfrm>
            <a:off x="1055140" y="3850178"/>
            <a:ext cx="21767801" cy="835311"/>
          </a:xfrm>
          <a:prstGeom prst="rect">
            <a:avLst/>
          </a:prstGeom>
          <a:ln w="25400">
            <a:miter lim="400000"/>
          </a:ln>
          <a:extLst>
            <a:ext uri="{C572A759-6A51-4108-AA02-DFA0A04FC94B}">
              <ma14:wrappingTextBoxFlag xmlns:ma14="http://schemas.microsoft.com/office/mac/drawingml/2011/main" val="1"/>
            </a:ext>
          </a:extLst>
        </p:spPr>
        <p:txBody>
          <a:bodyPr lIns="63500" tIns="63500" rIns="63500" bIns="63500" anchor="ctr"/>
          <a:lstStyle/>
          <a:p>
            <a:pPr algn="l" defTabSz="822960">
              <a:lnSpc>
                <a:spcPts val="5000"/>
              </a:lnSpc>
              <a:defRPr sz="3000">
                <a:latin typeface="Menlo Regular"/>
                <a:ea typeface="Menlo Regular"/>
                <a:cs typeface="Menlo Regular"/>
                <a:sym typeface="Menlo Regular"/>
              </a:defRPr>
            </a:pPr>
            <a:r>
              <a:rPr>
                <a:solidFill>
                  <a:srgbClr val="3DCCCC"/>
                </a:solidFill>
              </a:rPr>
              <a:t>var</a:t>
            </a:r>
            <a:r>
              <a:t> serverResponseCode = 404</a:t>
            </a:r>
          </a:p>
        </p:txBody>
      </p:sp>
      <p:sp>
        <p:nvSpPr>
          <p:cNvPr id="146" name="var serverResponseCode = nil"/>
          <p:cNvSpPr txBox="1"/>
          <p:nvPr/>
        </p:nvSpPr>
        <p:spPr>
          <a:xfrm>
            <a:off x="1055140" y="5201981"/>
            <a:ext cx="21767801" cy="915920"/>
          </a:xfrm>
          <a:prstGeom prst="rect">
            <a:avLst/>
          </a:prstGeom>
          <a:ln w="25400">
            <a:miter lim="400000"/>
          </a:ln>
          <a:extLst>
            <a:ext uri="{C572A759-6A51-4108-AA02-DFA0A04FC94B}">
              <ma14:wrappingTextBoxFlag xmlns:ma14="http://schemas.microsoft.com/office/mac/drawingml/2011/main" val="1"/>
            </a:ext>
          </a:extLst>
        </p:spPr>
        <p:txBody>
          <a:bodyPr lIns="63500" tIns="63500" rIns="63500" bIns="63500" anchor="ctr"/>
          <a:lstStyle/>
          <a:p>
            <a:pPr algn="l" defTabSz="822960">
              <a:lnSpc>
                <a:spcPts val="5000"/>
              </a:lnSpc>
              <a:defRPr sz="3000">
                <a:latin typeface="Menlo Regular"/>
                <a:ea typeface="Menlo Regular"/>
                <a:cs typeface="Menlo Regular"/>
                <a:sym typeface="Menlo Regular"/>
              </a:defRPr>
            </a:pPr>
            <a:r>
              <a:rPr>
                <a:solidFill>
                  <a:srgbClr val="3DCCCC"/>
                </a:solidFill>
              </a:rPr>
              <a:t>var</a:t>
            </a:r>
            <a:r>
              <a:t> serverResponseCode = nil</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45"/>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3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Class="emph" nodeType="clickEffect" presetID="9" grpId="3" fill="hold">
                                  <p:stCondLst>
                                    <p:cond delay="0"/>
                                  </p:stCondLst>
                                  <p:childTnLst>
                                    <p:set>
                                      <p:cBhvr>
                                        <p:cTn id="13" dur="indefinite" fill="hold"/>
                                        <p:tgtEl>
                                          <p:spTgt spid="145"/>
                                        </p:tgtEl>
                                        <p:attrNameLst>
                                          <p:attrName>style.opacity</p:attrName>
                                        </p:attrNameLst>
                                      </p:cBhvr>
                                      <p:to>
                                        <p:strVal val="0.33"/>
                                      </p:to>
                                    </p:set>
                                    <p:animEffect filter="image" prLst="opacity: 0.33; ">
                                      <p:cBhvr>
                                        <p:cTn id="14" dur="indefinite" fill="hold"/>
                                        <p:tgtEl>
                                          <p:spTgt spid="145"/>
                                        </p:tgtEl>
                                      </p:cBhvr>
                                    </p:animEffect>
                                  </p:childTnLst>
                                </p:cTn>
                              </p:par>
                            </p:childTnLst>
                          </p:cTn>
                        </p:par>
                        <p:par>
                          <p:cTn id="15" fill="hold">
                            <p:stCondLst>
                              <p:cond delay="0"/>
                            </p:stCondLst>
                            <p:childTnLst>
                              <p:par>
                                <p:cTn id="16" presetClass="entr" nodeType="afterEffect" presetSubtype="0" presetID="1" grpId="4" fill="hold">
                                  <p:stCondLst>
                                    <p:cond delay="0"/>
                                  </p:stCondLst>
                                  <p:iterate type="el" backwards="0">
                                    <p:tmAbs val="0"/>
                                  </p:iterate>
                                  <p:childTnLst>
                                    <p:set>
                                      <p:cBhvr>
                                        <p:cTn id="17" fill="hold"/>
                                        <p:tgtEl>
                                          <p:spTgt spid="146"/>
                                        </p:tgtEl>
                                        <p:attrNameLst>
                                          <p:attrName>style.visibility</p:attrName>
                                        </p:attrNameLst>
                                      </p:cBhvr>
                                      <p:to>
                                        <p:strVal val="visible"/>
                                      </p:to>
                                    </p:set>
                                  </p:childTnLst>
                                </p:cTn>
                              </p:par>
                            </p:childTnLst>
                          </p:cTn>
                        </p:par>
                        <p:par>
                          <p:cTn id="18" fill="hold">
                            <p:stCondLst>
                              <p:cond delay="0"/>
                            </p:stCondLst>
                            <p:childTnLst>
                              <p:par>
                                <p:cTn id="19" presetClass="entr" nodeType="afterEffect" presetSubtype="0" presetID="1" grpId="5" fill="hold">
                                  <p:stCondLst>
                                    <p:cond delay="0"/>
                                  </p:stCondLst>
                                  <p:iterate type="el" backwards="0">
                                    <p:tmAbs val="0"/>
                                  </p:iterate>
                                  <p:childTnLst>
                                    <p:set>
                                      <p:cBhvr>
                                        <p:cTn id="20" fill="hold"/>
                                        <p:tgtEl>
                                          <p:spTgt spid="1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6" fill="hold">
                                  <p:stCondLst>
                                    <p:cond delay="0"/>
                                  </p:stCondLst>
                                  <p:iterate type="el" backwards="0">
                                    <p:tmAbs val="0"/>
                                  </p:iterate>
                                  <p:childTnLst>
                                    <p:set>
                                      <p:cBhvr>
                                        <p:cTn id="24" fill="hold"/>
                                        <p:tgtEl>
                                          <p:spTgt spid="1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mph" nodeType="clickEffect" presetID="9" grpId="7" fill="hold">
                                  <p:stCondLst>
                                    <p:cond delay="0"/>
                                  </p:stCondLst>
                                  <p:childTnLst>
                                    <p:set>
                                      <p:cBhvr>
                                        <p:cTn id="28" dur="indefinite" fill="hold"/>
                                        <p:tgtEl>
                                          <p:spTgt spid="146"/>
                                        </p:tgtEl>
                                        <p:attrNameLst>
                                          <p:attrName>style.opacity</p:attrName>
                                        </p:attrNameLst>
                                      </p:cBhvr>
                                      <p:to>
                                        <p:strVal val="0.33"/>
                                      </p:to>
                                    </p:set>
                                    <p:animEffect filter="image" prLst="opacity: 0.33; ">
                                      <p:cBhvr>
                                        <p:cTn id="29" dur="indefinite" fill="hold"/>
                                        <p:tgtEl>
                                          <p:spTgt spid="146"/>
                                        </p:tgtEl>
                                      </p:cBhvr>
                                    </p:animEffect>
                                  </p:childTnLst>
                                </p:cTn>
                              </p:par>
                            </p:childTnLst>
                          </p:cTn>
                        </p:par>
                        <p:par>
                          <p:cTn id="30" fill="hold">
                            <p:stCondLst>
                              <p:cond delay="0"/>
                            </p:stCondLst>
                            <p:childTnLst>
                              <p:par>
                                <p:cTn id="31" presetClass="emph" nodeType="afterEffect" presetID="9" grpId="8" fill="hold">
                                  <p:stCondLst>
                                    <p:cond delay="0"/>
                                  </p:stCondLst>
                                  <p:childTnLst>
                                    <p:set>
                                      <p:cBhvr>
                                        <p:cTn id="32" dur="indefinite" fill="hold"/>
                                        <p:tgtEl>
                                          <p:spTgt spid="144"/>
                                        </p:tgtEl>
                                        <p:attrNameLst>
                                          <p:attrName>style.opacity</p:attrName>
                                        </p:attrNameLst>
                                      </p:cBhvr>
                                      <p:to>
                                        <p:strVal val="0.33"/>
                                      </p:to>
                                    </p:set>
                                    <p:animEffect filter="image" prLst="opacity: 0.33; ">
                                      <p:cBhvr>
                                        <p:cTn id="33" dur="indefinite" fill="hold"/>
                                        <p:tgtEl>
                                          <p:spTgt spid="144"/>
                                        </p:tgtEl>
                                      </p:cBhvr>
                                    </p:animEffect>
                                  </p:childTnLst>
                                </p:cTn>
                              </p:par>
                            </p:childTnLst>
                          </p:cTn>
                        </p:par>
                        <p:par>
                          <p:cTn id="34" fill="hold">
                            <p:stCondLst>
                              <p:cond delay="0"/>
                            </p:stCondLst>
                            <p:childTnLst>
                              <p:par>
                                <p:cTn id="35" presetClass="entr" nodeType="afterEffect" presetSubtype="0" presetID="1" grpId="9" fill="hold">
                                  <p:stCondLst>
                                    <p:cond delay="0"/>
                                  </p:stCondLst>
                                  <p:iterate type="el" backwards="0">
                                    <p:tmAbs val="0"/>
                                  </p:iterate>
                                  <p:childTnLst>
                                    <p:set>
                                      <p:cBhvr>
                                        <p:cTn id="36" fill="hold"/>
                                        <p:tgtEl>
                                          <p:spTgt spid="137"/>
                                        </p:tgtEl>
                                        <p:attrNameLst>
                                          <p:attrName>style.visibility</p:attrName>
                                        </p:attrNameLst>
                                      </p:cBhvr>
                                      <p:to>
                                        <p:strVal val="visible"/>
                                      </p:to>
                                    </p:set>
                                  </p:childTnLst>
                                </p:cTn>
                              </p:par>
                            </p:childTnLst>
                          </p:cTn>
                        </p:par>
                        <p:par>
                          <p:cTn id="37" fill="hold">
                            <p:stCondLst>
                              <p:cond delay="0"/>
                            </p:stCondLst>
                            <p:childTnLst>
                              <p:par>
                                <p:cTn id="38" presetClass="entr" nodeType="afterEffect" presetSubtype="0" presetID="1" grpId="10" fill="hold">
                                  <p:stCondLst>
                                    <p:cond delay="0"/>
                                  </p:stCondLst>
                                  <p:iterate type="el" backwards="0">
                                    <p:tmAbs val="0"/>
                                  </p:iterate>
                                  <p:childTnLst>
                                    <p:set>
                                      <p:cBhvr>
                                        <p:cTn id="39" fill="hold"/>
                                        <p:tgtEl>
                                          <p:spTgt spid="133"/>
                                        </p:tgtEl>
                                        <p:attrNameLst>
                                          <p:attrName>style.visibility</p:attrName>
                                        </p:attrNameLst>
                                      </p:cBhvr>
                                      <p:to>
                                        <p:strVal val="visible"/>
                                      </p:to>
                                    </p:set>
                                  </p:childTnLst>
                                </p:cTn>
                              </p:par>
                            </p:childTnLst>
                          </p:cTn>
                        </p:par>
                        <p:par>
                          <p:cTn id="40" fill="hold">
                            <p:stCondLst>
                              <p:cond delay="0"/>
                            </p:stCondLst>
                            <p:childTnLst>
                              <p:par>
                                <p:cTn id="41" presetClass="entr" nodeType="afterEffect" presetSubtype="0" presetID="1" grpId="11" fill="hold">
                                  <p:stCondLst>
                                    <p:cond delay="0"/>
                                  </p:stCondLst>
                                  <p:iterate type="el" backwards="0">
                                    <p:tmAbs val="0"/>
                                  </p:iterate>
                                  <p:childTnLst>
                                    <p:set>
                                      <p:cBhvr>
                                        <p:cTn id="42" fill="hold"/>
                                        <p:tgtEl>
                                          <p:spTgt spid="132"/>
                                        </p:tgtEl>
                                        <p:attrNameLst>
                                          <p:attrName>style.visibility</p:attrName>
                                        </p:attrNameLst>
                                      </p:cBhvr>
                                      <p:to>
                                        <p:strVal val="visible"/>
                                      </p:to>
                                    </p:set>
                                  </p:childTnLst>
                                </p:cTn>
                              </p:par>
                            </p:childTnLst>
                          </p:cTn>
                        </p:par>
                        <p:par>
                          <p:cTn id="43" fill="hold">
                            <p:stCondLst>
                              <p:cond delay="0"/>
                            </p:stCondLst>
                            <p:childTnLst>
                              <p:par>
                                <p:cTn id="44" presetClass="entr" nodeType="afterEffect" presetSubtype="0" presetID="1" grpId="12" fill="hold">
                                  <p:stCondLst>
                                    <p:cond delay="0"/>
                                  </p:stCondLst>
                                  <p:iterate type="el" backwards="0">
                                    <p:tmAbs val="0"/>
                                  </p:iterate>
                                  <p:childTnLst>
                                    <p:set>
                                      <p:cBhvr>
                                        <p:cTn id="45" fill="hold"/>
                                        <p:tgtEl>
                                          <p:spTgt spid="134"/>
                                        </p:tgtEl>
                                        <p:attrNameLst>
                                          <p:attrName>style.visibility</p:attrName>
                                        </p:attrNameLst>
                                      </p:cBhvr>
                                      <p:to>
                                        <p:strVal val="visible"/>
                                      </p:to>
                                    </p:set>
                                  </p:childTnLst>
                                </p:cTn>
                              </p:par>
                            </p:childTnLst>
                          </p:cTn>
                        </p:par>
                        <p:par>
                          <p:cTn id="46" fill="hold">
                            <p:stCondLst>
                              <p:cond delay="0"/>
                            </p:stCondLst>
                            <p:childTnLst>
                              <p:par>
                                <p:cTn id="47" presetClass="entr" nodeType="afterEffect" presetSubtype="0" presetID="1" grpId="13" fill="hold">
                                  <p:stCondLst>
                                    <p:cond delay="0"/>
                                  </p:stCondLst>
                                  <p:iterate type="el" backwards="0">
                                    <p:tmAbs val="0"/>
                                  </p:iterate>
                                  <p:childTnLst>
                                    <p:set>
                                      <p:cBhvr>
                                        <p:cTn id="48" fill="hold"/>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5" grpId="13"/>
      <p:bldP build="whole" bldLvl="1" animBg="1" rev="0" advAuto="0" spid="145" grpId="1"/>
      <p:bldP build="whole" bldLvl="1" animBg="1" rev="0" advAuto="0" spid="145" grpId="3"/>
      <p:bldP build="whole" bldLvl="1" animBg="1" rev="0" advAuto="0" spid="132" grpId="11"/>
      <p:bldP build="whole" bldLvl="1" animBg="1" rev="0" advAuto="0" spid="137" grpId="9"/>
      <p:bldP build="whole" bldLvl="1" animBg="1" rev="0" advAuto="0" spid="144" grpId="6"/>
      <p:bldP build="whole" bldLvl="1" animBg="1" rev="0" advAuto="0" spid="134" grpId="12"/>
      <p:bldP build="whole" bldLvl="1" animBg="1" rev="0" advAuto="0" spid="144" grpId="8"/>
      <p:bldP build="whole" bldLvl="1" animBg="1" rev="0" advAuto="0" spid="146" grpId="4"/>
      <p:bldP build="whole" bldLvl="1" animBg="1" rev="0" advAuto="0" spid="130" grpId="2"/>
      <p:bldP build="whole" bldLvl="1" animBg="1" rev="0" advAuto="0" spid="131" grpId="5"/>
      <p:bldP build="whole" bldLvl="1" animBg="1" rev="0" advAuto="0" spid="146" grpId="7"/>
      <p:bldP build="whole" bldLvl="1" animBg="1" rev="0" advAuto="0" spid="133" grpId="10"/>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51" name="Force-unwrap"/>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Force-unwrap</a:t>
            </a:r>
          </a:p>
        </p:txBody>
      </p:sp>
      <p:sp>
        <p:nvSpPr>
          <p:cNvPr id="152" name="Rectangle"/>
          <p:cNvSpPr/>
          <p:nvPr/>
        </p:nvSpPr>
        <p:spPr>
          <a:xfrm>
            <a:off x="761516" y="3898900"/>
            <a:ext cx="22860968" cy="4421200"/>
          </a:xfrm>
          <a:prstGeom prst="rect">
            <a:avLst/>
          </a:prstGeom>
          <a:solidFill>
            <a:srgbClr val="292B38"/>
          </a:solidFill>
          <a:ln w="25400">
            <a:miter lim="400000"/>
          </a:ln>
        </p:spPr>
        <p:txBody>
          <a:bodyPr lIns="50800" tIns="50800" rIns="50800" bIns="50800" anchor="ctr"/>
          <a:lstStyle/>
          <a:p>
            <a:pPr/>
          </a:p>
        </p:txBody>
      </p:sp>
      <p:sp>
        <p:nvSpPr>
          <p:cNvPr id="153" name="Rectangle"/>
          <p:cNvSpPr/>
          <p:nvPr/>
        </p:nvSpPr>
        <p:spPr>
          <a:xfrm>
            <a:off x="8980428" y="4674732"/>
            <a:ext cx="262304" cy="614644"/>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54" name="Working with optional values"/>
          <p:cNvSpPr/>
          <p:nvPr>
            <p:ph type="title"/>
          </p:nvPr>
        </p:nvSpPr>
        <p:spPr>
          <a:prstGeom prst="rect">
            <a:avLst/>
          </a:prstGeom>
        </p:spPr>
        <p:txBody>
          <a:bodyPr/>
          <a:lstStyle/>
          <a:p>
            <a:pPr/>
            <a:r>
              <a:t>Working with optional values</a:t>
            </a:r>
          </a:p>
        </p:txBody>
      </p:sp>
      <p:sp>
        <p:nvSpPr>
          <p:cNvPr id="155" name="if publicationYear != nil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6CCE66"/>
                </a:solidFill>
              </a:rPr>
              <a:t>publicationYear</a:t>
            </a:r>
            <a:r>
              <a:t> != </a:t>
            </a:r>
            <a:r>
              <a:rPr>
                <a:solidFill>
                  <a:srgbClr val="3DCCCC"/>
                </a:solidFill>
              </a:rPr>
              <a:t>nil</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let</a:t>
            </a:r>
            <a:r>
              <a:t> actualYear = </a:t>
            </a:r>
            <a:r>
              <a:rPr>
                <a:solidFill>
                  <a:srgbClr val="6CCE66"/>
                </a:solidFill>
              </a:rPr>
              <a:t>publicationYear</a:t>
            </a:r>
            <a:r>
              <a:t>!</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(actualYear)</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unwrappedYear = </a:t>
            </a:r>
            <a:r>
              <a:rPr>
                <a:solidFill>
                  <a:srgbClr val="6CCE66"/>
                </a:solidFill>
              </a:rPr>
              <a:t>publicationYear</a:t>
            </a:r>
            <a:r>
              <a:t>!</a:t>
            </a:r>
          </a:p>
          <a:p>
            <a:pPr marL="0" indent="0" defTabSz="822960">
              <a:lnSpc>
                <a:spcPts val="5000"/>
              </a:lnSpc>
              <a:spcBef>
                <a:spcPts val="0"/>
              </a:spcBef>
              <a:buSzTx/>
              <a:buNone/>
              <a:defRPr spc="0" sz="3000">
                <a:latin typeface="Menlo Regular"/>
                <a:ea typeface="Menlo Regular"/>
                <a:cs typeface="Menlo Regular"/>
                <a:sym typeface="Menlo Regular"/>
              </a:defRPr>
            </a:pPr>
          </a:p>
        </p:txBody>
      </p:sp>
      <p:grpSp>
        <p:nvGrpSpPr>
          <p:cNvPr id="162" name="Group"/>
          <p:cNvGrpSpPr/>
          <p:nvPr/>
        </p:nvGrpSpPr>
        <p:grpSpPr>
          <a:xfrm>
            <a:off x="13601700" y="7042183"/>
            <a:ext cx="9628037" cy="985803"/>
            <a:chOff x="0" y="-130940"/>
            <a:chExt cx="9628036" cy="985802"/>
          </a:xfrm>
        </p:grpSpPr>
        <p:sp>
          <p:nvSpPr>
            <p:cNvPr id="156" name="Rectangle"/>
            <p:cNvSpPr/>
            <p:nvPr/>
          </p:nvSpPr>
          <p:spPr>
            <a:xfrm>
              <a:off x="419464" y="79952"/>
              <a:ext cx="9208573" cy="587694"/>
            </a:xfrm>
            <a:prstGeom prst="rect">
              <a:avLst/>
            </a:prstGeom>
            <a:solidFill>
              <a:srgbClr val="FFAD99"/>
            </a:solidFill>
            <a:ln w="25400" cap="flat">
              <a:noFill/>
              <a:miter lim="400000"/>
            </a:ln>
            <a:effectLst/>
          </p:spPr>
          <p:txBody>
            <a:bodyPr wrap="square" lIns="63500" tIns="63500" rIns="63500" bIns="63500" numCol="1" anchor="ctr">
              <a:noAutofit/>
            </a:bodyPr>
            <a:lstStyle/>
            <a:p>
              <a:pPr/>
            </a:p>
          </p:txBody>
        </p:sp>
        <p:sp>
          <p:nvSpPr>
            <p:cNvPr id="157" name="Shape"/>
            <p:cNvSpPr/>
            <p:nvPr/>
          </p:nvSpPr>
          <p:spPr>
            <a:xfrm>
              <a:off x="0" y="80954"/>
              <a:ext cx="459271" cy="5856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05" y="84"/>
                  </a:moveTo>
                  <a:lnTo>
                    <a:pt x="0" y="11041"/>
                  </a:lnTo>
                  <a:lnTo>
                    <a:pt x="19505" y="21590"/>
                  </a:lnTo>
                  <a:lnTo>
                    <a:pt x="21219" y="21600"/>
                  </a:lnTo>
                  <a:lnTo>
                    <a:pt x="21600" y="0"/>
                  </a:lnTo>
                  <a:lnTo>
                    <a:pt x="19505" y="84"/>
                  </a:lnTo>
                  <a:close/>
                </a:path>
              </a:pathLst>
            </a:custGeom>
            <a:solidFill>
              <a:srgbClr val="FFAD99"/>
            </a:solidFill>
            <a:ln w="12700" cap="flat">
              <a:noFill/>
              <a:miter lim="400000"/>
            </a:ln>
            <a:effectLst/>
          </p:spPr>
          <p:txBody>
            <a:bodyPr wrap="square" lIns="50800" tIns="50800" rIns="50800" bIns="50800" numCol="1" anchor="ctr">
              <a:noAutofit/>
            </a:bodyPr>
            <a:lstStyle/>
            <a:p>
              <a:pPr algn="l" defTabSz="457200">
                <a:defRPr sz="1200">
                  <a:solidFill>
                    <a:srgbClr val="000000"/>
                  </a:solidFill>
                </a:defRPr>
              </a:pPr>
            </a:p>
          </p:txBody>
        </p:sp>
        <p:sp>
          <p:nvSpPr>
            <p:cNvPr id="158" name="error: Execution was interrupted"/>
            <p:cNvSpPr txBox="1"/>
            <p:nvPr/>
          </p:nvSpPr>
          <p:spPr>
            <a:xfrm>
              <a:off x="1101498" y="-37330"/>
              <a:ext cx="8376219" cy="822258"/>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noAutofit/>
            </a:bodyPr>
            <a:lstStyle>
              <a:lvl1pPr algn="l">
                <a:defRPr sz="2900">
                  <a:solidFill>
                    <a:srgbClr val="000000"/>
                  </a:solidFill>
                  <a:latin typeface="Helvetica Neue Medium"/>
                  <a:ea typeface="Helvetica Neue Medium"/>
                  <a:cs typeface="Helvetica Neue Medium"/>
                  <a:sym typeface="Helvetica Neue Medium"/>
                </a:defRPr>
              </a:lvl1pPr>
            </a:lstStyle>
            <a:p>
              <a:pPr/>
              <a:r>
                <a:t>error: Execution was interrupted</a:t>
              </a:r>
            </a:p>
          </p:txBody>
        </p:sp>
        <p:grpSp>
          <p:nvGrpSpPr>
            <p:cNvPr id="161" name="Group"/>
            <p:cNvGrpSpPr/>
            <p:nvPr/>
          </p:nvGrpSpPr>
          <p:grpSpPr>
            <a:xfrm>
              <a:off x="361227" y="-130941"/>
              <a:ext cx="747599" cy="985803"/>
              <a:chOff x="0" y="-130940"/>
              <a:chExt cx="747597" cy="985802"/>
            </a:xfrm>
          </p:grpSpPr>
          <p:sp>
            <p:nvSpPr>
              <p:cNvPr id="159" name="Polygon"/>
              <p:cNvSpPr/>
              <p:nvPr/>
            </p:nvSpPr>
            <p:spPr>
              <a:xfrm rot="20220000">
                <a:off x="88725" y="88725"/>
                <a:ext cx="570148" cy="5701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8437" y="3163"/>
                    </a:lnTo>
                    <a:lnTo>
                      <a:pt x="21600" y="10800"/>
                    </a:lnTo>
                    <a:lnTo>
                      <a:pt x="18437" y="18437"/>
                    </a:lnTo>
                    <a:lnTo>
                      <a:pt x="10800" y="21600"/>
                    </a:lnTo>
                    <a:lnTo>
                      <a:pt x="3163" y="18437"/>
                    </a:lnTo>
                    <a:lnTo>
                      <a:pt x="0" y="10800"/>
                    </a:lnTo>
                    <a:lnTo>
                      <a:pt x="3163" y="3163"/>
                    </a:lnTo>
                    <a:close/>
                  </a:path>
                </a:pathLst>
              </a:custGeom>
              <a:solidFill>
                <a:srgbClr val="FF2600"/>
              </a:solidFill>
              <a:ln w="25400" cap="flat">
                <a:noFill/>
                <a:miter lim="400000"/>
              </a:ln>
              <a:effectLst/>
            </p:spPr>
            <p:txBody>
              <a:bodyPr wrap="square" lIns="63500" tIns="63500" rIns="63500" bIns="63500" numCol="1" anchor="ctr">
                <a:noAutofit/>
              </a:bodyPr>
              <a:lstStyle/>
              <a:p>
                <a:pPr/>
              </a:p>
            </p:txBody>
          </p:sp>
          <p:sp>
            <p:nvSpPr>
              <p:cNvPr id="160" name="!"/>
              <p:cNvSpPr txBox="1"/>
              <p:nvPr/>
            </p:nvSpPr>
            <p:spPr>
              <a:xfrm>
                <a:off x="234237" y="-130941"/>
                <a:ext cx="248036" cy="985803"/>
              </a:xfrm>
              <a:prstGeom prst="rect">
                <a:avLst/>
              </a:prstGeom>
              <a:noFill/>
              <a:ln w="254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noAutofit/>
              </a:bodyPr>
              <a:lstStyle>
                <a:lvl1pPr>
                  <a:defRPr b="1" sz="4200"/>
                </a:lvl1pPr>
              </a:lstStyle>
              <a:p>
                <a:pPr/>
                <a:r>
                  <a:t>!</a:t>
                </a:r>
              </a:p>
            </p:txBody>
          </p:sp>
        </p:gr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2"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67" name="Optional bind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Optional binding</a:t>
            </a:r>
          </a:p>
        </p:txBody>
      </p:sp>
      <p:sp>
        <p:nvSpPr>
          <p:cNvPr id="168" name="Rectangle"/>
          <p:cNvSpPr/>
          <p:nvPr/>
        </p:nvSpPr>
        <p:spPr>
          <a:xfrm>
            <a:off x="761516" y="3898900"/>
            <a:ext cx="22860968" cy="2159974"/>
          </a:xfrm>
          <a:prstGeom prst="rect">
            <a:avLst/>
          </a:prstGeom>
          <a:solidFill>
            <a:srgbClr val="292B38"/>
          </a:solidFill>
          <a:ln w="25400">
            <a:miter lim="400000"/>
          </a:ln>
        </p:spPr>
        <p:txBody>
          <a:bodyPr lIns="50800" tIns="50800" rIns="50800" bIns="50800" anchor="ctr"/>
          <a:lstStyle/>
          <a:p>
            <a:pPr/>
          </a:p>
        </p:txBody>
      </p:sp>
      <p:sp>
        <p:nvSpPr>
          <p:cNvPr id="169" name="Rectangle"/>
          <p:cNvSpPr/>
          <p:nvPr/>
        </p:nvSpPr>
        <p:spPr>
          <a:xfrm>
            <a:off x="761517" y="6931411"/>
            <a:ext cx="22860968" cy="4233961"/>
          </a:xfrm>
          <a:prstGeom prst="rect">
            <a:avLst/>
          </a:prstGeom>
          <a:solidFill>
            <a:srgbClr val="292B38"/>
          </a:solidFill>
          <a:ln w="25400">
            <a:miter lim="400000"/>
          </a:ln>
        </p:spPr>
        <p:txBody>
          <a:bodyPr lIns="50800" tIns="50800" rIns="50800" bIns="50800" anchor="ctr"/>
          <a:lstStyle/>
          <a:p>
            <a:pPr/>
          </a:p>
        </p:txBody>
      </p:sp>
      <p:sp>
        <p:nvSpPr>
          <p:cNvPr id="170" name="Working with optional values"/>
          <p:cNvSpPr/>
          <p:nvPr>
            <p:ph type="title"/>
          </p:nvPr>
        </p:nvSpPr>
        <p:spPr>
          <a:prstGeom prst="rect">
            <a:avLst/>
          </a:prstGeom>
        </p:spPr>
        <p:txBody>
          <a:bodyPr/>
          <a:lstStyle/>
          <a:p>
            <a:pPr/>
            <a:r>
              <a:t>Working with optional values</a:t>
            </a:r>
          </a:p>
        </p:txBody>
      </p:sp>
      <p:sp>
        <p:nvSpPr>
          <p:cNvPr id="171" name="if let constantName = someOptional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 let </a:t>
            </a:r>
            <a:r>
              <a:rPr i="1"/>
              <a:t>constantName</a:t>
            </a:r>
            <a:r>
              <a:t> = </a:t>
            </a:r>
            <a:r>
              <a:rPr i="1"/>
              <a:t>someOptional</a:t>
            </a:r>
            <a:r>
              <a:t> {</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979BB2"/>
                </a:solidFill>
              </a:rPr>
              <a:t>  //</a:t>
            </a:r>
            <a:r>
              <a:rPr i="1">
                <a:solidFill>
                  <a:srgbClr val="979BB2"/>
                </a:solidFill>
              </a:rPr>
              <a:t>constantName</a:t>
            </a:r>
            <a:r>
              <a:rPr>
                <a:solidFill>
                  <a:srgbClr val="979BB2"/>
                </a:solidFill>
              </a:rPr>
              <a:t> has been safely unwrapped for use within the braces.</a:t>
            </a:r>
            <a:endParaRPr>
              <a:solidFill>
                <a:srgbClr val="979BB2"/>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 let</a:t>
            </a:r>
            <a:r>
              <a:t> unwrappedPublicationYear = book.publicationYear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 book was published in </a:t>
            </a:r>
            <a:r>
              <a:t>\(unwrappedPublicationYear</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else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 book does not have an official publication date."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76" name="Return value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Return values</a:t>
            </a:r>
          </a:p>
        </p:txBody>
      </p:sp>
      <p:sp>
        <p:nvSpPr>
          <p:cNvPr id="177" name="Rectangle"/>
          <p:cNvSpPr/>
          <p:nvPr/>
        </p:nvSpPr>
        <p:spPr>
          <a:xfrm>
            <a:off x="761517" y="5828237"/>
            <a:ext cx="22860968" cy="1524001"/>
          </a:xfrm>
          <a:prstGeom prst="rect">
            <a:avLst/>
          </a:prstGeom>
          <a:solidFill>
            <a:srgbClr val="292B38"/>
          </a:solidFill>
          <a:ln w="25400">
            <a:miter lim="400000"/>
          </a:ln>
        </p:spPr>
        <p:txBody>
          <a:bodyPr lIns="50800" tIns="50800" rIns="50800" bIns="50800" anchor="ctr"/>
          <a:lstStyle/>
          <a:p>
            <a:pPr/>
          </a:p>
        </p:txBody>
      </p:sp>
      <p:sp>
        <p:nvSpPr>
          <p:cNvPr id="178" name="Rectangle"/>
          <p:cNvSpPr/>
          <p:nvPr/>
        </p:nvSpPr>
        <p:spPr>
          <a:xfrm>
            <a:off x="761516" y="3898900"/>
            <a:ext cx="22860968" cy="1524000"/>
          </a:xfrm>
          <a:prstGeom prst="rect">
            <a:avLst/>
          </a:prstGeom>
          <a:solidFill>
            <a:srgbClr val="292B38"/>
          </a:solidFill>
          <a:ln w="25400">
            <a:miter lim="400000"/>
          </a:ln>
        </p:spPr>
        <p:txBody>
          <a:bodyPr lIns="50800" tIns="50800" rIns="50800" bIns="50800" anchor="ctr"/>
          <a:lstStyle/>
          <a:p>
            <a:pPr/>
          </a:p>
        </p:txBody>
      </p:sp>
      <p:sp>
        <p:nvSpPr>
          <p:cNvPr id="179" name="Functions and optionals"/>
          <p:cNvSpPr/>
          <p:nvPr>
            <p:ph type="title"/>
          </p:nvPr>
        </p:nvSpPr>
        <p:spPr>
          <a:prstGeom prst="rect">
            <a:avLst/>
          </a:prstGeom>
        </p:spPr>
        <p:txBody>
          <a:bodyPr/>
          <a:lstStyle/>
          <a:p>
            <a:pPr/>
            <a:r>
              <a:t>Functions and optionals</a:t>
            </a:r>
          </a:p>
        </p:txBody>
      </p:sp>
      <p:sp>
        <p:nvSpPr>
          <p:cNvPr id="180" name="let string = &quot;123&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string = </a:t>
            </a:r>
            <a:r>
              <a:rPr>
                <a:solidFill>
                  <a:srgbClr val="F95B57"/>
                </a:solidFill>
              </a:rPr>
              <a:t>"123"</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possibleNumber = </a:t>
            </a:r>
            <a:r>
              <a:rPr>
                <a:solidFill>
                  <a:srgbClr val="6CCE66"/>
                </a:solidFill>
              </a:rPr>
              <a:t>Int</a:t>
            </a:r>
            <a:r>
              <a:t>(</a:t>
            </a:r>
            <a:r>
              <a:rPr>
                <a:solidFill>
                  <a:srgbClr val="6CCE66"/>
                </a:solidFill>
              </a:rPr>
              <a:t>string</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string = </a:t>
            </a:r>
            <a:r>
              <a:rPr>
                <a:solidFill>
                  <a:srgbClr val="F95B57"/>
                </a:solidFill>
              </a:rPr>
              <a:t>"Cynthia"</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possibleNumber = </a:t>
            </a:r>
            <a:r>
              <a:rPr>
                <a:solidFill>
                  <a:srgbClr val="6CCE66"/>
                </a:solidFill>
              </a:rPr>
              <a:t>Int</a:t>
            </a:r>
            <a:r>
              <a:t>(</a:t>
            </a:r>
            <a:r>
              <a:rPr>
                <a:solidFill>
                  <a:srgbClr val="6CCE66"/>
                </a:solidFill>
              </a:rPr>
              <a:t>string</a:t>
            </a:r>
            <a:r>
              <a: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85" name="Defin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Defining</a:t>
            </a:r>
          </a:p>
        </p:txBody>
      </p:sp>
      <p:sp>
        <p:nvSpPr>
          <p:cNvPr id="186" name="Rectangle"/>
          <p:cNvSpPr/>
          <p:nvPr/>
        </p:nvSpPr>
        <p:spPr>
          <a:xfrm>
            <a:off x="761517" y="5217710"/>
            <a:ext cx="22860968" cy="800101"/>
          </a:xfrm>
          <a:prstGeom prst="rect">
            <a:avLst/>
          </a:prstGeom>
          <a:solidFill>
            <a:srgbClr val="292B38"/>
          </a:solidFill>
          <a:ln w="25400">
            <a:miter lim="400000"/>
          </a:ln>
        </p:spPr>
        <p:txBody>
          <a:bodyPr lIns="50800" tIns="50800" rIns="50800" bIns="50800" anchor="ctr"/>
          <a:lstStyle/>
          <a:p>
            <a:pPr/>
          </a:p>
        </p:txBody>
      </p:sp>
      <p:sp>
        <p:nvSpPr>
          <p:cNvPr id="187" name="Rectangle"/>
          <p:cNvSpPr/>
          <p:nvPr/>
        </p:nvSpPr>
        <p:spPr>
          <a:xfrm>
            <a:off x="761516" y="3898900"/>
            <a:ext cx="22860968" cy="800100"/>
          </a:xfrm>
          <a:prstGeom prst="rect">
            <a:avLst/>
          </a:prstGeom>
          <a:solidFill>
            <a:srgbClr val="292B38"/>
          </a:solidFill>
          <a:ln w="25400">
            <a:miter lim="400000"/>
          </a:ln>
        </p:spPr>
        <p:txBody>
          <a:bodyPr lIns="50800" tIns="50800" rIns="50800" bIns="50800" anchor="ctr"/>
          <a:lstStyle/>
          <a:p>
            <a:pPr/>
          </a:p>
        </p:txBody>
      </p:sp>
      <p:sp>
        <p:nvSpPr>
          <p:cNvPr id="188" name="Functions and optionals"/>
          <p:cNvSpPr/>
          <p:nvPr>
            <p:ph type="title"/>
          </p:nvPr>
        </p:nvSpPr>
        <p:spPr>
          <a:prstGeom prst="rect">
            <a:avLst/>
          </a:prstGeom>
        </p:spPr>
        <p:txBody>
          <a:bodyPr/>
          <a:lstStyle/>
          <a:p>
            <a:pPr/>
            <a:r>
              <a:t>Functions and optionals</a:t>
            </a:r>
          </a:p>
        </p:txBody>
      </p:sp>
      <p:sp>
        <p:nvSpPr>
          <p:cNvPr id="189" name="Rectangle"/>
          <p:cNvSpPr/>
          <p:nvPr/>
        </p:nvSpPr>
        <p:spPr>
          <a:xfrm>
            <a:off x="7975279" y="5325413"/>
            <a:ext cx="1764862" cy="565957"/>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90" name="Rectangle"/>
          <p:cNvSpPr/>
          <p:nvPr/>
        </p:nvSpPr>
        <p:spPr>
          <a:xfrm>
            <a:off x="12547958" y="4051884"/>
            <a:ext cx="1764862" cy="565957"/>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191" name="func printFullName(firstName: String, middleName: String?, lastName: String)…"/>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func</a:t>
            </a:r>
            <a:r>
              <a:t> printFullName(firstName: </a:t>
            </a:r>
            <a:r>
              <a:rPr>
                <a:solidFill>
                  <a:srgbClr val="6CCE66"/>
                </a:solidFill>
              </a:rPr>
              <a:t>String</a:t>
            </a:r>
            <a:r>
              <a:t>, middleName: </a:t>
            </a:r>
            <a:r>
              <a:rPr>
                <a:solidFill>
                  <a:srgbClr val="6CCE66"/>
                </a:solidFill>
              </a:rPr>
              <a:t>String</a:t>
            </a:r>
            <a:r>
              <a:t>?, lastName: </a:t>
            </a:r>
            <a:r>
              <a:rPr>
                <a:solidFill>
                  <a:srgbClr val="6CCE66"/>
                </a:solidFill>
              </a:rPr>
              <a:t>String</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func</a:t>
            </a:r>
            <a:r>
              <a:t> textFromURL(url: URL) -&gt; </a:t>
            </a:r>
            <a:r>
              <a:rPr>
                <a:solidFill>
                  <a:srgbClr val="6CCE66"/>
                </a:solidFill>
              </a:rPr>
              <a:t>String</a:t>
            </a:r>
            <a:r>
              <a: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96"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97" name="Rectangle"/>
          <p:cNvSpPr/>
          <p:nvPr/>
        </p:nvSpPr>
        <p:spPr>
          <a:xfrm>
            <a:off x="761516" y="9626600"/>
            <a:ext cx="22860968" cy="2921549"/>
          </a:xfrm>
          <a:prstGeom prst="rect">
            <a:avLst/>
          </a:prstGeom>
          <a:solidFill>
            <a:srgbClr val="292B38"/>
          </a:solidFill>
          <a:ln w="25400">
            <a:miter lim="400000"/>
          </a:ln>
        </p:spPr>
        <p:txBody>
          <a:bodyPr lIns="50800" tIns="50800" rIns="50800" bIns="50800" anchor="ctr"/>
          <a:lstStyle/>
          <a:p>
            <a:pPr/>
          </a:p>
        </p:txBody>
      </p:sp>
      <p:sp>
        <p:nvSpPr>
          <p:cNvPr id="198" name="Failable Initializers"/>
          <p:cNvSpPr/>
          <p:nvPr>
            <p:ph type="title"/>
          </p:nvPr>
        </p:nvSpPr>
        <p:spPr>
          <a:prstGeom prst="rect">
            <a:avLst/>
          </a:prstGeom>
        </p:spPr>
        <p:txBody>
          <a:bodyPr/>
          <a:lstStyle/>
          <a:p>
            <a:pPr/>
            <a:r>
              <a:t>Failable Initializers</a:t>
            </a:r>
          </a:p>
        </p:txBody>
      </p:sp>
      <p:sp>
        <p:nvSpPr>
          <p:cNvPr id="199" name="struct Toddler {…"/>
          <p:cNvSpPr/>
          <p:nvPr>
            <p:ph type="body" sz="quarter" idx="1"/>
          </p:nvPr>
        </p:nvSpPr>
        <p:spPr>
          <a:xfrm>
            <a:off x="1155700" y="9762700"/>
            <a:ext cx="22098000" cy="2649349"/>
          </a:xfrm>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struct</a:t>
            </a:r>
            <a:r>
              <a:t> Toddler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birthName: </a:t>
            </a:r>
            <a:r>
              <a:rPr>
                <a:solidFill>
                  <a:srgbClr val="6CCE66"/>
                </a:solidFill>
              </a:rPr>
              <a:t>String</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monthsOld: </a:t>
            </a:r>
            <a:r>
              <a:rPr>
                <a:solidFill>
                  <a:srgbClr val="6CCE66"/>
                </a:solidFill>
              </a:rPr>
              <a:t>Int</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
        <p:nvSpPr>
          <p:cNvPr id="200" name="Failable initializers in Swift are initializers that can return nil if the initialization process cannot be completed successfully. They are used when there are conditions that might prevent an instance of a class, structure, or enumeration from being cr"/>
          <p:cNvSpPr txBox="1"/>
          <p:nvPr/>
        </p:nvSpPr>
        <p:spPr>
          <a:xfrm>
            <a:off x="456389" y="3552128"/>
            <a:ext cx="23496621" cy="4542885"/>
          </a:xfrm>
          <a:prstGeom prst="rect">
            <a:avLst/>
          </a:prstGeom>
          <a:ln w="25400">
            <a:miter lim="400000"/>
          </a:ln>
          <a:extLst>
            <a:ext uri="{C572A759-6A51-4108-AA02-DFA0A04FC94B}">
              <ma14:wrappingTextBoxFlag xmlns:ma14="http://schemas.microsoft.com/office/mac/drawingml/2011/main" val="1"/>
            </a:ext>
          </a:extLst>
        </p:spPr>
        <p:txBody>
          <a:bodyPr lIns="63500" tIns="63500" rIns="63500" bIns="63500" anchor="ctr">
            <a:spAutoFit/>
          </a:bodyPr>
          <a:lstStyle/>
          <a:p>
            <a:pPr algn="l" defTabSz="457200">
              <a:defRPr sz="4000">
                <a:solidFill>
                  <a:srgbClr val="000000"/>
                </a:solidFill>
              </a:defRPr>
            </a:pPr>
            <a:r>
              <a:rPr spc="-79">
                <a:solidFill>
                  <a:srgbClr val="FFFFFF"/>
                </a:solidFill>
              </a:rPr>
              <a:t>Failable initializers in Swift are initializers that can return </a:t>
            </a:r>
            <a:r>
              <a:rPr spc="-79">
                <a:solidFill>
                  <a:srgbClr val="FFFFFF"/>
                </a:solidFill>
                <a:latin typeface="Menlo Regular"/>
                <a:ea typeface="Menlo Regular"/>
                <a:cs typeface="Menlo Regular"/>
                <a:sym typeface="Menlo Regular"/>
              </a:rPr>
              <a:t>nil</a:t>
            </a:r>
            <a:r>
              <a:rPr spc="-79">
                <a:solidFill>
                  <a:srgbClr val="FFFFFF"/>
                </a:solidFill>
              </a:rPr>
              <a:t> if the initialization process cannot be completed successfully. They are used when there are conditions that might prevent an instance of a class, structure, or enumeration from being created in a valid state. </a:t>
            </a:r>
          </a:p>
          <a:p>
            <a:pPr marL="488461" indent="-488461" algn="l" defTabSz="825500">
              <a:lnSpc>
                <a:spcPts val="9300"/>
              </a:lnSpc>
              <a:buSzPct val="50000"/>
              <a:buBlip>
                <a:blip r:embed="rId3"/>
              </a:buBlip>
              <a:defRPr b="1" spc="-136" sz="6800"/>
            </a:pPr>
            <a:r>
              <a:rPr spc="-79" sz="4000"/>
              <a:t>Syntax:</a:t>
            </a:r>
            <a:r>
              <a:t> </a:t>
            </a:r>
            <a:r>
              <a:rPr b="0" spc="-79" sz="4000"/>
              <a:t>A failable initializer is defined by placing a question mark after the </a:t>
            </a:r>
            <a:r>
              <a:rPr b="0" spc="-79" sz="4000">
                <a:latin typeface="Menlo Regular"/>
                <a:ea typeface="Menlo Regular"/>
                <a:cs typeface="Menlo Regular"/>
                <a:sym typeface="Menlo Regular"/>
              </a:rPr>
              <a:t>init</a:t>
            </a:r>
            <a:r>
              <a:rPr b="0" spc="-79" sz="4000"/>
              <a:t> keyword </a:t>
            </a:r>
            <a:r>
              <a:rPr b="0" spc="-79" sz="4000">
                <a:latin typeface="Menlo Regular"/>
                <a:ea typeface="Menlo Regular"/>
                <a:cs typeface="Menlo Regular"/>
                <a:sym typeface="Menlo Regular"/>
              </a:rPr>
              <a:t>(init?)</a:t>
            </a:r>
            <a:r>
              <a:rPr b="0" spc="-79" sz="4000"/>
              <a:t>. </a:t>
            </a:r>
            <a:endParaRPr b="0" spc="-79" sz="4000"/>
          </a:p>
          <a:p>
            <a:pPr marL="488461" indent="-488461" algn="l" defTabSz="825500">
              <a:lnSpc>
                <a:spcPts val="6000"/>
              </a:lnSpc>
              <a:buSzPct val="50000"/>
              <a:buBlip>
                <a:blip r:embed="rId3"/>
              </a:buBlip>
              <a:defRPr b="1" spc="-136" sz="6800"/>
            </a:pPr>
            <a:r>
              <a:rPr b="0" spc="-79" sz="4000"/>
              <a:t>It creates an optional instance of the type it is initializing. The </a:t>
            </a:r>
            <a:r>
              <a:rPr b="0" spc="-79" sz="4000">
                <a:solidFill>
                  <a:srgbClr val="00FDFF"/>
                </a:solidFill>
              </a:rPr>
              <a:t>return value</a:t>
            </a:r>
            <a:r>
              <a:rPr b="0" spc="-79" sz="4000"/>
              <a:t> is either a fully initialized instance or </a:t>
            </a:r>
            <a:r>
              <a:rPr b="0" spc="-79" sz="4000">
                <a:latin typeface="Menlo Regular"/>
                <a:ea typeface="Menlo Regular"/>
                <a:cs typeface="Menlo Regular"/>
                <a:sym typeface="Menlo Regular"/>
              </a:rPr>
              <a:t>nil</a:t>
            </a:r>
            <a:r>
              <a:rPr b="0" spc="-79" sz="4000"/>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5"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06" name="Rectangle"/>
          <p:cNvSpPr/>
          <p:nvPr/>
        </p:nvSpPr>
        <p:spPr>
          <a:xfrm>
            <a:off x="761516" y="3898900"/>
            <a:ext cx="22860968" cy="8662256"/>
          </a:xfrm>
          <a:prstGeom prst="rect">
            <a:avLst/>
          </a:prstGeom>
          <a:solidFill>
            <a:srgbClr val="292B38"/>
          </a:solidFill>
          <a:ln w="25400">
            <a:miter lim="400000"/>
          </a:ln>
        </p:spPr>
        <p:txBody>
          <a:bodyPr lIns="50800" tIns="50800" rIns="50800" bIns="50800" anchor="ctr"/>
          <a:lstStyle/>
          <a:p>
            <a:pPr/>
          </a:p>
        </p:txBody>
      </p:sp>
      <p:sp>
        <p:nvSpPr>
          <p:cNvPr id="207" name="Failable initializers"/>
          <p:cNvSpPr/>
          <p:nvPr>
            <p:ph type="title"/>
          </p:nvPr>
        </p:nvSpPr>
        <p:spPr>
          <a:prstGeom prst="rect">
            <a:avLst/>
          </a:prstGeom>
        </p:spPr>
        <p:txBody>
          <a:bodyPr/>
          <a:lstStyle/>
          <a:p>
            <a:pPr/>
            <a:r>
              <a:t>Failable initializers</a:t>
            </a:r>
          </a:p>
        </p:txBody>
      </p:sp>
      <p:sp>
        <p:nvSpPr>
          <p:cNvPr id="208" name="Rectangle"/>
          <p:cNvSpPr/>
          <p:nvPr/>
        </p:nvSpPr>
        <p:spPr>
          <a:xfrm>
            <a:off x="1618844" y="6668424"/>
            <a:ext cx="1164773" cy="484649"/>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209" name="struct Toddler {…"/>
          <p:cNvSpPr/>
          <p:nvPr>
            <p:ph type="body" sz="half" idx="1"/>
          </p:nvPr>
        </p:nvSpPr>
        <p:spPr>
          <a:xfrm>
            <a:off x="1118843" y="3911600"/>
            <a:ext cx="10542125" cy="8521700"/>
          </a:xfrm>
          <a:prstGeom prst="rect">
            <a:avLst/>
          </a:prstGeom>
          <a:ln w="25400">
            <a:solidFill>
              <a:srgbClr val="000000"/>
            </a:solidFill>
          </a:ln>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struct</a:t>
            </a:r>
            <a:r>
              <a:t> Toddler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birthName: </a:t>
            </a:r>
            <a:r>
              <a:rPr>
                <a:solidFill>
                  <a:srgbClr val="6CCE66"/>
                </a:solidFill>
              </a:rPr>
              <a:t>String</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monthsOld: </a:t>
            </a:r>
            <a:r>
              <a:rPr>
                <a:solidFill>
                  <a:srgbClr val="6CCE66"/>
                </a:solidFill>
              </a:rPr>
              <a:t>Int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init</a:t>
            </a:r>
            <a:r>
              <a:t>?(birthName: </a:t>
            </a:r>
            <a:r>
              <a:rPr>
                <a:solidFill>
                  <a:srgbClr val="6CCE66"/>
                </a:solidFill>
              </a:rPr>
              <a:t>String</a:t>
            </a:r>
            <a:r>
              <a:t>, monthsOld: </a:t>
            </a:r>
            <a:r>
              <a:rPr>
                <a:solidFill>
                  <a:srgbClr val="6CCE66"/>
                </a:solidFill>
              </a:rPr>
              <a:t>Int</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if</a:t>
            </a:r>
            <a:r>
              <a:t> monthsOld &lt; 12 || monthsOld &gt; 36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return nil</a:t>
            </a:r>
          </a:p>
          <a:p>
            <a:pPr marL="0" indent="0" defTabSz="822960">
              <a:lnSpc>
                <a:spcPts val="5000"/>
              </a:lnSpc>
              <a:spcBef>
                <a:spcPts val="0"/>
              </a:spcBef>
              <a:buSzTx/>
              <a:buNone/>
              <a:defRPr spc="0" sz="3000">
                <a:latin typeface="Menlo Regular"/>
                <a:ea typeface="Menlo Regular"/>
                <a:cs typeface="Menlo Regular"/>
                <a:sym typeface="Menlo Regular"/>
              </a:defRPr>
            </a:pPr>
            <a:r>
              <a:t>    } </a:t>
            </a:r>
            <a:r>
              <a:rPr>
                <a:solidFill>
                  <a:srgbClr val="3DCCCC"/>
                </a:solidFill>
              </a:rPr>
              <a:t>else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self.</a:t>
            </a:r>
            <a:r>
              <a:rPr>
                <a:solidFill>
                  <a:srgbClr val="6CCE66"/>
                </a:solidFill>
              </a:rPr>
              <a:t>birthName</a:t>
            </a:r>
            <a:r>
              <a:t> = birthName</a:t>
            </a:r>
          </a:p>
          <a:p>
            <a:pPr marL="0" indent="0" defTabSz="822960">
              <a:lnSpc>
                <a:spcPts val="5000"/>
              </a:lnSpc>
              <a:spcBef>
                <a:spcPts val="0"/>
              </a:spcBef>
              <a:buSzTx/>
              <a:buNone/>
              <a:defRPr spc="0" sz="3000">
                <a:latin typeface="Menlo Regular"/>
                <a:ea typeface="Menlo Regular"/>
                <a:cs typeface="Menlo Regular"/>
                <a:sym typeface="Menlo Regular"/>
              </a:defRPr>
            </a:pPr>
            <a:r>
              <a:t>      self.</a:t>
            </a:r>
            <a:r>
              <a:rPr>
                <a:solidFill>
                  <a:srgbClr val="6CCE66"/>
                </a:solidFill>
              </a:rPr>
              <a:t>monthsOld</a:t>
            </a:r>
            <a:r>
              <a:t> = monthsOld</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
        <p:nvSpPr>
          <p:cNvPr id="210" name="struct Toddler {…"/>
          <p:cNvSpPr/>
          <p:nvPr/>
        </p:nvSpPr>
        <p:spPr>
          <a:xfrm>
            <a:off x="11995015" y="3911600"/>
            <a:ext cx="11237285" cy="8547100"/>
          </a:xfrm>
          <a:prstGeom prst="rect">
            <a:avLst/>
          </a:prstGeom>
          <a:ln w="25400">
            <a:solidFill>
              <a:srgbClr val="000000"/>
            </a:solidFill>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lgn="l" defTabSz="822960">
              <a:lnSpc>
                <a:spcPts val="5000"/>
              </a:lnSpc>
              <a:defRPr sz="3000">
                <a:latin typeface="Menlo Regular"/>
                <a:ea typeface="Menlo Regular"/>
                <a:cs typeface="Menlo Regular"/>
                <a:sym typeface="Menlo Regular"/>
              </a:defRPr>
            </a:pPr>
            <a:r>
              <a:rPr>
                <a:solidFill>
                  <a:srgbClr val="3DCCCC"/>
                </a:solidFill>
              </a:rPr>
              <a:t>struct</a:t>
            </a:r>
            <a:r>
              <a:t> Toddler {</a:t>
            </a:r>
          </a:p>
          <a:p>
            <a:pPr algn="l" defTabSz="822960">
              <a:lnSpc>
                <a:spcPts val="5000"/>
              </a:lnSpc>
              <a:defRPr sz="3000">
                <a:latin typeface="Menlo Regular"/>
                <a:ea typeface="Menlo Regular"/>
                <a:cs typeface="Menlo Regular"/>
                <a:sym typeface="Menlo Regular"/>
              </a:defRPr>
            </a:pPr>
            <a:r>
              <a:t>  </a:t>
            </a:r>
            <a:r>
              <a:rPr>
                <a:solidFill>
                  <a:srgbClr val="3DCCCC"/>
                </a:solidFill>
              </a:rPr>
              <a:t>var</a:t>
            </a:r>
            <a:r>
              <a:t> birthName: </a:t>
            </a:r>
            <a:r>
              <a:rPr>
                <a:solidFill>
                  <a:srgbClr val="6CCE66"/>
                </a:solidFill>
              </a:rPr>
              <a:t>String</a:t>
            </a:r>
          </a:p>
          <a:p>
            <a:pPr algn="l" defTabSz="822960">
              <a:lnSpc>
                <a:spcPts val="5000"/>
              </a:lnSpc>
              <a:defRPr sz="3000">
                <a:latin typeface="Menlo Regular"/>
                <a:ea typeface="Menlo Regular"/>
                <a:cs typeface="Menlo Regular"/>
                <a:sym typeface="Menlo Regular"/>
              </a:defRPr>
            </a:pPr>
            <a:r>
              <a:t>  </a:t>
            </a:r>
            <a:r>
              <a:rPr>
                <a:solidFill>
                  <a:srgbClr val="3DCCCC"/>
                </a:solidFill>
              </a:rPr>
              <a:t>var</a:t>
            </a:r>
            <a:r>
              <a:t> monthsOld: </a:t>
            </a:r>
            <a:r>
              <a:rPr>
                <a:solidFill>
                  <a:srgbClr val="6CCE66"/>
                </a:solidFill>
              </a:rPr>
              <a:t>Int</a:t>
            </a:r>
          </a:p>
          <a:p>
            <a:pPr algn="l" defTabSz="822960">
              <a:lnSpc>
                <a:spcPts val="5000"/>
              </a:lnSpc>
              <a:defRPr sz="3000">
                <a:latin typeface="Menlo Regular"/>
                <a:ea typeface="Menlo Regular"/>
                <a:cs typeface="Menlo Regular"/>
                <a:sym typeface="Menlo Regular"/>
              </a:defRPr>
            </a:pPr>
          </a:p>
          <a:p>
            <a:pPr algn="l" defTabSz="822960">
              <a:lnSpc>
                <a:spcPts val="5000"/>
              </a:lnSpc>
              <a:defRPr sz="3000">
                <a:latin typeface="Menlo Regular"/>
                <a:ea typeface="Menlo Regular"/>
                <a:cs typeface="Menlo Regular"/>
                <a:sym typeface="Menlo Regular"/>
              </a:defRPr>
            </a:pPr>
            <a:r>
              <a:t>  </a:t>
            </a:r>
            <a:r>
              <a:rPr>
                <a:solidFill>
                  <a:srgbClr val="3DCCCC"/>
                </a:solidFill>
              </a:rPr>
              <a:t>init</a:t>
            </a:r>
            <a:r>
              <a:t>?(birthName: </a:t>
            </a:r>
            <a:r>
              <a:rPr>
                <a:solidFill>
                  <a:srgbClr val="6CCE66"/>
                </a:solidFill>
              </a:rPr>
              <a:t>String</a:t>
            </a:r>
            <a:r>
              <a:t>, monthsOld: </a:t>
            </a:r>
            <a:r>
              <a:rPr>
                <a:solidFill>
                  <a:srgbClr val="6CCE66"/>
                </a:solidFill>
              </a:rPr>
              <a:t>Int</a:t>
            </a:r>
            <a:r>
              <a:t>) {</a:t>
            </a:r>
          </a:p>
          <a:p>
            <a:pPr algn="l" defTabSz="822960">
              <a:lnSpc>
                <a:spcPts val="5000"/>
              </a:lnSpc>
              <a:defRPr sz="3000">
                <a:latin typeface="Menlo Regular"/>
                <a:ea typeface="Menlo Regular"/>
                <a:cs typeface="Menlo Regular"/>
                <a:sym typeface="Menlo Regular"/>
              </a:defRPr>
            </a:pPr>
            <a:r>
              <a:t>    </a:t>
            </a:r>
            <a:r>
              <a:rPr>
                <a:solidFill>
                  <a:srgbClr val="3DCCCC"/>
                </a:solidFill>
              </a:rPr>
              <a:t>if</a:t>
            </a:r>
            <a:r>
              <a:t> birthName.isEmpty {</a:t>
            </a:r>
          </a:p>
          <a:p>
            <a:pPr algn="l" defTabSz="822960">
              <a:lnSpc>
                <a:spcPts val="5000"/>
              </a:lnSpc>
              <a:defRPr sz="3000">
                <a:latin typeface="Menlo Regular"/>
                <a:ea typeface="Menlo Regular"/>
                <a:cs typeface="Menlo Regular"/>
                <a:sym typeface="Menlo Regular"/>
              </a:defRPr>
            </a:pPr>
            <a:r>
              <a:t>      </a:t>
            </a:r>
            <a:r>
              <a:rPr>
                <a:solidFill>
                  <a:srgbClr val="3DCCCC"/>
                </a:solidFill>
              </a:rPr>
              <a:t>return nil</a:t>
            </a:r>
          </a:p>
          <a:p>
            <a:pPr algn="l" defTabSz="822960">
              <a:lnSpc>
                <a:spcPts val="5000"/>
              </a:lnSpc>
              <a:defRPr sz="3000">
                <a:latin typeface="Menlo Regular"/>
                <a:ea typeface="Menlo Regular"/>
                <a:cs typeface="Menlo Regular"/>
                <a:sym typeface="Menlo Regular"/>
              </a:defRPr>
            </a:pPr>
            <a:r>
              <a:t>    } </a:t>
            </a:r>
            <a:r>
              <a:rPr>
                <a:solidFill>
                  <a:srgbClr val="3DCCCC"/>
                </a:solidFill>
              </a:rPr>
              <a:t>else</a:t>
            </a:r>
            <a:r>
              <a:t> {</a:t>
            </a:r>
          </a:p>
          <a:p>
            <a:pPr algn="l" defTabSz="822960">
              <a:lnSpc>
                <a:spcPts val="5000"/>
              </a:lnSpc>
              <a:defRPr sz="3000">
                <a:latin typeface="Menlo Regular"/>
                <a:ea typeface="Menlo Regular"/>
                <a:cs typeface="Menlo Regular"/>
                <a:sym typeface="Menlo Regular"/>
              </a:defRPr>
            </a:pPr>
            <a:r>
              <a:t>      self.</a:t>
            </a:r>
            <a:r>
              <a:rPr>
                <a:solidFill>
                  <a:srgbClr val="6CCE66"/>
                </a:solidFill>
              </a:rPr>
              <a:t>birthName</a:t>
            </a:r>
            <a:r>
              <a:t> = birthName</a:t>
            </a:r>
          </a:p>
          <a:p>
            <a:pPr algn="l" defTabSz="822960">
              <a:lnSpc>
                <a:spcPts val="5000"/>
              </a:lnSpc>
              <a:defRPr sz="3000">
                <a:latin typeface="Menlo Regular"/>
                <a:ea typeface="Menlo Regular"/>
                <a:cs typeface="Menlo Regular"/>
                <a:sym typeface="Menlo Regular"/>
              </a:defRPr>
            </a:pPr>
            <a:r>
              <a:t>      self.</a:t>
            </a:r>
            <a:r>
              <a:rPr>
                <a:solidFill>
                  <a:srgbClr val="6CCE66"/>
                </a:solidFill>
              </a:rPr>
              <a:t>monthsOld</a:t>
            </a:r>
            <a:r>
              <a:t> = monthsOld</a:t>
            </a:r>
          </a:p>
          <a:p>
            <a:pPr algn="l" defTabSz="822960">
              <a:lnSpc>
                <a:spcPts val="5000"/>
              </a:lnSpc>
              <a:defRPr sz="3000">
                <a:latin typeface="Menlo Regular"/>
                <a:ea typeface="Menlo Regular"/>
                <a:cs typeface="Menlo Regular"/>
                <a:sym typeface="Menlo Regular"/>
              </a:defRPr>
            </a:pPr>
            <a:r>
              <a:t>    }</a:t>
            </a:r>
          </a:p>
          <a:p>
            <a:pPr algn="l" defTabSz="822960">
              <a:lnSpc>
                <a:spcPts val="5000"/>
              </a:lnSpc>
              <a:defRPr sz="3000">
                <a:latin typeface="Menlo Regular"/>
                <a:ea typeface="Menlo Regular"/>
                <a:cs typeface="Menlo Regular"/>
                <a:sym typeface="Menlo Regular"/>
              </a:defRPr>
            </a:pPr>
            <a:r>
              <a:t>  }</a:t>
            </a:r>
          </a:p>
          <a:p>
            <a:pPr algn="l" defTabSz="822960">
              <a:lnSpc>
                <a:spcPts val="5000"/>
              </a:lnSpc>
              <a:defRPr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8" grpId="2"/>
      <p:bldP build="whole" bldLvl="1" animBg="1" rev="0" advAuto="0" spid="210" grpId="3"/>
      <p:bldP build="whole" bldLvl="1" animBg="1" rev="0" advAuto="0" spid="209" grpId="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15"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16" name="Rectangle"/>
          <p:cNvSpPr/>
          <p:nvPr/>
        </p:nvSpPr>
        <p:spPr>
          <a:xfrm>
            <a:off x="761516" y="3898900"/>
            <a:ext cx="22860968" cy="8662256"/>
          </a:xfrm>
          <a:prstGeom prst="rect">
            <a:avLst/>
          </a:prstGeom>
          <a:solidFill>
            <a:srgbClr val="292B38"/>
          </a:solidFill>
          <a:ln w="25400">
            <a:miter lim="400000"/>
          </a:ln>
        </p:spPr>
        <p:txBody>
          <a:bodyPr lIns="50800" tIns="50800" rIns="50800" bIns="50800" anchor="ctr"/>
          <a:lstStyle/>
          <a:p>
            <a:pPr>
              <a:defRPr>
                <a:solidFill>
                  <a:srgbClr val="292B37"/>
                </a:solidFill>
              </a:defRPr>
            </a:pPr>
          </a:p>
        </p:txBody>
      </p:sp>
      <p:sp>
        <p:nvSpPr>
          <p:cNvPr id="217" name="Failable initializers"/>
          <p:cNvSpPr/>
          <p:nvPr>
            <p:ph type="title"/>
          </p:nvPr>
        </p:nvSpPr>
        <p:spPr>
          <a:prstGeom prst="rect">
            <a:avLst/>
          </a:prstGeom>
        </p:spPr>
        <p:txBody>
          <a:bodyPr/>
          <a:lstStyle/>
          <a:p>
            <a:pPr/>
            <a:r>
              <a:t>Failable initializers</a:t>
            </a:r>
          </a:p>
        </p:txBody>
      </p:sp>
      <p:sp>
        <p:nvSpPr>
          <p:cNvPr id="218" name="init?(birthName: String, monthsOld: Int) {…"/>
          <p:cNvSpPr/>
          <p:nvPr>
            <p:ph type="body" idx="1"/>
          </p:nvPr>
        </p:nvSpPr>
        <p:spPr>
          <a:xfrm>
            <a:off x="3084904" y="4211989"/>
            <a:ext cx="19471152" cy="8221311"/>
          </a:xfrm>
          <a:prstGeom prst="rect">
            <a:avLst/>
          </a:prstGeom>
          <a:ln w="25400">
            <a:solidFill>
              <a:srgbClr val="000000"/>
            </a:solidFill>
          </a:ln>
        </p:spPr>
        <p:txBody>
          <a:bodyPr>
            <a:normAutofit fontScale="100000" lnSpcReduction="0"/>
          </a:bodyPr>
          <a:lstStyle/>
          <a:p>
            <a:pPr marL="0" indent="0" defTabSz="533400">
              <a:spcBef>
                <a:spcPts val="0"/>
              </a:spcBef>
              <a:buSzTx/>
              <a:buNone/>
              <a:tabLst>
                <a:tab pos="533400" algn="l"/>
              </a:tabLst>
              <a:defRPr spc="0" sz="4300">
                <a:solidFill>
                  <a:srgbClr val="4EB0CC"/>
                </a:solidFill>
                <a:latin typeface="Menlo Regular"/>
                <a:ea typeface="Menlo Regular"/>
                <a:cs typeface="Menlo Regular"/>
                <a:sym typeface="Menlo Regular"/>
              </a:defRPr>
            </a:pPr>
            <a:r>
              <a:rPr b="1">
                <a:solidFill>
                  <a:srgbClr val="FF7AB2"/>
                </a:solidFill>
              </a:rPr>
              <a:t>init</a:t>
            </a:r>
            <a:r>
              <a:rPr>
                <a:solidFill>
                  <a:srgbClr val="FFFFFF">
                    <a:alpha val="85000"/>
                  </a:srgbClr>
                </a:solidFill>
              </a:rPr>
              <a:t>?(</a:t>
            </a:r>
            <a:r>
              <a:t>birthName</a:t>
            </a:r>
            <a:r>
              <a:rPr>
                <a:solidFill>
                  <a:srgbClr val="FFFFFF">
                    <a:alpha val="85000"/>
                  </a:srgbClr>
                </a:solidFill>
              </a:rPr>
              <a:t>: </a:t>
            </a:r>
            <a:r>
              <a:rPr>
                <a:solidFill>
                  <a:srgbClr val="DABAFF"/>
                </a:solidFill>
              </a:rPr>
              <a:t>String</a:t>
            </a:r>
            <a:r>
              <a:rPr>
                <a:solidFill>
                  <a:srgbClr val="FFFFFF">
                    <a:alpha val="85000"/>
                  </a:srgbClr>
                </a:solidFill>
              </a:rPr>
              <a:t>, </a:t>
            </a:r>
            <a:r>
              <a:t>monthsOld</a:t>
            </a:r>
            <a:r>
              <a:rPr>
                <a:solidFill>
                  <a:srgbClr val="FFFFFF">
                    <a:alpha val="85000"/>
                  </a:srgbClr>
                </a:solidFill>
              </a:rPr>
              <a:t>: </a:t>
            </a:r>
            <a:r>
              <a:rPr>
                <a:solidFill>
                  <a:srgbClr val="DABAFF"/>
                </a:solidFill>
              </a:rPr>
              <a:t>Int</a:t>
            </a:r>
            <a:r>
              <a:rPr>
                <a:solidFill>
                  <a:srgbClr val="FFFFFF">
                    <a:alpha val="85000"/>
                  </a:srgbClr>
                </a:solidFill>
              </a:rPr>
              <a:t>) {</a:t>
            </a:r>
            <a:endParaRPr>
              <a:solidFill>
                <a:srgbClr val="FFFFFF">
                  <a:alpha val="85000"/>
                </a:srgbClr>
              </a:solidFill>
            </a:endParaRP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r>
              <a:rPr b="1">
                <a:solidFill>
                  <a:srgbClr val="FF7AB2"/>
                </a:solidFill>
              </a:rPr>
              <a:t>if</a:t>
            </a:r>
            <a:r>
              <a:t> birthName.isEmpty {</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r>
              <a:rPr b="1">
                <a:solidFill>
                  <a:srgbClr val="FF7AB2"/>
                </a:solidFill>
              </a:rPr>
              <a:t>return</a:t>
            </a:r>
            <a:r>
              <a:t> </a:t>
            </a:r>
            <a:r>
              <a:rPr b="1">
                <a:solidFill>
                  <a:srgbClr val="FF7AB2"/>
                </a:solidFill>
              </a:rPr>
              <a:t>nil</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 </a:t>
            </a:r>
            <a:r>
              <a:rPr b="1">
                <a:solidFill>
                  <a:srgbClr val="FF7AB2"/>
                </a:solidFill>
              </a:rPr>
              <a:t>else</a:t>
            </a:r>
            <a:r>
              <a:t> </a:t>
            </a:r>
            <a:r>
              <a:rPr b="1">
                <a:solidFill>
                  <a:srgbClr val="FF7AB2"/>
                </a:solidFill>
              </a:rPr>
              <a:t>if</a:t>
            </a:r>
            <a:r>
              <a:t> monthsOld &lt; </a:t>
            </a:r>
            <a:r>
              <a:rPr>
                <a:solidFill>
                  <a:srgbClr val="D9C97C"/>
                </a:solidFill>
              </a:rPr>
              <a:t>12</a:t>
            </a:r>
            <a:r>
              <a:t> || monthsOld &gt; </a:t>
            </a:r>
            <a:r>
              <a:rPr>
                <a:solidFill>
                  <a:srgbClr val="D9C97C"/>
                </a:solidFill>
              </a:rPr>
              <a:t>36</a:t>
            </a:r>
            <a:r>
              <a:t>{</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r>
              <a:rPr b="1">
                <a:solidFill>
                  <a:srgbClr val="FF7AB2"/>
                </a:solidFill>
              </a:rPr>
              <a:t>return</a:t>
            </a:r>
            <a:r>
              <a:t> </a:t>
            </a:r>
            <a:r>
              <a:rPr b="1">
                <a:solidFill>
                  <a:srgbClr val="FF7AB2"/>
                </a:solidFill>
              </a:rPr>
              <a:t>nil</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r>
              <a:rPr b="1">
                <a:solidFill>
                  <a:srgbClr val="FF7AB2"/>
                </a:solidFill>
              </a:rPr>
              <a:t>else</a:t>
            </a:r>
            <a:r>
              <a:t> {</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r>
              <a:rPr b="1">
                <a:solidFill>
                  <a:srgbClr val="FF7AB2"/>
                </a:solidFill>
              </a:rPr>
              <a:t>self</a:t>
            </a:r>
            <a:r>
              <a:t>.</a:t>
            </a:r>
            <a:r>
              <a:rPr>
                <a:solidFill>
                  <a:srgbClr val="78C2B3"/>
                </a:solidFill>
              </a:rPr>
              <a:t>birthName</a:t>
            </a:r>
            <a:r>
              <a:t> = birthName</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r>
              <a:rPr b="1">
                <a:solidFill>
                  <a:srgbClr val="FF7AB2"/>
                </a:solidFill>
              </a:rPr>
              <a:t>self</a:t>
            </a:r>
            <a:r>
              <a:t>.</a:t>
            </a:r>
            <a:r>
              <a:rPr>
                <a:solidFill>
                  <a:srgbClr val="78C2B3"/>
                </a:solidFill>
              </a:rPr>
              <a:t>monthsOld</a:t>
            </a:r>
            <a:r>
              <a:t> = monthsOld</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p>
          <a:p>
            <a:pPr marL="0" indent="0" defTabSz="533400">
              <a:spcBef>
                <a:spcPts val="0"/>
              </a:spcBef>
              <a:buSzTx/>
              <a:buNone/>
              <a:tabLst>
                <a:tab pos="533400" algn="l"/>
              </a:tabLst>
              <a:defRPr spc="0" sz="4300">
                <a:solidFill>
                  <a:srgbClr val="FFFFFF">
                    <a:alpha val="85000"/>
                  </a:srgbClr>
                </a:solidFill>
                <a:latin typeface="Menlo Regular"/>
                <a:ea typeface="Menlo Regular"/>
                <a:cs typeface="Menlo Regular"/>
                <a:sym typeface="Menlo Regular"/>
              </a:defRPr>
            </a:pPr>
            <a:r>
              <a:t>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8"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2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24" name="Rectangle"/>
          <p:cNvSpPr/>
          <p:nvPr/>
        </p:nvSpPr>
        <p:spPr>
          <a:xfrm>
            <a:off x="761516" y="3898900"/>
            <a:ext cx="22860968" cy="8662256"/>
          </a:xfrm>
          <a:prstGeom prst="rect">
            <a:avLst/>
          </a:prstGeom>
          <a:solidFill>
            <a:srgbClr val="292B38"/>
          </a:solidFill>
          <a:ln w="25400">
            <a:miter lim="400000"/>
          </a:ln>
        </p:spPr>
        <p:txBody>
          <a:bodyPr lIns="50800" tIns="50800" rIns="50800" bIns="50800" anchor="ctr"/>
          <a:lstStyle/>
          <a:p>
            <a:pPr>
              <a:defRPr>
                <a:solidFill>
                  <a:srgbClr val="292B37"/>
                </a:solidFill>
              </a:defRPr>
            </a:pPr>
          </a:p>
        </p:txBody>
      </p:sp>
      <p:sp>
        <p:nvSpPr>
          <p:cNvPr id="225" name="Failable initializers"/>
          <p:cNvSpPr/>
          <p:nvPr>
            <p:ph type="title"/>
          </p:nvPr>
        </p:nvSpPr>
        <p:spPr>
          <a:prstGeom prst="rect">
            <a:avLst/>
          </a:prstGeom>
        </p:spPr>
        <p:txBody>
          <a:bodyPr/>
          <a:lstStyle/>
          <a:p>
            <a:pPr/>
            <a:r>
              <a:t>Failable initializers</a:t>
            </a:r>
          </a:p>
        </p:txBody>
      </p:sp>
      <p:sp>
        <p:nvSpPr>
          <p:cNvPr id="226" name="let myToddler = Toddler(birthName: &quot;Todd&quot;, monthsOld: 40)…"/>
          <p:cNvSpPr/>
          <p:nvPr>
            <p:ph type="body" sz="quarter" idx="1"/>
          </p:nvPr>
        </p:nvSpPr>
        <p:spPr>
          <a:xfrm>
            <a:off x="3010938" y="5176976"/>
            <a:ext cx="19471152" cy="2677935"/>
          </a:xfrm>
          <a:prstGeom prst="rect">
            <a:avLst/>
          </a:prstGeom>
          <a:ln w="25400">
            <a:solidFill>
              <a:srgbClr val="000000"/>
            </a:solidFill>
          </a:ln>
        </p:spPr>
        <p:txBody>
          <a:bodyPr>
            <a:normAutofit fontScale="100000" lnSpcReduction="0"/>
          </a:bodyPr>
          <a:lstStyle/>
          <a:p>
            <a:pPr marL="0" indent="0" defTabSz="533400">
              <a:spcBef>
                <a:spcPts val="0"/>
              </a:spcBef>
              <a:buSzTx/>
              <a:buNone/>
              <a:tabLst>
                <a:tab pos="533400" algn="l"/>
              </a:tabLst>
              <a:defRPr spc="0" sz="4200">
                <a:solidFill>
                  <a:srgbClr val="4EB0CC"/>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t>myToddler</a:t>
            </a:r>
            <a:r>
              <a:rPr>
                <a:solidFill>
                  <a:srgbClr val="FFFFFF">
                    <a:alpha val="85000"/>
                  </a:srgbClr>
                </a:solidFill>
              </a:rPr>
              <a:t> = </a:t>
            </a:r>
            <a:r>
              <a:rPr>
                <a:solidFill>
                  <a:srgbClr val="ACF2E4"/>
                </a:solidFill>
              </a:rPr>
              <a:t>Toddler</a:t>
            </a:r>
            <a:r>
              <a:rPr>
                <a:solidFill>
                  <a:srgbClr val="FFFFFF">
                    <a:alpha val="85000"/>
                  </a:srgbClr>
                </a:solidFill>
              </a:rPr>
              <a:t>(</a:t>
            </a:r>
            <a:r>
              <a:rPr>
                <a:solidFill>
                  <a:srgbClr val="ACF2E4"/>
                </a:solidFill>
              </a:rPr>
              <a:t>birthName</a:t>
            </a:r>
            <a:r>
              <a:rPr>
                <a:solidFill>
                  <a:srgbClr val="FFFFFF">
                    <a:alpha val="85000"/>
                  </a:srgbClr>
                </a:solidFill>
              </a:rPr>
              <a:t>: </a:t>
            </a:r>
            <a:r>
              <a:rPr>
                <a:solidFill>
                  <a:srgbClr val="FF8170"/>
                </a:solidFill>
              </a:rPr>
              <a:t>"Todd"</a:t>
            </a:r>
            <a:r>
              <a:rPr>
                <a:solidFill>
                  <a:srgbClr val="FFFFFF">
                    <a:alpha val="85000"/>
                  </a:srgbClr>
                </a:solidFill>
              </a:rPr>
              <a:t>, </a:t>
            </a:r>
            <a:r>
              <a:rPr>
                <a:solidFill>
                  <a:srgbClr val="ACF2E4"/>
                </a:solidFill>
              </a:rPr>
              <a:t>monthsOld</a:t>
            </a:r>
            <a:r>
              <a:rPr>
                <a:solidFill>
                  <a:srgbClr val="FFFFFF">
                    <a:alpha val="85000"/>
                  </a:srgbClr>
                </a:solidFill>
              </a:rPr>
              <a:t>: </a:t>
            </a:r>
            <a:r>
              <a:rPr>
                <a:solidFill>
                  <a:srgbClr val="D9C97C"/>
                </a:solidFill>
              </a:rPr>
              <a:t>40</a:t>
            </a:r>
            <a:r>
              <a:rPr>
                <a:solidFill>
                  <a:srgbClr val="FFFFFF">
                    <a:alpha val="85000"/>
                  </a:srgbClr>
                </a:solidFill>
              </a:rPr>
              <a:t>)</a:t>
            </a:r>
            <a:endParaRPr>
              <a:solidFill>
                <a:srgbClr val="FFFFFF">
                  <a:alpha val="85000"/>
                </a:srgbClr>
              </a:solidFill>
            </a:endParaRPr>
          </a:p>
          <a:p>
            <a:pPr marL="0" indent="0" defTabSz="533400">
              <a:spcBef>
                <a:spcPts val="0"/>
              </a:spcBef>
              <a:buSzTx/>
              <a:buNone/>
              <a:tabLst>
                <a:tab pos="533400" algn="l"/>
              </a:tabLst>
              <a:defRPr spc="0" sz="4200">
                <a:solidFill>
                  <a:srgbClr val="78C2B3"/>
                </a:solidFill>
                <a:latin typeface="Menlo Regular"/>
                <a:ea typeface="Menlo Regular"/>
                <a:cs typeface="Menlo Regular"/>
                <a:sym typeface="Menlo Regular"/>
              </a:defRPr>
            </a:pPr>
            <a:r>
              <a:t>myToddler</a:t>
            </a:r>
            <a:r>
              <a:rPr>
                <a:solidFill>
                  <a:srgbClr val="FFFFFF">
                    <a:alpha val="85000"/>
                  </a:srgbClr>
                </a:solidFill>
              </a:rPr>
              <a:t>?.</a:t>
            </a:r>
            <a:r>
              <a:t>birthName</a:t>
            </a:r>
          </a:p>
        </p:txBody>
      </p:sp>
      <p:sp>
        <p:nvSpPr>
          <p:cNvPr id="227" name="Returns Optional : It creates an optional instance of the type it is initializing. The return value is either a fully initialized instance or nil."/>
          <p:cNvSpPr txBox="1"/>
          <p:nvPr/>
        </p:nvSpPr>
        <p:spPr>
          <a:xfrm>
            <a:off x="3008516" y="9093649"/>
            <a:ext cx="20511516" cy="1012258"/>
          </a:xfrm>
          <a:prstGeom prst="rect">
            <a:avLst/>
          </a:prstGeom>
          <a:ln w="25400">
            <a:miter lim="400000"/>
          </a:ln>
          <a:extLst>
            <a:ext uri="{C572A759-6A51-4108-AA02-DFA0A04FC94B}">
              <ma14:wrappingTextBoxFlag xmlns:ma14="http://schemas.microsoft.com/office/mac/drawingml/2011/main" val="1"/>
            </a:ext>
          </a:extLst>
        </p:spPr>
        <p:txBody>
          <a:bodyPr lIns="63500" tIns="63500" rIns="63500" bIns="63500" anchor="ctr">
            <a:spAutoFit/>
          </a:bodyPr>
          <a:lstStyle/>
          <a:p>
            <a:pPr marL="354134" indent="-354134" algn="l">
              <a:buSzPct val="50000"/>
              <a:buBlip>
                <a:blip r:embed="rId3"/>
              </a:buBlip>
              <a:defRPr b="1" sz="2900"/>
            </a:pPr>
            <a:r>
              <a:t>Returns Optional : </a:t>
            </a:r>
            <a:r>
              <a:t>It creates an optional instance of the type it is initializing. The return value is either a fully initialized instance or </a:t>
            </a:r>
            <a:r>
              <a:rPr>
                <a:latin typeface="Menlo Regular"/>
                <a:ea typeface="Menlo Regular"/>
                <a:cs typeface="Menlo Regular"/>
                <a:sym typeface="Menlo Regular"/>
              </a:rPr>
              <a:t>nil</a:t>
            </a:r>
            <a:r>
              <a: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26" grpId="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32"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33" name="Rectangle"/>
          <p:cNvSpPr/>
          <p:nvPr/>
        </p:nvSpPr>
        <p:spPr>
          <a:xfrm>
            <a:off x="761516" y="3898900"/>
            <a:ext cx="22860968" cy="4295385"/>
          </a:xfrm>
          <a:prstGeom prst="rect">
            <a:avLst/>
          </a:prstGeom>
          <a:solidFill>
            <a:srgbClr val="292B38"/>
          </a:solidFill>
          <a:ln w="25400">
            <a:miter lim="400000"/>
          </a:ln>
        </p:spPr>
        <p:txBody>
          <a:bodyPr lIns="50800" tIns="50800" rIns="50800" bIns="50800" anchor="ctr"/>
          <a:lstStyle/>
          <a:p>
            <a:pPr/>
          </a:p>
        </p:txBody>
      </p:sp>
      <p:sp>
        <p:nvSpPr>
          <p:cNvPr id="234" name="Failable initializers"/>
          <p:cNvSpPr/>
          <p:nvPr>
            <p:ph type="title"/>
          </p:nvPr>
        </p:nvSpPr>
        <p:spPr>
          <a:prstGeom prst="rect">
            <a:avLst/>
          </a:prstGeom>
        </p:spPr>
        <p:txBody>
          <a:bodyPr/>
          <a:lstStyle/>
          <a:p>
            <a:pPr/>
            <a:r>
              <a:t>Failable initializers</a:t>
            </a:r>
          </a:p>
        </p:txBody>
      </p:sp>
      <p:sp>
        <p:nvSpPr>
          <p:cNvPr id="235" name="let possibleToddler = Toddler(birthName: &quot;Joanna&quot;, monthsOld: 14)…"/>
          <p:cNvSpPr/>
          <p:nvPr>
            <p:ph type="body" idx="1"/>
          </p:nvPr>
        </p:nvSpPr>
        <p:spPr>
          <a:xfrm>
            <a:off x="1143000" y="3911600"/>
            <a:ext cx="22098000" cy="8395510"/>
          </a:xfrm>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possibleToddler = </a:t>
            </a:r>
            <a:r>
              <a:rPr>
                <a:solidFill>
                  <a:srgbClr val="6CCE66"/>
                </a:solidFill>
              </a:rPr>
              <a:t>Toddler</a:t>
            </a:r>
            <a:r>
              <a:t>(birthName: </a:t>
            </a:r>
            <a:r>
              <a:rPr>
                <a:solidFill>
                  <a:srgbClr val="F95B57"/>
                </a:solidFill>
              </a:rPr>
              <a:t>"Joanna"</a:t>
            </a:r>
            <a:r>
              <a:t>, monthsOld: 14)</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3DCCCC"/>
                </a:solidFill>
              </a:rPr>
              <a:t>let</a:t>
            </a:r>
            <a:r>
              <a:t> toddler = </a:t>
            </a:r>
            <a:r>
              <a:rPr>
                <a:solidFill>
                  <a:srgbClr val="6CCE66"/>
                </a:solidFill>
              </a:rPr>
              <a:t>possibleToddler</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a:t>
            </a:r>
            <a:r>
              <a:t>\</a:t>
            </a:r>
            <a:r>
              <a:rPr>
                <a:solidFill>
                  <a:srgbClr val="F95B57"/>
                </a:solidFill>
              </a:rPr>
              <a:t>(</a:t>
            </a:r>
            <a:r>
              <a:t>toddler.</a:t>
            </a:r>
            <a:r>
              <a:rPr>
                <a:solidFill>
                  <a:srgbClr val="6CCE66"/>
                </a:solidFill>
              </a:rPr>
              <a:t>birthName</a:t>
            </a:r>
            <a:r>
              <a:rPr>
                <a:solidFill>
                  <a:srgbClr val="F95B57"/>
                </a:solidFill>
              </a:rPr>
              <a:t>) is </a:t>
            </a:r>
            <a:r>
              <a:t>\</a:t>
            </a:r>
            <a:r>
              <a:rPr>
                <a:solidFill>
                  <a:srgbClr val="F95B57"/>
                </a:solidFill>
              </a:rPr>
              <a:t>(</a:t>
            </a:r>
            <a:r>
              <a:t>toddler.</a:t>
            </a:r>
            <a:r>
              <a:rPr>
                <a:solidFill>
                  <a:srgbClr val="6CCE66"/>
                </a:solidFill>
              </a:rPr>
              <a:t>monthsOld</a:t>
            </a:r>
            <a:r>
              <a:t>)</a:t>
            </a:r>
            <a:r>
              <a:rPr>
                <a:solidFill>
                  <a:srgbClr val="F95B57"/>
                </a:solidFill>
              </a:rPr>
              <a:t> months old"</a:t>
            </a:r>
            <a:r>
              <a:t>)</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else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 age you specified for the toddler is not between 1 and 3 yrs of age"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900">
                <a:latin typeface="Menlo Regular"/>
                <a:ea typeface="Menlo Regular"/>
                <a:cs typeface="Menlo Regular"/>
                <a:sym typeface="Menlo Regular"/>
              </a:defRPr>
            </a:pPr>
          </a:p>
          <a:p>
            <a:pPr marL="228600" indent="-228600" defTabSz="457200">
              <a:lnSpc>
                <a:spcPct val="120000"/>
              </a:lnSpc>
              <a:spcBef>
                <a:spcPts val="1200"/>
              </a:spcBef>
              <a:buSzPct val="100000"/>
              <a:defRPr spc="0" sz="3900"/>
            </a:pPr>
            <a:r>
              <a:t> The return type will be </a:t>
            </a:r>
            <a:r>
              <a:rPr>
                <a:solidFill>
                  <a:srgbClr val="FFFB00"/>
                </a:solidFill>
                <a:latin typeface="Menlo Regular"/>
                <a:ea typeface="Menlo Regular"/>
                <a:cs typeface="Menlo Regular"/>
                <a:sym typeface="Menlo Regular"/>
              </a:rPr>
              <a:t>Toddler?</a:t>
            </a:r>
            <a:r>
              <a:t> so you need to unwrap with if/let (Optional Binding) or something.</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40"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41" name="Failable initializers"/>
          <p:cNvSpPr/>
          <p:nvPr>
            <p:ph type="title"/>
          </p:nvPr>
        </p:nvSpPr>
        <p:spPr>
          <a:prstGeom prst="rect">
            <a:avLst/>
          </a:prstGeom>
        </p:spPr>
        <p:txBody>
          <a:bodyPr/>
          <a:lstStyle/>
          <a:p>
            <a:pPr/>
            <a:r>
              <a:t>Failable initializers</a:t>
            </a:r>
          </a:p>
        </p:txBody>
      </p:sp>
      <p:sp>
        <p:nvSpPr>
          <p:cNvPr id="242" name="init! Failable Initializers…"/>
          <p:cNvSpPr/>
          <p:nvPr>
            <p:ph type="body" idx="1"/>
          </p:nvPr>
        </p:nvSpPr>
        <p:spPr>
          <a:xfrm>
            <a:off x="1143000" y="2956499"/>
            <a:ext cx="22098000" cy="9350611"/>
          </a:xfrm>
          <a:prstGeom prst="rect">
            <a:avLst/>
          </a:prstGeom>
        </p:spPr>
        <p:txBody>
          <a:bodyPr/>
          <a:lstStyle/>
          <a:p>
            <a:pPr marL="0" indent="0" defTabSz="457200">
              <a:spcBef>
                <a:spcPts val="1200"/>
              </a:spcBef>
              <a:buSzTx/>
              <a:buNone/>
              <a:defRPr b="1" spc="0" sz="4400" u="sng">
                <a:solidFill>
                  <a:srgbClr val="FF9300"/>
                </a:solidFill>
              </a:defRPr>
            </a:pPr>
            <a:r>
              <a:rPr>
                <a:latin typeface="Menlo Regular"/>
                <a:ea typeface="Menlo Regular"/>
                <a:cs typeface="Menlo Regular"/>
                <a:sym typeface="Menlo Regular"/>
              </a:rPr>
              <a:t>init!</a:t>
            </a:r>
            <a:r>
              <a:t> Failable Initializers </a:t>
            </a:r>
          </a:p>
          <a:p>
            <a:pPr marL="537307" indent="-537307" defTabSz="457200">
              <a:spcBef>
                <a:spcPts val="0"/>
              </a:spcBef>
              <a:buSzPct val="50000"/>
              <a:buBlip>
                <a:blip r:embed="rId3"/>
              </a:buBlip>
              <a:defRPr spc="0" sz="4400">
                <a:solidFill>
                  <a:srgbClr val="E6E8F0"/>
                </a:solidFill>
              </a:defRPr>
            </a:pPr>
          </a:p>
          <a:p>
            <a:pPr marL="537307" indent="-537307" defTabSz="457200">
              <a:lnSpc>
                <a:spcPct val="120000"/>
              </a:lnSpc>
              <a:spcBef>
                <a:spcPts val="0"/>
              </a:spcBef>
              <a:buSzPct val="50000"/>
              <a:buBlip>
                <a:blip r:embed="rId3"/>
              </a:buBlip>
              <a:defRPr spc="0" sz="4400">
                <a:solidFill>
                  <a:srgbClr val="E6E8F0"/>
                </a:solidFill>
              </a:defRPr>
            </a:pPr>
            <a:r>
              <a:t>Swift also offers a failable initializer that creates an implicitly unwrapped optional instance, denoted by </a:t>
            </a:r>
            <a:r>
              <a:rPr>
                <a:solidFill>
                  <a:srgbClr val="E6A845"/>
                </a:solidFill>
                <a:latin typeface="Menlo Regular"/>
                <a:ea typeface="Menlo Regular"/>
                <a:cs typeface="Menlo Regular"/>
                <a:sym typeface="Menlo Regular"/>
              </a:rPr>
              <a:t>init!</a:t>
            </a:r>
            <a:r>
              <a:t>. </a:t>
            </a:r>
          </a:p>
          <a:p>
            <a:pPr marL="537307" indent="-537307" defTabSz="457200">
              <a:lnSpc>
                <a:spcPct val="120000"/>
              </a:lnSpc>
              <a:spcBef>
                <a:spcPts val="0"/>
              </a:spcBef>
              <a:buSzPct val="50000"/>
              <a:buBlip>
                <a:blip r:embed="rId3"/>
              </a:buBlip>
              <a:defRPr spc="0" sz="4400">
                <a:solidFill>
                  <a:srgbClr val="E6E8F0"/>
                </a:solidFill>
              </a:defRPr>
            </a:pPr>
            <a:r>
              <a:t>This can be used when the failure condition is highly unlikely, but if it occurs, it will cause a runtime crash. </a:t>
            </a:r>
          </a:p>
          <a:p>
            <a:pPr marL="537307" indent="-537307" defTabSz="457200">
              <a:lnSpc>
                <a:spcPct val="120000"/>
              </a:lnSpc>
              <a:spcBef>
                <a:spcPts val="0"/>
              </a:spcBef>
              <a:buSzPct val="50000"/>
              <a:buBlip>
                <a:blip r:embed="rId3"/>
              </a:buBlip>
              <a:defRPr spc="0" sz="4400">
                <a:solidFill>
                  <a:srgbClr val="E6E8F0"/>
                </a:solidFill>
              </a:defRPr>
            </a:pPr>
            <a:r>
              <a:t>This is often used for interoperability with some Objective-C frameworks where Swift doesn't know if the initializer can return nil. </a:t>
            </a:r>
          </a:p>
          <a:p>
            <a:pPr marL="537307" indent="-537307" defTabSz="457200">
              <a:lnSpc>
                <a:spcPct val="120000"/>
              </a:lnSpc>
              <a:spcBef>
                <a:spcPts val="0"/>
              </a:spcBef>
              <a:buSzPct val="50000"/>
              <a:buBlip>
                <a:blip r:embed="rId3"/>
              </a:buBlip>
              <a:defRPr spc="0" sz="4400">
                <a:solidFill>
                  <a:srgbClr val="E6E8F0"/>
                </a:solidFill>
              </a:defRPr>
            </a:pPr>
            <a:r>
              <a:t>In most pure Swift code, </a:t>
            </a:r>
            <a:r>
              <a:rPr>
                <a:latin typeface="Menlo Regular"/>
                <a:ea typeface="Menlo Regular"/>
                <a:cs typeface="Menlo Regular"/>
                <a:sym typeface="Menlo Regular"/>
              </a:rPr>
              <a:t>init?</a:t>
            </a:r>
            <a:r>
              <a:t> is preferred. </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47"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48" name="Rectangle"/>
          <p:cNvSpPr/>
          <p:nvPr/>
        </p:nvSpPr>
        <p:spPr>
          <a:xfrm>
            <a:off x="761516" y="3898900"/>
            <a:ext cx="22860968" cy="9144000"/>
          </a:xfrm>
          <a:prstGeom prst="rect">
            <a:avLst/>
          </a:prstGeom>
          <a:solidFill>
            <a:srgbClr val="292B38"/>
          </a:solidFill>
          <a:ln w="25400">
            <a:miter lim="400000"/>
          </a:ln>
        </p:spPr>
        <p:txBody>
          <a:bodyPr lIns="50800" tIns="50800" rIns="50800" bIns="50800" anchor="ctr"/>
          <a:lstStyle/>
          <a:p>
            <a:pPr/>
          </a:p>
        </p:txBody>
      </p:sp>
      <p:sp>
        <p:nvSpPr>
          <p:cNvPr id="249" name="Optional chaining"/>
          <p:cNvSpPr/>
          <p:nvPr>
            <p:ph type="title"/>
          </p:nvPr>
        </p:nvSpPr>
        <p:spPr>
          <a:prstGeom prst="rect">
            <a:avLst/>
          </a:prstGeom>
        </p:spPr>
        <p:txBody>
          <a:bodyPr/>
          <a:lstStyle/>
          <a:p>
            <a:pPr/>
            <a:r>
              <a:t>Optional chaining</a:t>
            </a:r>
          </a:p>
        </p:txBody>
      </p:sp>
      <p:sp>
        <p:nvSpPr>
          <p:cNvPr id="250" name="Optional chaining is a safe and concise way in Swift to query and call properties, methods, and subscripts on an optional value that might be nil.…"/>
          <p:cNvSpPr txBox="1"/>
          <p:nvPr/>
        </p:nvSpPr>
        <p:spPr>
          <a:xfrm>
            <a:off x="1765738" y="5367809"/>
            <a:ext cx="20236888" cy="7094290"/>
          </a:xfrm>
          <a:prstGeom prst="rect">
            <a:avLst/>
          </a:prstGeom>
          <a:ln w="25400">
            <a:miter lim="400000"/>
          </a:ln>
          <a:extLst>
            <a:ext uri="{C572A759-6A51-4108-AA02-DFA0A04FC94B}">
              <ma14:wrappingTextBoxFlag xmlns:ma14="http://schemas.microsoft.com/office/mac/drawingml/2011/main" val="1"/>
            </a:ext>
          </a:extLst>
        </p:spPr>
        <p:txBody>
          <a:bodyPr lIns="63500" tIns="63500" rIns="63500" bIns="63500" anchor="ctr">
            <a:spAutoFit/>
          </a:bodyPr>
          <a:lstStyle/>
          <a:p>
            <a:pPr marL="488461" indent="-488461" algn="just" defTabSz="457200">
              <a:lnSpc>
                <a:spcPct val="130000"/>
              </a:lnSpc>
              <a:buSzPct val="50000"/>
              <a:buBlip>
                <a:blip r:embed="rId3"/>
              </a:buBlip>
              <a:defRPr sz="4000">
                <a:solidFill>
                  <a:srgbClr val="EEF0FF"/>
                </a:solidFill>
              </a:defRPr>
            </a:pPr>
            <a:r>
              <a:rPr b="1">
                <a:solidFill>
                  <a:srgbClr val="FF9300"/>
                </a:solidFill>
                <a:latin typeface="Times Roman"/>
                <a:ea typeface="Times Roman"/>
                <a:cs typeface="Times Roman"/>
                <a:sym typeface="Times Roman"/>
              </a:rPr>
              <a:t>Optional chaining </a:t>
            </a:r>
            <a:r>
              <a:rPr>
                <a:solidFill>
                  <a:srgbClr val="E6E8F0"/>
                </a:solidFill>
                <a:latin typeface="Times Roman"/>
                <a:ea typeface="Times Roman"/>
                <a:cs typeface="Times Roman"/>
                <a:sym typeface="Times Roman"/>
              </a:rPr>
              <a:t>is </a:t>
            </a:r>
            <a:r>
              <a:t>a safe and concise way in Swift to query and call properties, methods, and subscripts on an optional value that might be</a:t>
            </a:r>
            <a:r>
              <a:rPr>
                <a:solidFill>
                  <a:srgbClr val="E6E8F0"/>
                </a:solidFill>
              </a:rPr>
              <a:t> </a:t>
            </a:r>
            <a:r>
              <a:rPr b="1">
                <a:solidFill>
                  <a:srgbClr val="E6E8F0"/>
                </a:solidFill>
                <a:latin typeface="Menlo Regular"/>
                <a:ea typeface="Menlo Regular"/>
                <a:cs typeface="Menlo Regular"/>
                <a:sym typeface="Menlo Regular"/>
              </a:rPr>
              <a:t>nil</a:t>
            </a:r>
            <a:r>
              <a:rPr>
                <a:solidFill>
                  <a:srgbClr val="E6E8F0"/>
                </a:solidFill>
              </a:rPr>
              <a:t>. </a:t>
            </a:r>
            <a:endParaRPr>
              <a:solidFill>
                <a:srgbClr val="E6E8F0"/>
              </a:solidFill>
            </a:endParaRPr>
          </a:p>
          <a:p>
            <a:pPr marL="488461" indent="-488461" algn="just" defTabSz="457200">
              <a:lnSpc>
                <a:spcPct val="130000"/>
              </a:lnSpc>
              <a:buSzPct val="50000"/>
              <a:buBlip>
                <a:blip r:embed="rId3"/>
              </a:buBlip>
              <a:defRPr sz="4000">
                <a:solidFill>
                  <a:srgbClr val="EEF0FF"/>
                </a:solidFill>
              </a:defRPr>
            </a:pPr>
            <a:r>
              <a:rPr>
                <a:solidFill>
                  <a:srgbClr val="E6E8F0"/>
                </a:solidFill>
              </a:rPr>
              <a:t>It allows you to access members without the risk of a runtime error if the optional value is empty. </a:t>
            </a:r>
            <a:endParaRPr>
              <a:solidFill>
                <a:srgbClr val="E6E8F0"/>
              </a:solidFill>
            </a:endParaRPr>
          </a:p>
          <a:p>
            <a:pPr marL="488461" indent="-488461" algn="just" defTabSz="457200">
              <a:lnSpc>
                <a:spcPct val="130000"/>
              </a:lnSpc>
              <a:buSzPct val="50000"/>
              <a:buBlip>
                <a:blip r:embed="rId3"/>
              </a:buBlip>
              <a:defRPr sz="4000">
                <a:solidFill>
                  <a:srgbClr val="E6E8F0"/>
                </a:solidFill>
              </a:defRPr>
            </a:pPr>
            <a:r>
              <a:t>Optional chaining uses a question mark (?) after an optional value. If the value is present, the operation continues; if it's </a:t>
            </a:r>
            <a:r>
              <a:rPr>
                <a:latin typeface="Menlo Regular"/>
                <a:ea typeface="Menlo Regular"/>
                <a:cs typeface="Menlo Regular"/>
                <a:sym typeface="Menlo Regular"/>
              </a:rPr>
              <a:t>nil</a:t>
            </a:r>
            <a:r>
              <a:t>, the chain returns </a:t>
            </a:r>
            <a:r>
              <a:rPr>
                <a:latin typeface="Menlo Regular"/>
                <a:ea typeface="Menlo Regular"/>
                <a:cs typeface="Menlo Regular"/>
                <a:sym typeface="Menlo Regular"/>
              </a:rPr>
              <a:t>nil</a:t>
            </a:r>
            <a:r>
              <a:t>. </a:t>
            </a:r>
          </a:p>
          <a:p>
            <a:pPr marL="488461" indent="-488461" algn="just" defTabSz="457200">
              <a:lnSpc>
                <a:spcPct val="130000"/>
              </a:lnSpc>
              <a:buSzPct val="50000"/>
              <a:buBlip>
                <a:blip r:embed="rId3"/>
              </a:buBlip>
              <a:defRPr sz="4000">
                <a:solidFill>
                  <a:srgbClr val="E6E8F0"/>
                </a:solidFill>
              </a:defRPr>
            </a:pPr>
            <a:r>
              <a:t>This prevents runtime errors and the result is always an optional. </a:t>
            </a:r>
          </a:p>
          <a:p>
            <a:pPr marL="488461" indent="-488461" algn="just" defTabSz="457200">
              <a:lnSpc>
                <a:spcPct val="130000"/>
              </a:lnSpc>
              <a:buSzPct val="50000"/>
              <a:buBlip>
                <a:blip r:embed="rId3"/>
              </a:buBlip>
              <a:defRPr sz="4000">
                <a:solidFill>
                  <a:srgbClr val="E6E8F0"/>
                </a:solidFill>
              </a:defRPr>
            </a:pPr>
            <a:r>
              <a:t>Multiple queries can be chained together, and the entire chain fails gracefully if any link in the chain is </a:t>
            </a:r>
            <a:r>
              <a:rPr>
                <a:latin typeface="Menlo Regular"/>
                <a:ea typeface="Menlo Regular"/>
                <a:cs typeface="Menlo Regular"/>
                <a:sym typeface="Menlo Regular"/>
              </a:rPr>
              <a:t>nil</a:t>
            </a:r>
            <a:r>
              <a: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55"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56" name="Rectangle"/>
          <p:cNvSpPr/>
          <p:nvPr/>
        </p:nvSpPr>
        <p:spPr>
          <a:xfrm>
            <a:off x="761516" y="3898900"/>
            <a:ext cx="22860968" cy="9144000"/>
          </a:xfrm>
          <a:prstGeom prst="rect">
            <a:avLst/>
          </a:prstGeom>
          <a:solidFill>
            <a:srgbClr val="292B38"/>
          </a:solidFill>
          <a:ln w="25400">
            <a:miter lim="400000"/>
          </a:ln>
        </p:spPr>
        <p:txBody>
          <a:bodyPr lIns="50800" tIns="50800" rIns="50800" bIns="50800" anchor="ctr"/>
          <a:lstStyle/>
          <a:p>
            <a:pPr/>
          </a:p>
        </p:txBody>
      </p:sp>
      <p:sp>
        <p:nvSpPr>
          <p:cNvPr id="257" name="Optional chaining"/>
          <p:cNvSpPr/>
          <p:nvPr>
            <p:ph type="title"/>
          </p:nvPr>
        </p:nvSpPr>
        <p:spPr>
          <a:prstGeom prst="rect">
            <a:avLst/>
          </a:prstGeom>
        </p:spPr>
        <p:txBody>
          <a:bodyPr/>
          <a:lstStyle/>
          <a:p>
            <a:pPr/>
            <a:r>
              <a:t>Optional chaining</a:t>
            </a:r>
          </a:p>
        </p:txBody>
      </p:sp>
      <p:sp>
        <p:nvSpPr>
          <p:cNvPr id="258" name="struct Person {…"/>
          <p:cNvSpPr/>
          <p:nvPr>
            <p:ph type="body" sz="half" idx="1"/>
          </p:nvPr>
        </p:nvSpPr>
        <p:spPr>
          <a:xfrm>
            <a:off x="1341881" y="3911600"/>
            <a:ext cx="9510073" cy="9118600"/>
          </a:xfrm>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struct</a:t>
            </a:r>
            <a:r>
              <a:t> Person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age: </a:t>
            </a:r>
            <a:r>
              <a:rPr>
                <a:solidFill>
                  <a:srgbClr val="6CCE66"/>
                </a:solidFill>
              </a:rPr>
              <a:t>Int</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residence: </a:t>
            </a:r>
            <a:r>
              <a:rPr>
                <a:solidFill>
                  <a:srgbClr val="6CCE66"/>
                </a:solidFill>
              </a:rPr>
              <a:t>Residence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struct</a:t>
            </a:r>
            <a:r>
              <a:t> Residence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address: </a:t>
            </a:r>
            <a:r>
              <a:rPr>
                <a:solidFill>
                  <a:srgbClr val="6CCE66"/>
                </a:solidFill>
              </a:rPr>
              <a:t>Address</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struct</a:t>
            </a:r>
            <a:r>
              <a:t> Address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buildingNumber: </a:t>
            </a:r>
            <a:r>
              <a:rPr>
                <a:solidFill>
                  <a:srgbClr val="6CCE66"/>
                </a:solidFill>
              </a:rPr>
              <a:t>String</a:t>
            </a:r>
            <a:r>
              <a:t>?</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streetName: </a:t>
            </a:r>
            <a:r>
              <a:rPr>
                <a:solidFill>
                  <a:srgbClr val="6CCE66"/>
                </a:solidFill>
              </a:rPr>
              <a:t>String</a:t>
            </a:r>
            <a:r>
              <a:t>?</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var</a:t>
            </a:r>
            <a:r>
              <a:t> apartmentNumber: </a:t>
            </a:r>
            <a:r>
              <a:rPr>
                <a:solidFill>
                  <a:srgbClr val="6CCE66"/>
                </a:solidFill>
              </a:rPr>
              <a:t>String</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
        <p:nvSpPr>
          <p:cNvPr id="259" name="// --- Scenario 1: Missing Data ---…"/>
          <p:cNvSpPr txBox="1"/>
          <p:nvPr/>
        </p:nvSpPr>
        <p:spPr>
          <a:xfrm>
            <a:off x="12067027" y="4361814"/>
            <a:ext cx="10608062" cy="8218172"/>
          </a:xfrm>
          <a:prstGeom prst="rect">
            <a:avLst/>
          </a:prstGeom>
          <a:ln w="25400">
            <a:solidFill>
              <a:srgbClr val="000000"/>
            </a:solidFill>
            <a:miter lim="400000"/>
          </a:ln>
          <a:extLst>
            <a:ext uri="{C572A759-6A51-4108-AA02-DFA0A04FC94B}">
              <ma14:wrappingTextBoxFlag xmlns:ma14="http://schemas.microsoft.com/office/mac/drawingml/2011/main" val="1"/>
            </a:ext>
          </a:extLst>
        </p:spPr>
        <p:txBody>
          <a:bodyPr lIns="63500" tIns="63500" rIns="63500" bIns="63500" anchor="ctr">
            <a:spAutoFit/>
          </a:bodyPr>
          <a:lstStyle/>
          <a:p>
            <a:pPr algn="l" defTabSz="533400">
              <a:lnSpc>
                <a:spcPct val="110000"/>
              </a:lnSpc>
              <a:tabLst>
                <a:tab pos="533400" algn="l"/>
              </a:tabLst>
              <a:defRPr sz="2500">
                <a:solidFill>
                  <a:srgbClr val="84B360"/>
                </a:solidFill>
                <a:latin typeface="Menlo Regular"/>
                <a:ea typeface="Menlo Regular"/>
                <a:cs typeface="Menlo Regular"/>
                <a:sym typeface="Menlo Regular"/>
              </a:defRPr>
            </a:pPr>
            <a:r>
              <a:t>// --- Scenario 1: Missing Data ---</a:t>
            </a:r>
            <a:endParaRPr>
              <a:solidFill>
                <a:srgbClr val="FFFFFF">
                  <a:alpha val="85000"/>
                </a:srgbClr>
              </a:solidFill>
            </a:endParaRPr>
          </a:p>
          <a:p>
            <a:pPr algn="l" defTabSz="533400">
              <a:lnSpc>
                <a:spcPct val="110000"/>
              </a:lnSpc>
              <a:tabLst>
                <a:tab pos="533400" algn="l"/>
              </a:tabLst>
              <a:defRPr sz="2500">
                <a:solidFill>
                  <a:srgbClr val="ACF2E4"/>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rPr>
                <a:solidFill>
                  <a:srgbClr val="4EB0CC"/>
                </a:solidFill>
              </a:rPr>
              <a:t>personA</a:t>
            </a:r>
            <a:r>
              <a:rPr>
                <a:solidFill>
                  <a:srgbClr val="FFFFFF">
                    <a:alpha val="85000"/>
                  </a:srgbClr>
                </a:solidFill>
              </a:rPr>
              <a:t> = </a:t>
            </a:r>
            <a:r>
              <a:t>Person</a:t>
            </a:r>
            <a:r>
              <a:rPr>
                <a:solidFill>
                  <a:srgbClr val="FFFFFF">
                    <a:alpha val="85000"/>
                  </a:srgbClr>
                </a:solidFill>
              </a:rPr>
              <a:t>(</a:t>
            </a:r>
            <a:r>
              <a:t>age</a:t>
            </a:r>
            <a:r>
              <a:rPr>
                <a:solidFill>
                  <a:srgbClr val="FFFFFF">
                    <a:alpha val="85000"/>
                  </a:srgbClr>
                </a:solidFill>
              </a:rPr>
              <a:t>: </a:t>
            </a:r>
            <a:r>
              <a:rPr>
                <a:solidFill>
                  <a:srgbClr val="D9C97C"/>
                </a:solidFill>
              </a:rPr>
              <a:t>25</a:t>
            </a:r>
            <a:r>
              <a:rPr>
                <a:solidFill>
                  <a:srgbClr val="FFFFFF">
                    <a:alpha val="85000"/>
                  </a:srgbClr>
                </a:solidFill>
              </a:rPr>
              <a:t>, </a:t>
            </a:r>
            <a:r>
              <a:t>residence</a:t>
            </a:r>
            <a:r>
              <a:rPr>
                <a:solidFill>
                  <a:srgbClr val="FFFFFF">
                    <a:alpha val="85000"/>
                  </a:srgbClr>
                </a:solidFill>
              </a:rPr>
              <a:t>: </a:t>
            </a:r>
            <a:r>
              <a:rPr b="1">
                <a:solidFill>
                  <a:srgbClr val="FF7AB2"/>
                </a:solidFill>
              </a:rPr>
              <a:t>nil</a:t>
            </a:r>
            <a:r>
              <a:rPr>
                <a:solidFill>
                  <a:srgbClr val="FFFFFF">
                    <a:alpha val="85000"/>
                  </a:srgbClr>
                </a:solidFill>
              </a:rPr>
              <a:t>)</a:t>
            </a:r>
            <a:endParaRPr>
              <a:solidFill>
                <a:srgbClr val="FFFFFF">
                  <a:alpha val="85000"/>
                </a:srgbClr>
              </a:solidFill>
            </a:endParaRPr>
          </a:p>
          <a:p>
            <a:pPr algn="l" defTabSz="533400">
              <a:lnSpc>
                <a:spcPct val="110000"/>
              </a:lnSpc>
              <a:tabLst>
                <a:tab pos="533400" algn="l"/>
              </a:tabLst>
              <a:defRPr sz="2500">
                <a:solidFill>
                  <a:srgbClr val="FFFFFF">
                    <a:alpha val="85000"/>
                  </a:srgbClr>
                </a:solidFill>
                <a:latin typeface="Menlo Regular"/>
                <a:ea typeface="Menlo Regular"/>
                <a:cs typeface="Menlo Regular"/>
                <a:sym typeface="Menlo Regular"/>
              </a:defRPr>
            </a:pPr>
          </a:p>
          <a:p>
            <a:pPr algn="l" defTabSz="533400">
              <a:lnSpc>
                <a:spcPct val="110000"/>
              </a:lnSpc>
              <a:tabLst>
                <a:tab pos="533400" algn="l"/>
              </a:tabLst>
              <a:defRPr sz="2500">
                <a:solidFill>
                  <a:srgbClr val="84B360"/>
                </a:solidFill>
                <a:latin typeface="Menlo Regular"/>
                <a:ea typeface="Menlo Regular"/>
                <a:cs typeface="Menlo Regular"/>
                <a:sym typeface="Menlo Regular"/>
              </a:defRPr>
            </a:pPr>
            <a:r>
              <a:t>// The chain stops at 'residence' because it is nil</a:t>
            </a:r>
            <a:endParaRPr>
              <a:solidFill>
                <a:srgbClr val="FFFFFF">
                  <a:alpha val="85000"/>
                </a:srgbClr>
              </a:solidFill>
            </a:endParaRPr>
          </a:p>
          <a:p>
            <a:pPr algn="l" defTabSz="533400">
              <a:lnSpc>
                <a:spcPct val="110000"/>
              </a:lnSpc>
              <a:tabLst>
                <a:tab pos="533400" algn="l"/>
              </a:tabLst>
              <a:defRPr sz="2500">
                <a:solidFill>
                  <a:srgbClr val="78C2B3"/>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rPr>
                <a:solidFill>
                  <a:srgbClr val="4EB0CC"/>
                </a:solidFill>
              </a:rPr>
              <a:t>numberA</a:t>
            </a:r>
            <a:r>
              <a:rPr>
                <a:solidFill>
                  <a:srgbClr val="FFFFFF">
                    <a:alpha val="85000"/>
                  </a:srgbClr>
                </a:solidFill>
              </a:rPr>
              <a:t> = </a:t>
            </a:r>
            <a:r>
              <a:t>personA</a:t>
            </a:r>
            <a:r>
              <a:rPr>
                <a:solidFill>
                  <a:srgbClr val="FFFFFF">
                    <a:alpha val="85000"/>
                  </a:srgbClr>
                </a:solidFill>
              </a:rPr>
              <a:t>.</a:t>
            </a:r>
            <a:r>
              <a:t>residence</a:t>
            </a:r>
            <a:r>
              <a:rPr>
                <a:solidFill>
                  <a:srgbClr val="FFFFFF">
                    <a:alpha val="85000"/>
                  </a:srgbClr>
                </a:solidFill>
              </a:rPr>
              <a:t>?.</a:t>
            </a:r>
            <a:r>
              <a:t>address</a:t>
            </a:r>
            <a:r>
              <a:rPr>
                <a:solidFill>
                  <a:srgbClr val="FFFFFF">
                    <a:alpha val="85000"/>
                  </a:srgbClr>
                </a:solidFill>
              </a:rPr>
              <a:t>?.</a:t>
            </a:r>
            <a:r>
              <a:t>buildingNumber</a:t>
            </a:r>
            <a:endParaRPr>
              <a:solidFill>
                <a:srgbClr val="FFFFFF">
                  <a:alpha val="85000"/>
                </a:srgbClr>
              </a:solidFill>
            </a:endParaRPr>
          </a:p>
          <a:p>
            <a:pPr algn="l" defTabSz="533400">
              <a:lnSpc>
                <a:spcPct val="110000"/>
              </a:lnSpc>
              <a:tabLst>
                <a:tab pos="533400" algn="l"/>
              </a:tabLst>
              <a:defRPr sz="2500">
                <a:solidFill>
                  <a:srgbClr val="FFFFFF">
                    <a:alpha val="85000"/>
                  </a:srgbClr>
                </a:solidFill>
                <a:latin typeface="Menlo Regular"/>
                <a:ea typeface="Menlo Regular"/>
                <a:cs typeface="Menlo Regular"/>
                <a:sym typeface="Menlo Regular"/>
              </a:defRPr>
            </a:pPr>
          </a:p>
          <a:p>
            <a:pPr algn="l" defTabSz="533400">
              <a:lnSpc>
                <a:spcPct val="110000"/>
              </a:lnSpc>
              <a:tabLst>
                <a:tab pos="533400" algn="l"/>
              </a:tabLst>
              <a:defRPr sz="2500">
                <a:solidFill>
                  <a:srgbClr val="84B360"/>
                </a:solidFill>
                <a:latin typeface="Menlo Regular"/>
                <a:ea typeface="Menlo Regular"/>
                <a:cs typeface="Menlo Regular"/>
                <a:sym typeface="Menlo Regular"/>
              </a:defRPr>
            </a:pPr>
            <a:r>
              <a:t>// --- Scenario 2: Complete Data ---</a:t>
            </a:r>
            <a:endParaRPr>
              <a:solidFill>
                <a:srgbClr val="FFFFFF">
                  <a:alpha val="85000"/>
                </a:srgbClr>
              </a:solidFill>
            </a:endParaRPr>
          </a:p>
          <a:p>
            <a:pPr algn="l" defTabSz="533400">
              <a:lnSpc>
                <a:spcPct val="110000"/>
              </a:lnSpc>
              <a:tabLst>
                <a:tab pos="533400" algn="l"/>
              </a:tabLst>
              <a:defRPr sz="2500">
                <a:solidFill>
                  <a:srgbClr val="FF8170"/>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rPr>
                <a:solidFill>
                  <a:srgbClr val="4EB0CC"/>
                </a:solidFill>
              </a:rPr>
              <a:t>address</a:t>
            </a:r>
            <a:r>
              <a:rPr>
                <a:solidFill>
                  <a:srgbClr val="FFFFFF">
                    <a:alpha val="85000"/>
                  </a:srgbClr>
                </a:solidFill>
              </a:rPr>
              <a:t> = </a:t>
            </a:r>
            <a:r>
              <a:rPr>
                <a:solidFill>
                  <a:srgbClr val="ACF2E4"/>
                </a:solidFill>
              </a:rPr>
              <a:t>Address</a:t>
            </a:r>
            <a:r>
              <a:rPr>
                <a:solidFill>
                  <a:srgbClr val="FFFFFF">
                    <a:alpha val="85000"/>
                  </a:srgbClr>
                </a:solidFill>
              </a:rPr>
              <a:t>(</a:t>
            </a:r>
            <a:r>
              <a:rPr>
                <a:solidFill>
                  <a:srgbClr val="ACF2E4"/>
                </a:solidFill>
              </a:rPr>
              <a:t>buildingNumber</a:t>
            </a:r>
            <a:r>
              <a:rPr>
                <a:solidFill>
                  <a:srgbClr val="FFFFFF">
                    <a:alpha val="85000"/>
                  </a:srgbClr>
                </a:solidFill>
              </a:rPr>
              <a:t>: </a:t>
            </a:r>
            <a:r>
              <a:t>"101"</a:t>
            </a:r>
            <a:r>
              <a:rPr>
                <a:solidFill>
                  <a:srgbClr val="FFFFFF">
                    <a:alpha val="85000"/>
                  </a:srgbClr>
                </a:solidFill>
              </a:rPr>
              <a:t>, </a:t>
            </a:r>
            <a:r>
              <a:rPr>
                <a:solidFill>
                  <a:srgbClr val="ACF2E4"/>
                </a:solidFill>
              </a:rPr>
              <a:t>streetName</a:t>
            </a:r>
            <a:r>
              <a:rPr>
                <a:solidFill>
                  <a:srgbClr val="FFFFFF">
                    <a:alpha val="85000"/>
                  </a:srgbClr>
                </a:solidFill>
              </a:rPr>
              <a:t>: </a:t>
            </a:r>
            <a:r>
              <a:t>"Infinite Loop"</a:t>
            </a:r>
            <a:r>
              <a:rPr>
                <a:solidFill>
                  <a:srgbClr val="FFFFFF">
                    <a:alpha val="85000"/>
                  </a:srgbClr>
                </a:solidFill>
              </a:rPr>
              <a:t>, </a:t>
            </a:r>
            <a:r>
              <a:rPr>
                <a:solidFill>
                  <a:srgbClr val="ACF2E4"/>
                </a:solidFill>
              </a:rPr>
              <a:t>apartmentNumber</a:t>
            </a:r>
            <a:r>
              <a:rPr>
                <a:solidFill>
                  <a:srgbClr val="FFFFFF">
                    <a:alpha val="85000"/>
                  </a:srgbClr>
                </a:solidFill>
              </a:rPr>
              <a:t>: </a:t>
            </a:r>
            <a:r>
              <a:t>"4B"</a:t>
            </a:r>
            <a:r>
              <a:rPr>
                <a:solidFill>
                  <a:srgbClr val="FFFFFF">
                    <a:alpha val="85000"/>
                  </a:srgbClr>
                </a:solidFill>
              </a:rPr>
              <a:t>)</a:t>
            </a:r>
            <a:endParaRPr>
              <a:solidFill>
                <a:srgbClr val="FFFFFF">
                  <a:alpha val="85000"/>
                </a:srgbClr>
              </a:solidFill>
            </a:endParaRPr>
          </a:p>
          <a:p>
            <a:pPr algn="l" defTabSz="533400">
              <a:lnSpc>
                <a:spcPct val="110000"/>
              </a:lnSpc>
              <a:tabLst>
                <a:tab pos="533400" algn="l"/>
              </a:tabLst>
              <a:defRPr sz="2500">
                <a:solidFill>
                  <a:srgbClr val="4EB0CC"/>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t>residence</a:t>
            </a:r>
            <a:r>
              <a:rPr>
                <a:solidFill>
                  <a:srgbClr val="FFFFFF">
                    <a:alpha val="85000"/>
                  </a:srgbClr>
                </a:solidFill>
              </a:rPr>
              <a:t> = </a:t>
            </a:r>
            <a:r>
              <a:rPr>
                <a:solidFill>
                  <a:srgbClr val="ACF2E4"/>
                </a:solidFill>
              </a:rPr>
              <a:t>Residence</a:t>
            </a:r>
            <a:r>
              <a:rPr>
                <a:solidFill>
                  <a:srgbClr val="FFFFFF">
                    <a:alpha val="85000"/>
                  </a:srgbClr>
                </a:solidFill>
              </a:rPr>
              <a:t>(</a:t>
            </a:r>
            <a:r>
              <a:rPr>
                <a:solidFill>
                  <a:srgbClr val="ACF2E4"/>
                </a:solidFill>
              </a:rPr>
              <a:t>address</a:t>
            </a:r>
            <a:r>
              <a:rPr>
                <a:solidFill>
                  <a:srgbClr val="FFFFFF">
                    <a:alpha val="85000"/>
                  </a:srgbClr>
                </a:solidFill>
              </a:rPr>
              <a:t>: </a:t>
            </a:r>
            <a:r>
              <a:rPr>
                <a:solidFill>
                  <a:srgbClr val="78C2B3"/>
                </a:solidFill>
              </a:rPr>
              <a:t>address</a:t>
            </a:r>
            <a:r>
              <a:rPr>
                <a:solidFill>
                  <a:srgbClr val="FFFFFF">
                    <a:alpha val="85000"/>
                  </a:srgbClr>
                </a:solidFill>
              </a:rPr>
              <a:t>)</a:t>
            </a:r>
            <a:endParaRPr>
              <a:solidFill>
                <a:srgbClr val="FFFFFF">
                  <a:alpha val="85000"/>
                </a:srgbClr>
              </a:solidFill>
            </a:endParaRPr>
          </a:p>
          <a:p>
            <a:pPr algn="l" defTabSz="533400">
              <a:lnSpc>
                <a:spcPct val="110000"/>
              </a:lnSpc>
              <a:tabLst>
                <a:tab pos="533400" algn="l"/>
              </a:tabLst>
              <a:defRPr sz="2500">
                <a:solidFill>
                  <a:srgbClr val="ACF2E4"/>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rPr>
                <a:solidFill>
                  <a:srgbClr val="4EB0CC"/>
                </a:solidFill>
              </a:rPr>
              <a:t>personB</a:t>
            </a:r>
            <a:r>
              <a:rPr>
                <a:solidFill>
                  <a:srgbClr val="FFFFFF">
                    <a:alpha val="85000"/>
                  </a:srgbClr>
                </a:solidFill>
              </a:rPr>
              <a:t> = </a:t>
            </a:r>
            <a:r>
              <a:t>Person</a:t>
            </a:r>
            <a:r>
              <a:rPr>
                <a:solidFill>
                  <a:srgbClr val="FFFFFF">
                    <a:alpha val="85000"/>
                  </a:srgbClr>
                </a:solidFill>
              </a:rPr>
              <a:t>(</a:t>
            </a:r>
            <a:r>
              <a:t>age</a:t>
            </a:r>
            <a:r>
              <a:rPr>
                <a:solidFill>
                  <a:srgbClr val="FFFFFF">
                    <a:alpha val="85000"/>
                  </a:srgbClr>
                </a:solidFill>
              </a:rPr>
              <a:t>: </a:t>
            </a:r>
            <a:r>
              <a:rPr>
                <a:solidFill>
                  <a:srgbClr val="D9C97C"/>
                </a:solidFill>
              </a:rPr>
              <a:t>30</a:t>
            </a:r>
            <a:r>
              <a:rPr>
                <a:solidFill>
                  <a:srgbClr val="FFFFFF">
                    <a:alpha val="85000"/>
                  </a:srgbClr>
                </a:solidFill>
              </a:rPr>
              <a:t>, </a:t>
            </a:r>
            <a:r>
              <a:t>residence</a:t>
            </a:r>
            <a:r>
              <a:rPr>
                <a:solidFill>
                  <a:srgbClr val="FFFFFF">
                    <a:alpha val="85000"/>
                  </a:srgbClr>
                </a:solidFill>
              </a:rPr>
              <a:t>: </a:t>
            </a:r>
            <a:r>
              <a:rPr>
                <a:solidFill>
                  <a:srgbClr val="78C2B3"/>
                </a:solidFill>
              </a:rPr>
              <a:t>residence</a:t>
            </a:r>
            <a:r>
              <a:rPr>
                <a:solidFill>
                  <a:srgbClr val="FFFFFF">
                    <a:alpha val="85000"/>
                  </a:srgbClr>
                </a:solidFill>
              </a:rPr>
              <a:t>)</a:t>
            </a:r>
            <a:endParaRPr>
              <a:solidFill>
                <a:srgbClr val="FFFFFF">
                  <a:alpha val="85000"/>
                </a:srgbClr>
              </a:solidFill>
            </a:endParaRPr>
          </a:p>
          <a:p>
            <a:pPr algn="l" defTabSz="533400">
              <a:lnSpc>
                <a:spcPct val="110000"/>
              </a:lnSpc>
              <a:tabLst>
                <a:tab pos="533400" algn="l"/>
              </a:tabLst>
              <a:defRPr sz="2500">
                <a:solidFill>
                  <a:srgbClr val="FFFFFF">
                    <a:alpha val="85000"/>
                  </a:srgbClr>
                </a:solidFill>
                <a:latin typeface="Menlo Regular"/>
                <a:ea typeface="Menlo Regular"/>
                <a:cs typeface="Menlo Regular"/>
                <a:sym typeface="Menlo Regular"/>
              </a:defRPr>
            </a:pPr>
          </a:p>
          <a:p>
            <a:pPr algn="l" defTabSz="533400">
              <a:lnSpc>
                <a:spcPct val="110000"/>
              </a:lnSpc>
              <a:tabLst>
                <a:tab pos="533400" algn="l"/>
              </a:tabLst>
              <a:defRPr sz="2500">
                <a:solidFill>
                  <a:srgbClr val="84B360"/>
                </a:solidFill>
                <a:latin typeface="Menlo Regular"/>
                <a:ea typeface="Menlo Regular"/>
                <a:cs typeface="Menlo Regular"/>
                <a:sym typeface="Menlo Regular"/>
              </a:defRPr>
            </a:pPr>
            <a:r>
              <a:t>// The chain succeeds through every level</a:t>
            </a:r>
            <a:endParaRPr>
              <a:solidFill>
                <a:srgbClr val="FFFFFF">
                  <a:alpha val="85000"/>
                </a:srgbClr>
              </a:solidFill>
            </a:endParaRPr>
          </a:p>
          <a:p>
            <a:pPr algn="l" defTabSz="533400">
              <a:lnSpc>
                <a:spcPct val="110000"/>
              </a:lnSpc>
              <a:tabLst>
                <a:tab pos="533400" algn="l"/>
              </a:tabLst>
              <a:defRPr sz="2500">
                <a:solidFill>
                  <a:srgbClr val="78C2B3"/>
                </a:solidFill>
                <a:latin typeface="Menlo Regular"/>
                <a:ea typeface="Menlo Regular"/>
                <a:cs typeface="Menlo Regular"/>
                <a:sym typeface="Menlo Regular"/>
              </a:defRPr>
            </a:pPr>
            <a:r>
              <a:rPr b="1">
                <a:solidFill>
                  <a:srgbClr val="FF7AB2"/>
                </a:solidFill>
              </a:rPr>
              <a:t>let</a:t>
            </a:r>
            <a:r>
              <a:rPr>
                <a:solidFill>
                  <a:srgbClr val="FFFFFF">
                    <a:alpha val="85000"/>
                  </a:srgbClr>
                </a:solidFill>
              </a:rPr>
              <a:t> </a:t>
            </a:r>
            <a:r>
              <a:rPr>
                <a:solidFill>
                  <a:srgbClr val="4EB0CC"/>
                </a:solidFill>
              </a:rPr>
              <a:t>numberB</a:t>
            </a:r>
            <a:r>
              <a:rPr>
                <a:solidFill>
                  <a:srgbClr val="FFFFFF">
                    <a:alpha val="85000"/>
                  </a:srgbClr>
                </a:solidFill>
              </a:rPr>
              <a:t> = </a:t>
            </a:r>
            <a:r>
              <a:t>personB</a:t>
            </a:r>
            <a:r>
              <a:rPr>
                <a:solidFill>
                  <a:srgbClr val="FFFFFF">
                    <a:alpha val="85000"/>
                  </a:srgbClr>
                </a:solidFill>
              </a:rPr>
              <a:t>.</a:t>
            </a:r>
            <a:r>
              <a:t>residence</a:t>
            </a:r>
            <a:r>
              <a:rPr>
                <a:solidFill>
                  <a:srgbClr val="FFFFFF">
                    <a:alpha val="85000"/>
                  </a:srgbClr>
                </a:solidFill>
              </a:rPr>
              <a:t>?.</a:t>
            </a:r>
            <a:r>
              <a:t>address</a:t>
            </a:r>
            <a:r>
              <a:rPr>
                <a:solidFill>
                  <a:srgbClr val="FFFFFF">
                    <a:alpha val="85000"/>
                  </a:srgbClr>
                </a:solidFill>
              </a:rPr>
              <a:t>?.</a:t>
            </a:r>
            <a:r>
              <a:t>buildingNumber</a:t>
            </a:r>
            <a:endParaRPr>
              <a:solidFill>
                <a:srgbClr val="FFFFFF">
                  <a:alpha val="85000"/>
                </a:srgbClr>
              </a:solidFill>
            </a:endParaRPr>
          </a:p>
          <a:p>
            <a:pPr algn="l" defTabSz="533400">
              <a:lnSpc>
                <a:spcPct val="110000"/>
              </a:lnSpc>
              <a:tabLst>
                <a:tab pos="533400" algn="l"/>
              </a:tabLst>
              <a:defRPr sz="2500">
                <a:solidFill>
                  <a:srgbClr val="FFFFFF">
                    <a:alpha val="85000"/>
                  </a:srgbClr>
                </a:solidFill>
                <a:latin typeface="Menlo Regular"/>
                <a:ea typeface="Menlo Regular"/>
                <a:cs typeface="Menlo Regular"/>
                <a:sym typeface="Menlo Regular"/>
              </a:defRPr>
            </a:pPr>
          </a:p>
          <a:p>
            <a:pPr algn="l" defTabSz="533400">
              <a:lnSpc>
                <a:spcPct val="110000"/>
              </a:lnSpc>
              <a:tabLst>
                <a:tab pos="533400" algn="l"/>
              </a:tabLst>
              <a:defRPr sz="2500">
                <a:solidFill>
                  <a:srgbClr val="84B360"/>
                </a:solidFill>
                <a:latin typeface="Menlo Regular"/>
                <a:ea typeface="Menlo Regular"/>
                <a:cs typeface="Menlo Regular"/>
                <a:sym typeface="Menlo Regular"/>
              </a:defRPr>
            </a:pPr>
            <a:r>
              <a:t>// --- Printing Results ---</a:t>
            </a:r>
            <a:endParaRPr>
              <a:solidFill>
                <a:srgbClr val="FFFFFF">
                  <a:alpha val="85000"/>
                </a:srgbClr>
              </a:solidFill>
            </a:endParaRPr>
          </a:p>
          <a:p>
            <a:pPr algn="l" defTabSz="533400">
              <a:lnSpc>
                <a:spcPct val="110000"/>
              </a:lnSpc>
              <a:tabLst>
                <a:tab pos="533400" algn="l"/>
              </a:tabLst>
              <a:defRPr sz="2500">
                <a:solidFill>
                  <a:srgbClr val="FFFFFF">
                    <a:alpha val="85000"/>
                  </a:srgbClr>
                </a:solidFill>
                <a:latin typeface="Menlo Regular"/>
                <a:ea typeface="Menlo Regular"/>
                <a:cs typeface="Menlo Regular"/>
                <a:sym typeface="Menlo Regular"/>
              </a:defRPr>
            </a:pPr>
            <a:r>
              <a:t>print(</a:t>
            </a:r>
            <a:r>
              <a:rPr>
                <a:solidFill>
                  <a:srgbClr val="FF8170"/>
                </a:solidFill>
              </a:rPr>
              <a:t>"Result A: </a:t>
            </a:r>
            <a:r>
              <a:t>\(String(describing: </a:t>
            </a:r>
            <a:r>
              <a:rPr>
                <a:solidFill>
                  <a:srgbClr val="78C2B3"/>
                </a:solidFill>
              </a:rPr>
              <a:t>numberA</a:t>
            </a:r>
            <a:r>
              <a:t>))</a:t>
            </a:r>
            <a:r>
              <a:rPr>
                <a:solidFill>
                  <a:srgbClr val="FF8170"/>
                </a:solidFill>
              </a:rPr>
              <a:t>"</a:t>
            </a:r>
            <a:r>
              <a:t>)</a:t>
            </a:r>
          </a:p>
          <a:p>
            <a:pPr algn="l" defTabSz="533400">
              <a:lnSpc>
                <a:spcPct val="110000"/>
              </a:lnSpc>
              <a:tabLst>
                <a:tab pos="533400" algn="l"/>
              </a:tabLst>
              <a:defRPr sz="2500">
                <a:solidFill>
                  <a:srgbClr val="FFFFFF">
                    <a:alpha val="85000"/>
                  </a:srgbClr>
                </a:solidFill>
                <a:latin typeface="Menlo Regular"/>
                <a:ea typeface="Menlo Regular"/>
                <a:cs typeface="Menlo Regular"/>
                <a:sym typeface="Menlo Regular"/>
              </a:defRPr>
            </a:pPr>
            <a:r>
              <a:t>print(</a:t>
            </a:r>
            <a:r>
              <a:rPr>
                <a:solidFill>
                  <a:srgbClr val="FF8170"/>
                </a:solidFill>
              </a:rPr>
              <a:t>"Result B: </a:t>
            </a:r>
            <a:r>
              <a:t>\(String(describing: </a:t>
            </a:r>
            <a:r>
              <a:rPr>
                <a:solidFill>
                  <a:srgbClr val="78C2B3"/>
                </a:solidFill>
              </a:rPr>
              <a:t>numberB</a:t>
            </a:r>
            <a:r>
              <a:t>))</a:t>
            </a:r>
            <a:r>
              <a:rPr>
                <a:solidFill>
                  <a:srgbClr val="FF8170"/>
                </a:solidFill>
              </a:rPr>
              <a:t>"</a:t>
            </a:r>
            <a:r>
              <a:t>)</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64"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65" name="Rectangle"/>
          <p:cNvSpPr/>
          <p:nvPr/>
        </p:nvSpPr>
        <p:spPr>
          <a:xfrm>
            <a:off x="761516" y="3898900"/>
            <a:ext cx="22860968" cy="5008175"/>
          </a:xfrm>
          <a:prstGeom prst="rect">
            <a:avLst/>
          </a:prstGeom>
          <a:solidFill>
            <a:srgbClr val="292B38"/>
          </a:solidFill>
          <a:ln w="25400">
            <a:miter lim="400000"/>
          </a:ln>
        </p:spPr>
        <p:txBody>
          <a:bodyPr lIns="50800" tIns="50800" rIns="50800" bIns="50800" anchor="ctr"/>
          <a:lstStyle/>
          <a:p>
            <a:pPr/>
          </a:p>
        </p:txBody>
      </p:sp>
      <p:sp>
        <p:nvSpPr>
          <p:cNvPr id="266" name="Optional chaining"/>
          <p:cNvSpPr/>
          <p:nvPr>
            <p:ph type="title"/>
          </p:nvPr>
        </p:nvSpPr>
        <p:spPr>
          <a:prstGeom prst="rect">
            <a:avLst/>
          </a:prstGeom>
        </p:spPr>
        <p:txBody>
          <a:bodyPr/>
          <a:lstStyle/>
          <a:p>
            <a:pPr/>
            <a:r>
              <a:t>Optional chaining</a:t>
            </a:r>
          </a:p>
        </p:txBody>
      </p:sp>
      <p:sp>
        <p:nvSpPr>
          <p:cNvPr id="267" name="let person = Person(age: 22)…"/>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person = </a:t>
            </a:r>
            <a:r>
              <a:rPr>
                <a:solidFill>
                  <a:srgbClr val="6CCE66"/>
                </a:solidFill>
              </a:rPr>
              <a:t>Person(age: 22)</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 let</a:t>
            </a:r>
            <a:r>
              <a:t> theResidence = </a:t>
            </a:r>
            <a:r>
              <a:rPr>
                <a:solidFill>
                  <a:srgbClr val="6CCE66"/>
                </a:solidFill>
              </a:rPr>
              <a:t>person</a:t>
            </a:r>
            <a:r>
              <a:t>.</a:t>
            </a:r>
            <a:r>
              <a:rPr>
                <a:solidFill>
                  <a:srgbClr val="6CCE66"/>
                </a:solidFill>
              </a:rPr>
              <a:t>residence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if let</a:t>
            </a:r>
            <a:r>
              <a:t> theAddress = theResidence.</a:t>
            </a:r>
            <a:r>
              <a:rPr>
                <a:solidFill>
                  <a:srgbClr val="6CCE66"/>
                </a:solidFill>
              </a:rPr>
              <a:t>address</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if let</a:t>
            </a:r>
            <a:r>
              <a:t> theApartmentNumber = theAddress.</a:t>
            </a:r>
            <a:r>
              <a:rPr>
                <a:solidFill>
                  <a:srgbClr val="6CCE66"/>
                </a:solidFill>
              </a:rPr>
              <a:t>apartmentNumber</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"He/she lives in apartment number </a:t>
            </a:r>
            <a:r>
              <a:t>\</a:t>
            </a:r>
            <a:r>
              <a:rPr>
                <a:solidFill>
                  <a:srgbClr val="F95B57"/>
                </a:solidFill>
              </a:rPr>
              <a:t>(</a:t>
            </a:r>
            <a:r>
              <a:t>theApartmentNumber</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72"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73" name="Rectangle"/>
          <p:cNvSpPr/>
          <p:nvPr/>
        </p:nvSpPr>
        <p:spPr>
          <a:xfrm>
            <a:off x="761516" y="3898900"/>
            <a:ext cx="22860968" cy="2125086"/>
          </a:xfrm>
          <a:prstGeom prst="rect">
            <a:avLst/>
          </a:prstGeom>
          <a:solidFill>
            <a:srgbClr val="292B38"/>
          </a:solidFill>
          <a:ln w="25400">
            <a:miter lim="400000"/>
          </a:ln>
        </p:spPr>
        <p:txBody>
          <a:bodyPr lIns="50800" tIns="50800" rIns="50800" bIns="50800" anchor="ctr"/>
          <a:lstStyle/>
          <a:p>
            <a:pPr/>
          </a:p>
        </p:txBody>
      </p:sp>
      <p:sp>
        <p:nvSpPr>
          <p:cNvPr id="274" name="Rectangle"/>
          <p:cNvSpPr/>
          <p:nvPr/>
        </p:nvSpPr>
        <p:spPr>
          <a:xfrm>
            <a:off x="13349757" y="4084757"/>
            <a:ext cx="282189" cy="503826"/>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275" name="Rectangle"/>
          <p:cNvSpPr/>
          <p:nvPr/>
        </p:nvSpPr>
        <p:spPr>
          <a:xfrm>
            <a:off x="11275581" y="4084757"/>
            <a:ext cx="282189" cy="503826"/>
          </a:xfrm>
          <a:prstGeom prst="rect">
            <a:avLst/>
          </a:prstGeom>
          <a:solidFill>
            <a:srgbClr val="34435A"/>
          </a:solidFill>
          <a:ln w="12700">
            <a:solidFill>
              <a:srgbClr val="505A7A"/>
            </a:solidFill>
            <a:miter lim="400000"/>
          </a:ln>
          <a:effectLst>
            <a:outerShdw sx="100000" sy="100000" kx="0" ky="0" algn="b" rotWithShape="0" blurRad="63500" dist="25400" dir="5400000">
              <a:srgbClr val="000000">
                <a:alpha val="50000"/>
              </a:srgbClr>
            </a:outerShdw>
          </a:effectLst>
        </p:spPr>
        <p:txBody>
          <a:bodyPr lIns="63500" tIns="63500" rIns="63500" bIns="63500" anchor="ctr"/>
          <a:lstStyle/>
          <a:p>
            <a:pPr/>
          </a:p>
        </p:txBody>
      </p:sp>
      <p:sp>
        <p:nvSpPr>
          <p:cNvPr id="276" name="Optional chaining"/>
          <p:cNvSpPr/>
          <p:nvPr>
            <p:ph type="title"/>
          </p:nvPr>
        </p:nvSpPr>
        <p:spPr>
          <a:prstGeom prst="rect">
            <a:avLst/>
          </a:prstGeom>
        </p:spPr>
        <p:txBody>
          <a:bodyPr/>
          <a:lstStyle/>
          <a:p>
            <a:pPr/>
            <a:r>
              <a:t>Optional chaining</a:t>
            </a:r>
          </a:p>
        </p:txBody>
      </p:sp>
      <p:sp>
        <p:nvSpPr>
          <p:cNvPr id="277" name="if let theApartmentNumber = person.residence?.address?.apartmentNumber {…"/>
          <p:cNvSpPr/>
          <p:nvPr>
            <p:ph type="body" idx="1"/>
          </p:nvPr>
        </p:nvSpPr>
        <p:spPr>
          <a:xfrm>
            <a:off x="1130300" y="3898900"/>
            <a:ext cx="22098000" cy="9118600"/>
          </a:xfrm>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t>if let theApartmentNumber = </a:t>
            </a:r>
            <a:r>
              <a:rPr>
                <a:solidFill>
                  <a:srgbClr val="6CCE66"/>
                </a:solidFill>
              </a:rPr>
              <a:t>person</a:t>
            </a:r>
            <a:r>
              <a:t>.</a:t>
            </a:r>
            <a:r>
              <a:rPr>
                <a:solidFill>
                  <a:srgbClr val="6CCE66"/>
                </a:solidFill>
              </a:rPr>
              <a:t>residence</a:t>
            </a:r>
            <a:r>
              <a:t>?.</a:t>
            </a:r>
            <a:r>
              <a:rPr>
                <a:solidFill>
                  <a:srgbClr val="6CCE66"/>
                </a:solidFill>
              </a:rPr>
              <a:t>address</a:t>
            </a:r>
            <a:r>
              <a:t>?.</a:t>
            </a:r>
            <a:r>
              <a:rPr>
                <a:solidFill>
                  <a:srgbClr val="6CCE66"/>
                </a:solidFill>
              </a:rPr>
              <a:t>apartmentNumber</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"He/she lives in apartment number </a:t>
            </a:r>
            <a:r>
              <a:t>\</a:t>
            </a:r>
            <a:r>
              <a:rPr>
                <a:solidFill>
                  <a:srgbClr val="F95B57"/>
                </a:solidFill>
              </a:rPr>
              <a:t>(</a:t>
            </a:r>
            <a:r>
              <a:t>theApartmentNumber</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Rectangle"/>
          <p:cNvSpPr/>
          <p:nvPr/>
        </p:nvSpPr>
        <p:spPr>
          <a:xfrm>
            <a:off x="761516" y="3898900"/>
            <a:ext cx="22860968" cy="2125086"/>
          </a:xfrm>
          <a:prstGeom prst="rect">
            <a:avLst/>
          </a:prstGeom>
          <a:solidFill>
            <a:srgbClr val="292B38"/>
          </a:solidFill>
          <a:ln w="25400">
            <a:miter lim="400000"/>
          </a:ln>
        </p:spPr>
        <p:txBody>
          <a:bodyPr lIns="50800" tIns="50800" rIns="50800" bIns="50800" anchor="ctr"/>
          <a:lstStyle/>
          <a:p>
            <a:pPr/>
          </a:p>
        </p:txBody>
      </p:sp>
      <p:sp>
        <p:nvSpPr>
          <p:cNvPr id="28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8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84" name="Implicitly Unwrapped Optionals"/>
          <p:cNvSpPr/>
          <p:nvPr>
            <p:ph type="title"/>
          </p:nvPr>
        </p:nvSpPr>
        <p:spPr>
          <a:prstGeom prst="rect">
            <a:avLst/>
          </a:prstGeom>
        </p:spPr>
        <p:txBody>
          <a:bodyPr/>
          <a:lstStyle/>
          <a:p>
            <a:pPr/>
            <a:r>
              <a:t>Implicitly Unwrapped Optionals</a:t>
            </a:r>
          </a:p>
        </p:txBody>
      </p:sp>
      <p:sp>
        <p:nvSpPr>
          <p:cNvPr id="285" name="class ViewController: UIViewController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class</a:t>
            </a:r>
            <a:r>
              <a:t> ViewController: </a:t>
            </a:r>
            <a:r>
              <a:rPr>
                <a:solidFill>
                  <a:srgbClr val="6CCE66"/>
                </a:solidFill>
              </a:rPr>
              <a:t>UIViewController</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3DCCCC"/>
                </a:solidFill>
              </a:rPr>
              <a:t>@IBOutlet var</a:t>
            </a:r>
            <a:r>
              <a:t> label: </a:t>
            </a:r>
            <a:r>
              <a:rPr>
                <a:solidFill>
                  <a:srgbClr val="6CCE66"/>
                </a:solidFill>
              </a:rPr>
              <a:t>UILabel</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a:buSzTx/>
              <a:buNone/>
            </a:pPr>
            <a:r>
              <a:t>Unwraps automatically</a:t>
            </a:r>
          </a:p>
          <a:p>
            <a:pPr marL="0" indent="0">
              <a:buSzTx/>
              <a:buNone/>
            </a:pPr>
            <a:r>
              <a:t>Should only be used when need to initialize an object without supplying the value and you’ll be giving the object a value soon afterwards</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8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89" name="Nil-coalescing operator"/>
          <p:cNvSpPr/>
          <p:nvPr>
            <p:ph type="title"/>
          </p:nvPr>
        </p:nvSpPr>
        <p:spPr>
          <a:prstGeom prst="rect">
            <a:avLst/>
          </a:prstGeom>
        </p:spPr>
        <p:txBody>
          <a:bodyPr/>
          <a:lstStyle/>
          <a:p>
            <a:pPr/>
            <a:r>
              <a:t>Nil-coalescing operator</a:t>
            </a:r>
          </a:p>
        </p:txBody>
      </p:sp>
      <p:sp>
        <p:nvSpPr>
          <p:cNvPr id="290" name="In Swift, you can also use nil-coalescing operator to check whether a optional contains a value or not.…"/>
          <p:cNvSpPr/>
          <p:nvPr>
            <p:ph type="body" idx="1"/>
          </p:nvPr>
        </p:nvSpPr>
        <p:spPr>
          <a:xfrm>
            <a:off x="1143000" y="2298700"/>
            <a:ext cx="22098000" cy="9118600"/>
          </a:xfrm>
          <a:prstGeom prst="rect">
            <a:avLst/>
          </a:prstGeom>
        </p:spPr>
        <p:txBody>
          <a:bodyPr/>
          <a:lstStyle/>
          <a:p>
            <a:pPr marL="586153" indent="-586153">
              <a:buSzPct val="50000"/>
              <a:buBlip>
                <a:blip r:embed="rId2"/>
              </a:buBlip>
            </a:pPr>
            <a:r>
              <a:t>In Swift, you can also use </a:t>
            </a:r>
            <a:r>
              <a:rPr b="1"/>
              <a:t>nil-coalescing</a:t>
            </a:r>
            <a:r>
              <a:t> operator to check whether a optional contains a value or not.</a:t>
            </a:r>
          </a:p>
          <a:p>
            <a:pPr marL="586153" indent="-586153">
              <a:buSzPct val="50000"/>
              <a:buBlip>
                <a:blip r:embed="rId2"/>
              </a:buBlip>
            </a:pPr>
            <a:r>
              <a:t>It is defined as </a:t>
            </a:r>
            <a:r>
              <a:rPr spc="-41" sz="4100">
                <a:solidFill>
                  <a:srgbClr val="FFFB00"/>
                </a:solidFill>
              </a:rPr>
              <a:t>(a ?? b)</a:t>
            </a:r>
            <a:r>
              <a:rPr spc="-41" sz="4100"/>
              <a:t>.</a:t>
            </a:r>
            <a:r>
              <a:t> </a:t>
            </a:r>
          </a:p>
          <a:p>
            <a:pPr marL="586153" indent="-586153">
              <a:buSzPct val="50000"/>
              <a:buBlip>
                <a:blip r:embed="rId2"/>
              </a:buBlip>
            </a:pPr>
            <a:r>
              <a:t>It unwraps an optional </a:t>
            </a:r>
            <a:r>
              <a:rPr spc="-41" sz="4100">
                <a:solidFill>
                  <a:srgbClr val="FFFB00"/>
                </a:solidFill>
              </a:rPr>
              <a:t>a</a:t>
            </a:r>
            <a:r>
              <a:t> and returns it if it contains a value, or returns a default value </a:t>
            </a:r>
            <a:r>
              <a:rPr spc="-41" sz="4100">
                <a:solidFill>
                  <a:srgbClr val="FFFB00"/>
                </a:solidFill>
              </a:rPr>
              <a:t>b</a:t>
            </a:r>
            <a:r>
              <a:t> if </a:t>
            </a:r>
            <a:r>
              <a:rPr spc="-41" sz="4100">
                <a:solidFill>
                  <a:srgbClr val="FFFB00"/>
                </a:solidFill>
              </a:rPr>
              <a:t>a</a:t>
            </a:r>
            <a:r>
              <a:t> is nil.</a:t>
            </a: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br/>
          </a:p>
        </p:txBody>
      </p:sp>
      <p:pic>
        <p:nvPicPr>
          <p:cNvPr id="291" name="pasted-movie.png" descr="pasted-movie.png"/>
          <p:cNvPicPr>
            <a:picLocks noChangeAspect="1"/>
          </p:cNvPicPr>
          <p:nvPr/>
        </p:nvPicPr>
        <p:blipFill>
          <a:blip r:embed="rId3">
            <a:extLst/>
          </a:blip>
          <a:stretch>
            <a:fillRect/>
          </a:stretch>
        </p:blipFill>
        <p:spPr>
          <a:xfrm>
            <a:off x="1143000" y="2298700"/>
            <a:ext cx="11277600" cy="965200"/>
          </a:xfrm>
          <a:prstGeom prst="rect">
            <a:avLst/>
          </a:prstGeom>
          <a:ln w="12700">
            <a:miter lim="400000"/>
          </a:ln>
        </p:spPr>
      </p:pic>
      <p:pic>
        <p:nvPicPr>
          <p:cNvPr id="292" name="pasted-movie.png" descr="pasted-movie.png"/>
          <p:cNvPicPr>
            <a:picLocks noChangeAspect="1"/>
          </p:cNvPicPr>
          <p:nvPr/>
        </p:nvPicPr>
        <p:blipFill>
          <a:blip r:embed="rId3">
            <a:extLst/>
          </a:blip>
          <a:stretch>
            <a:fillRect/>
          </a:stretch>
        </p:blipFill>
        <p:spPr>
          <a:xfrm>
            <a:off x="1143000" y="2298700"/>
            <a:ext cx="11277600" cy="965200"/>
          </a:xfrm>
          <a:prstGeom prst="rect">
            <a:avLst/>
          </a:prstGeom>
          <a:ln w="12700">
            <a:miter lim="400000"/>
          </a:ln>
        </p:spPr>
      </p:pic>
      <p:pic>
        <p:nvPicPr>
          <p:cNvPr id="293" name="pasted-movie.png" descr="pasted-movie.png"/>
          <p:cNvPicPr>
            <a:picLocks noChangeAspect="1"/>
          </p:cNvPicPr>
          <p:nvPr/>
        </p:nvPicPr>
        <p:blipFill>
          <a:blip r:embed="rId3">
            <a:extLst/>
          </a:blip>
          <a:stretch>
            <a:fillRect/>
          </a:stretch>
        </p:blipFill>
        <p:spPr>
          <a:xfrm>
            <a:off x="1143000" y="2298700"/>
            <a:ext cx="11277600" cy="965200"/>
          </a:xfrm>
          <a:prstGeom prst="rect">
            <a:avLst/>
          </a:prstGeom>
          <a:ln w="12700">
            <a:miter lim="400000"/>
          </a:ln>
        </p:spPr>
      </p:pic>
      <p:pic>
        <p:nvPicPr>
          <p:cNvPr id="294" name="pasted-movie.png" descr="pasted-movie.png"/>
          <p:cNvPicPr>
            <a:picLocks noChangeAspect="1"/>
          </p:cNvPicPr>
          <p:nvPr/>
        </p:nvPicPr>
        <p:blipFill>
          <a:blip r:embed="rId3">
            <a:extLst/>
          </a:blip>
          <a:stretch>
            <a:fillRect/>
          </a:stretch>
        </p:blipFill>
        <p:spPr>
          <a:xfrm>
            <a:off x="1915694" y="11658600"/>
            <a:ext cx="11277601" cy="965200"/>
          </a:xfrm>
          <a:prstGeom prst="rect">
            <a:avLst/>
          </a:prstGeom>
          <a:ln w="12700">
            <a:miter lim="400000"/>
          </a:ln>
        </p:spPr>
      </p:pic>
      <p:sp>
        <p:nvSpPr>
          <p:cNvPr id="295" name="Text"/>
          <p:cNvSpPr txBox="1"/>
          <p:nvPr/>
        </p:nvSpPr>
        <p:spPr>
          <a:xfrm>
            <a:off x="1795473" y="7111271"/>
            <a:ext cx="14926374" cy="3607365"/>
          </a:xfrm>
          <a:prstGeom prst="rect">
            <a:avLst/>
          </a:prstGeom>
          <a:ln w="25400">
            <a:miter lim="400000"/>
          </a:ln>
          <a:extLst>
            <a:ext uri="{C572A759-6A51-4108-AA02-DFA0A04FC94B}">
              <ma14:wrappingTextBoxFlag xmlns:ma14="http://schemas.microsoft.com/office/mac/drawingml/2011/main" val="1"/>
            </a:ext>
          </a:extLst>
        </p:spPr>
        <p:txBody>
          <a:bodyPr wrap="none" lIns="63500" tIns="63500" rIns="63500" bIns="63500" anchor="ctr">
            <a:spAutoFit/>
          </a:bodyPr>
          <a:lstStyle>
            <a:lvl1pPr algn="l">
              <a:spcBef>
                <a:spcPts val="2800"/>
              </a:spcBef>
              <a:defRPr spc="-48" sz="4800"/>
            </a:lvl1pPr>
          </a:lstStyle>
          <a:p>
            <a:pPr/>
            <a:r>
              <a:t> </a:t>
            </a:r>
          </a:p>
        </p:txBody>
      </p:sp>
      <p:pic>
        <p:nvPicPr>
          <p:cNvPr id="296" name="pasted-movie.png" descr="pasted-movie.png"/>
          <p:cNvPicPr>
            <a:picLocks noChangeAspect="1"/>
          </p:cNvPicPr>
          <p:nvPr/>
        </p:nvPicPr>
        <p:blipFill>
          <a:blip r:embed="rId4">
            <a:extLst/>
          </a:blip>
          <a:stretch>
            <a:fillRect/>
          </a:stretch>
        </p:blipFill>
        <p:spPr>
          <a:xfrm>
            <a:off x="1795473" y="7111271"/>
            <a:ext cx="14623301" cy="3350522"/>
          </a:xfrm>
          <a:prstGeom prst="rect">
            <a:avLst/>
          </a:prstGeom>
          <a:ln w="12700">
            <a:miter lim="400000"/>
          </a:ln>
        </p:spPr>
      </p:pic>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9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00" name="Guard statement"/>
          <p:cNvSpPr/>
          <p:nvPr>
            <p:ph type="title"/>
          </p:nvPr>
        </p:nvSpPr>
        <p:spPr>
          <a:prstGeom prst="rect">
            <a:avLst/>
          </a:prstGeom>
        </p:spPr>
        <p:txBody>
          <a:bodyPr/>
          <a:lstStyle/>
          <a:p>
            <a:pPr/>
            <a:r>
              <a:t>Guard statement</a:t>
            </a:r>
          </a:p>
        </p:txBody>
      </p:sp>
      <p:sp>
        <p:nvSpPr>
          <p:cNvPr id="301" name="For now, just think of guard as an if-else condition with no if block.…"/>
          <p:cNvSpPr/>
          <p:nvPr>
            <p:ph type="body" idx="1"/>
          </p:nvPr>
        </p:nvSpPr>
        <p:spPr>
          <a:xfrm>
            <a:off x="1143000" y="2298700"/>
            <a:ext cx="22098000" cy="9118600"/>
          </a:xfrm>
          <a:prstGeom prst="rect">
            <a:avLst/>
          </a:prstGeom>
        </p:spPr>
        <p:txBody>
          <a:bodyPr/>
          <a:lstStyle/>
          <a:p>
            <a:pPr marL="500673" indent="-500673">
              <a:buSzPct val="50000"/>
              <a:buBlip>
                <a:blip r:embed="rId2"/>
              </a:buBlip>
              <a:defRPr spc="-41" sz="4100"/>
            </a:pPr>
            <a:r>
              <a:t>For now, just think of guard as an </a:t>
            </a:r>
            <a:r>
              <a:rPr spc="-29" sz="3000">
                <a:solidFill>
                  <a:srgbClr val="FDC35D"/>
                </a:solidFill>
                <a:latin typeface="Menlo Regular"/>
                <a:ea typeface="Menlo Regular"/>
                <a:cs typeface="Menlo Regular"/>
                <a:sym typeface="Menlo Regular"/>
              </a:rPr>
              <a:t>if-else</a:t>
            </a:r>
            <a:r>
              <a:t> condition with no if block. </a:t>
            </a:r>
          </a:p>
          <a:p>
            <a:pPr marL="500673" indent="-500673">
              <a:buSzPct val="50000"/>
              <a:buBlip>
                <a:blip r:embed="rId2"/>
              </a:buBlip>
              <a:defRPr spc="-41" sz="4100"/>
            </a:pPr>
            <a:r>
              <a:t>If the condition fails, else statement is executed. If not, next statement is executed. </a:t>
            </a:r>
          </a:p>
          <a:p>
            <a:pPr marL="500673" indent="-500673">
              <a:buSzPct val="50000"/>
              <a:buBlip>
                <a:blip r:embed="rId2"/>
              </a:buBlip>
              <a:defRPr spc="-41" sz="4100"/>
            </a:pPr>
            <a:r>
              <a:t>In given example, the guard contains a condition whether an optional </a:t>
            </a:r>
            <a:r>
              <a:rPr spc="-29" sz="3000">
                <a:solidFill>
                  <a:srgbClr val="FDC35D"/>
                </a:solidFill>
                <a:latin typeface="Menlo Regular"/>
                <a:ea typeface="Menlo Regular"/>
                <a:cs typeface="Menlo Regular"/>
                <a:sym typeface="Menlo Regular"/>
              </a:rPr>
              <a:t>someValue</a:t>
            </a:r>
            <a:r>
              <a:t> contains a value or not. If it contains a value then </a:t>
            </a:r>
            <a:r>
              <a:rPr spc="-29" sz="3000">
                <a:solidFill>
                  <a:srgbClr val="FDC35D"/>
                </a:solidFill>
                <a:latin typeface="Menlo Regular"/>
                <a:ea typeface="Menlo Regular"/>
                <a:cs typeface="Menlo Regular"/>
                <a:sym typeface="Menlo Regular"/>
              </a:rPr>
              <a:t>guard-let</a:t>
            </a:r>
            <a:r>
              <a:t> statement automatically unwraps the value and places the unwrapped value in </a:t>
            </a:r>
            <a:r>
              <a:rPr spc="-29" sz="3000">
                <a:solidFill>
                  <a:srgbClr val="FDC35D"/>
                </a:solidFill>
                <a:latin typeface="Menlo Regular"/>
                <a:ea typeface="Menlo Regular"/>
                <a:cs typeface="Menlo Regular"/>
                <a:sym typeface="Menlo Regular"/>
              </a:rPr>
              <a:t>temp </a:t>
            </a:r>
            <a:r>
              <a:t>constant. Otherwise, else block gets executed and and it would return to the calling function.</a:t>
            </a: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p>
          <a:p>
            <a:pPr marL="586153" indent="-586153">
              <a:buSzPct val="50000"/>
              <a:buBlip>
                <a:blip r:embed="rId2"/>
              </a:buBlip>
            </a:pPr>
            <a:br/>
          </a:p>
        </p:txBody>
      </p:sp>
      <p:pic>
        <p:nvPicPr>
          <p:cNvPr id="302" name="pasted-movie.png" descr="pasted-movie.png"/>
          <p:cNvPicPr>
            <a:picLocks noChangeAspect="1"/>
          </p:cNvPicPr>
          <p:nvPr/>
        </p:nvPicPr>
        <p:blipFill>
          <a:blip r:embed="rId3">
            <a:extLst/>
          </a:blip>
          <a:stretch>
            <a:fillRect/>
          </a:stretch>
        </p:blipFill>
        <p:spPr>
          <a:xfrm>
            <a:off x="1143000" y="2298700"/>
            <a:ext cx="11277600" cy="965200"/>
          </a:xfrm>
          <a:prstGeom prst="rect">
            <a:avLst/>
          </a:prstGeom>
          <a:ln w="12700">
            <a:miter lim="400000"/>
          </a:ln>
        </p:spPr>
      </p:pic>
      <p:pic>
        <p:nvPicPr>
          <p:cNvPr id="303" name="pasted-movie.png" descr="pasted-movie.png"/>
          <p:cNvPicPr>
            <a:picLocks noChangeAspect="1"/>
          </p:cNvPicPr>
          <p:nvPr/>
        </p:nvPicPr>
        <p:blipFill>
          <a:blip r:embed="rId3">
            <a:extLst/>
          </a:blip>
          <a:stretch>
            <a:fillRect/>
          </a:stretch>
        </p:blipFill>
        <p:spPr>
          <a:xfrm>
            <a:off x="1143000" y="2298700"/>
            <a:ext cx="11277600" cy="965200"/>
          </a:xfrm>
          <a:prstGeom prst="rect">
            <a:avLst/>
          </a:prstGeom>
          <a:ln w="12700">
            <a:miter lim="400000"/>
          </a:ln>
        </p:spPr>
      </p:pic>
      <p:pic>
        <p:nvPicPr>
          <p:cNvPr id="304" name="pasted-movie.png" descr="pasted-movie.png"/>
          <p:cNvPicPr>
            <a:picLocks noChangeAspect="1"/>
          </p:cNvPicPr>
          <p:nvPr/>
        </p:nvPicPr>
        <p:blipFill>
          <a:blip r:embed="rId3">
            <a:extLst/>
          </a:blip>
          <a:stretch>
            <a:fillRect/>
          </a:stretch>
        </p:blipFill>
        <p:spPr>
          <a:xfrm>
            <a:off x="1143000" y="2298700"/>
            <a:ext cx="11277600" cy="965200"/>
          </a:xfrm>
          <a:prstGeom prst="rect">
            <a:avLst/>
          </a:prstGeom>
          <a:ln w="12700">
            <a:miter lim="400000"/>
          </a:ln>
        </p:spPr>
      </p:pic>
      <p:pic>
        <p:nvPicPr>
          <p:cNvPr id="305" name="pasted-movie.png" descr="pasted-movie.png"/>
          <p:cNvPicPr>
            <a:picLocks noChangeAspect="1"/>
          </p:cNvPicPr>
          <p:nvPr/>
        </p:nvPicPr>
        <p:blipFill>
          <a:blip r:embed="rId4">
            <a:extLst/>
          </a:blip>
          <a:stretch>
            <a:fillRect/>
          </a:stretch>
        </p:blipFill>
        <p:spPr>
          <a:xfrm>
            <a:off x="2691892" y="7309698"/>
            <a:ext cx="10464801" cy="5232401"/>
          </a:xfrm>
          <a:prstGeom prst="rect">
            <a:avLst/>
          </a:prstGeom>
          <a:ln w="12700">
            <a:miter lim="400000"/>
          </a:ln>
        </p:spPr>
      </p:pic>
      <p:sp>
        <p:nvSpPr>
          <p:cNvPr id="306" name="OUTPUT: It has some value 5"/>
          <p:cNvSpPr txBox="1"/>
          <p:nvPr/>
        </p:nvSpPr>
        <p:spPr>
          <a:xfrm>
            <a:off x="14263490" y="12652176"/>
            <a:ext cx="6076443" cy="660207"/>
          </a:xfrm>
          <a:prstGeom prst="rect">
            <a:avLst/>
          </a:prstGeom>
          <a:ln w="25400">
            <a:miter lim="400000"/>
          </a:ln>
          <a:extLst>
            <a:ext uri="{C572A759-6A51-4108-AA02-DFA0A04FC94B}">
              <ma14:wrappingTextBoxFlag xmlns:ma14="http://schemas.microsoft.com/office/mac/drawingml/2011/main" val="1"/>
            </a:ext>
          </a:extLst>
        </p:spPr>
        <p:txBody>
          <a:bodyPr wrap="none" lIns="63500" tIns="63500" rIns="63500" bIns="63500" anchor="ctr">
            <a:spAutoFit/>
          </a:bodyPr>
          <a:lstStyle/>
          <a:p>
            <a:pPr>
              <a:defRPr sz="3500"/>
            </a:pPr>
            <a:r>
              <a:rPr b="1"/>
              <a:t>OUTPUT</a:t>
            </a:r>
            <a:r>
              <a:t>: </a:t>
            </a:r>
            <a:r>
              <a:rPr>
                <a:solidFill>
                  <a:srgbClr val="FF9300"/>
                </a:solidFill>
              </a:rPr>
              <a:t>It has some value 5</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0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10" name="Using Guard Statement with Optionals"/>
          <p:cNvSpPr/>
          <p:nvPr>
            <p:ph type="title"/>
          </p:nvPr>
        </p:nvSpPr>
        <p:spPr>
          <a:prstGeom prst="rect">
            <a:avLst/>
          </a:prstGeom>
        </p:spPr>
        <p:txBody>
          <a:bodyPr/>
          <a:lstStyle>
            <a:lvl1pPr defTabSz="457200">
              <a:lnSpc>
                <a:spcPct val="100000"/>
              </a:lnSpc>
              <a:defRPr b="0" spc="0" sz="7900">
                <a:latin typeface="Helvetica"/>
                <a:ea typeface="Helvetica"/>
                <a:cs typeface="Helvetica"/>
                <a:sym typeface="Helvetica"/>
              </a:defRPr>
            </a:lvl1pPr>
          </a:lstStyle>
          <a:p>
            <a:pPr/>
            <a:r>
              <a:t>Using Guard Statement with Optionals</a:t>
            </a:r>
          </a:p>
        </p:txBody>
      </p:sp>
      <p:sp>
        <p:nvSpPr>
          <p:cNvPr id="311" name="The guard statement in Swift is used to safely unwrap optionals.…"/>
          <p:cNvSpPr/>
          <p:nvPr>
            <p:ph type="body" idx="1"/>
          </p:nvPr>
        </p:nvSpPr>
        <p:spPr>
          <a:prstGeom prst="rect">
            <a:avLst/>
          </a:prstGeom>
          <a:solidFill>
            <a:srgbClr val="000000"/>
          </a:solidFill>
        </p:spPr>
        <p:txBody>
          <a:bodyPr/>
          <a:lstStyle/>
          <a:p>
            <a:pPr marL="598365" indent="-598365" defTabSz="457200">
              <a:spcBef>
                <a:spcPts val="0"/>
              </a:spcBef>
              <a:buSzPct val="50000"/>
              <a:buBlip>
                <a:blip r:embed="rId2"/>
              </a:buBlip>
              <a:defRPr spc="0" sz="4900">
                <a:latin typeface="Helvetica"/>
                <a:ea typeface="Helvetica"/>
                <a:cs typeface="Helvetica"/>
                <a:sym typeface="Helvetica"/>
              </a:defRPr>
            </a:pPr>
            <a:r>
              <a:t>The </a:t>
            </a:r>
            <a:r>
              <a:t>guard</a:t>
            </a:r>
            <a:r>
              <a:t> statement in Swift is used to safely unwrap optionals. </a:t>
            </a:r>
          </a:p>
          <a:p>
            <a:pPr marL="598365" indent="-598365" defTabSz="457200">
              <a:spcBef>
                <a:spcPts val="0"/>
              </a:spcBef>
              <a:buSzPct val="50000"/>
              <a:buBlip>
                <a:blip r:embed="rId2"/>
              </a:buBlip>
              <a:defRPr spc="0" sz="4900">
                <a:latin typeface="Helvetica"/>
                <a:ea typeface="Helvetica"/>
                <a:cs typeface="Helvetica"/>
                <a:sym typeface="Helvetica"/>
              </a:defRPr>
            </a:pPr>
            <a:r>
              <a:t>It allows you to check for a condition and if that condition isn’t met, it exits the current scope, preventing the optional from being unwrapped.</a:t>
            </a:r>
          </a:p>
          <a:p>
            <a:pPr marL="598365" indent="-598365" defTabSz="457200">
              <a:spcBef>
                <a:spcPts val="0"/>
              </a:spcBef>
              <a:buSzPct val="50000"/>
              <a:buBlip>
                <a:blip r:embed="rId2"/>
              </a:buBlip>
              <a:defRPr spc="0" sz="6200">
                <a:latin typeface="Helvetica"/>
                <a:ea typeface="Helvetica"/>
                <a:cs typeface="Helvetica"/>
                <a:sym typeface="Helvetica"/>
              </a:defRPr>
            </a:pPr>
          </a:p>
          <a:p>
            <a:pPr lvl="5" defTabSz="457200">
              <a:lnSpc>
                <a:spcPct val="100000"/>
              </a:lnSpc>
              <a:defRPr sz="5300">
                <a:solidFill>
                  <a:srgbClr val="918791"/>
                </a:solidFill>
                <a:latin typeface="Courier"/>
                <a:ea typeface="Courier"/>
                <a:cs typeface="Courier"/>
                <a:sym typeface="Courier"/>
              </a:defRPr>
            </a:pPr>
            <a:r>
              <a:rPr>
                <a:solidFill>
                  <a:srgbClr val="FF85FF"/>
                </a:solidFill>
              </a:rPr>
              <a:t>func</a:t>
            </a:r>
            <a:r>
              <a:rPr>
                <a:solidFill>
                  <a:srgbClr val="14161E"/>
                </a:solidFill>
              </a:rPr>
              <a:t> </a:t>
            </a:r>
            <a:r>
              <a:rPr>
                <a:solidFill>
                  <a:srgbClr val="00FDFF"/>
                </a:solidFill>
              </a:rPr>
              <a:t>processData</a:t>
            </a:r>
            <a:r>
              <a:rPr>
                <a:solidFill>
                  <a:srgbClr val="FFFFFF"/>
                </a:solidFill>
              </a:rPr>
              <a:t>(</a:t>
            </a:r>
            <a:r>
              <a:rPr>
                <a:solidFill>
                  <a:srgbClr val="FF5A00"/>
                </a:solidFill>
              </a:rPr>
              <a:t>data</a:t>
            </a:r>
            <a:r>
              <a:rPr>
                <a:solidFill>
                  <a:srgbClr val="FFFFFF"/>
                </a:solidFill>
              </a:rPr>
              <a:t>:</a:t>
            </a:r>
            <a:r>
              <a:rPr>
                <a:solidFill>
                  <a:srgbClr val="14161E"/>
                </a:solidFill>
              </a:rPr>
              <a:t> </a:t>
            </a:r>
            <a:r>
              <a:rPr>
                <a:solidFill>
                  <a:srgbClr val="FF5A00"/>
                </a:solidFill>
              </a:rPr>
              <a:t>Data</a:t>
            </a:r>
            <a:r>
              <a:rPr>
                <a:solidFill>
                  <a:srgbClr val="FFFFFF"/>
                </a:solidFill>
              </a:rPr>
              <a:t>?)</a:t>
            </a:r>
            <a:r>
              <a:rPr>
                <a:solidFill>
                  <a:srgbClr val="14161E"/>
                </a:solidFill>
              </a:rPr>
              <a:t> </a:t>
            </a:r>
            <a:endParaRPr>
              <a:solidFill>
                <a:srgbClr val="14161E"/>
              </a:solidFill>
            </a:endParaRPr>
          </a:p>
          <a:p>
            <a:pPr lvl="5" defTabSz="457200">
              <a:lnSpc>
                <a:spcPct val="100000"/>
              </a:lnSpc>
              <a:defRPr sz="5300">
                <a:solidFill>
                  <a:srgbClr val="918791"/>
                </a:solidFill>
                <a:latin typeface="Courier"/>
                <a:ea typeface="Courier"/>
                <a:cs typeface="Courier"/>
                <a:sym typeface="Courier"/>
              </a:defRPr>
            </a:pPr>
            <a:r>
              <a:rPr>
                <a:solidFill>
                  <a:srgbClr val="FFFFFF"/>
                </a:solidFill>
              </a:rPr>
              <a:t>{</a:t>
            </a:r>
            <a:r>
              <a:rPr>
                <a:solidFill>
                  <a:srgbClr val="14161E"/>
                </a:solidFill>
              </a:rPr>
              <a:t> </a:t>
            </a:r>
            <a:endParaRPr>
              <a:solidFill>
                <a:srgbClr val="14161E"/>
              </a:solidFill>
            </a:endParaRPr>
          </a:p>
          <a:p>
            <a:pPr lvl="5" defTabSz="457200">
              <a:lnSpc>
                <a:spcPct val="100000"/>
              </a:lnSpc>
              <a:defRPr sz="5300">
                <a:solidFill>
                  <a:srgbClr val="918791"/>
                </a:solidFill>
                <a:latin typeface="Courier"/>
                <a:ea typeface="Courier"/>
                <a:cs typeface="Courier"/>
                <a:sym typeface="Courier"/>
              </a:defRPr>
            </a:pPr>
            <a:r>
              <a:rPr>
                <a:solidFill>
                  <a:srgbClr val="FF85FF"/>
                </a:solidFill>
              </a:rPr>
              <a:t>guard let</a:t>
            </a:r>
            <a:r>
              <a:rPr>
                <a:solidFill>
                  <a:srgbClr val="14161E"/>
                </a:solidFill>
              </a:rPr>
              <a:t> </a:t>
            </a:r>
            <a:r>
              <a:rPr>
                <a:solidFill>
                  <a:srgbClr val="EBEBEB"/>
                </a:solidFill>
              </a:rPr>
              <a:t>data</a:t>
            </a:r>
            <a:r>
              <a:rPr>
                <a:solidFill>
                  <a:srgbClr val="14161E"/>
                </a:solidFill>
              </a:rPr>
              <a:t> </a:t>
            </a:r>
            <a:r>
              <a:rPr>
                <a:solidFill>
                  <a:srgbClr val="FF85FF"/>
                </a:solidFill>
              </a:rPr>
              <a:t>else</a:t>
            </a:r>
            <a:r>
              <a:rPr>
                <a:solidFill>
                  <a:srgbClr val="14161E"/>
                </a:solidFill>
              </a:rPr>
              <a:t> </a:t>
            </a:r>
            <a:r>
              <a:rPr>
                <a:solidFill>
                  <a:srgbClr val="FFFFFF"/>
                </a:solidFill>
              </a:rPr>
              <a:t>{</a:t>
            </a:r>
            <a:r>
              <a:rPr>
                <a:solidFill>
                  <a:srgbClr val="14161E"/>
                </a:solidFill>
              </a:rPr>
              <a:t> </a:t>
            </a:r>
            <a:endParaRPr>
              <a:solidFill>
                <a:srgbClr val="14161E"/>
              </a:solidFill>
            </a:endParaRPr>
          </a:p>
          <a:p>
            <a:pPr lvl="6" defTabSz="457200">
              <a:lnSpc>
                <a:spcPct val="100000"/>
              </a:lnSpc>
              <a:defRPr sz="5300">
                <a:solidFill>
                  <a:srgbClr val="918791"/>
                </a:solidFill>
                <a:latin typeface="Courier"/>
                <a:ea typeface="Courier"/>
                <a:cs typeface="Courier"/>
                <a:sym typeface="Courier"/>
              </a:defRPr>
            </a:pPr>
            <a:r>
              <a:rPr>
                <a:solidFill>
                  <a:srgbClr val="FF5A00"/>
                </a:solidFill>
              </a:rPr>
              <a:t>print</a:t>
            </a:r>
            <a:r>
              <a:rPr>
                <a:solidFill>
                  <a:srgbClr val="FFFFFF"/>
                </a:solidFill>
              </a:rPr>
              <a:t>(</a:t>
            </a:r>
            <a:r>
              <a:rPr>
                <a:solidFill>
                  <a:srgbClr val="8EFA00"/>
                </a:solidFill>
              </a:rPr>
              <a:t>"No data found"</a:t>
            </a:r>
            <a:r>
              <a:rPr>
                <a:solidFill>
                  <a:srgbClr val="FFFFFF"/>
                </a:solidFill>
              </a:rPr>
              <a:t>)</a:t>
            </a:r>
            <a:r>
              <a:rPr>
                <a:solidFill>
                  <a:srgbClr val="14161E"/>
                </a:solidFill>
              </a:rPr>
              <a:t> </a:t>
            </a:r>
            <a:endParaRPr>
              <a:solidFill>
                <a:srgbClr val="14161E"/>
              </a:solidFill>
            </a:endParaRPr>
          </a:p>
          <a:p>
            <a:pPr lvl="6" defTabSz="457200">
              <a:lnSpc>
                <a:spcPct val="100000"/>
              </a:lnSpc>
              <a:defRPr sz="5300">
                <a:solidFill>
                  <a:srgbClr val="918791"/>
                </a:solidFill>
                <a:latin typeface="Courier"/>
                <a:ea typeface="Courier"/>
                <a:cs typeface="Courier"/>
                <a:sym typeface="Courier"/>
              </a:defRPr>
            </a:pPr>
            <a:r>
              <a:rPr>
                <a:solidFill>
                  <a:srgbClr val="FF85FF"/>
                </a:solidFill>
              </a:rPr>
              <a:t>return</a:t>
            </a:r>
            <a:r>
              <a:rPr>
                <a:solidFill>
                  <a:srgbClr val="14161E"/>
                </a:solidFill>
              </a:rPr>
              <a:t> </a:t>
            </a:r>
            <a:endParaRPr>
              <a:solidFill>
                <a:srgbClr val="14161E"/>
              </a:solidFill>
            </a:endParaRPr>
          </a:p>
          <a:p>
            <a:pPr lvl="5" defTabSz="457200">
              <a:lnSpc>
                <a:spcPct val="100000"/>
              </a:lnSpc>
              <a:defRPr sz="5300">
                <a:latin typeface="Courier"/>
                <a:ea typeface="Courier"/>
                <a:cs typeface="Courier"/>
                <a:sym typeface="Courier"/>
              </a:defRPr>
            </a:pPr>
            <a:r>
              <a:t>}</a:t>
            </a:r>
            <a:endParaRPr>
              <a:solidFill>
                <a:srgbClr val="14161E"/>
              </a:solidFill>
            </a:endParaRPr>
          </a:p>
          <a:p>
            <a:pPr lvl="5" defTabSz="457200">
              <a:lnSpc>
                <a:spcPct val="100000"/>
              </a:lnSpc>
              <a:defRPr sz="5300">
                <a:solidFill>
                  <a:srgbClr val="918791"/>
                </a:solidFill>
                <a:latin typeface="Courier"/>
                <a:ea typeface="Courier"/>
                <a:cs typeface="Courier"/>
                <a:sym typeface="Courier"/>
              </a:defRPr>
            </a:pPr>
            <a:r>
              <a:rPr>
                <a:solidFill>
                  <a:srgbClr val="FFFB00"/>
                </a:solidFill>
              </a:rPr>
              <a:t>// process the data</a:t>
            </a:r>
            <a:r>
              <a:rPr>
                <a:solidFill>
                  <a:srgbClr val="14161E"/>
                </a:solidFill>
              </a:rPr>
              <a:t> </a:t>
            </a:r>
            <a:endParaRPr>
              <a:solidFill>
                <a:srgbClr val="14161E"/>
              </a:solidFill>
            </a:endParaRPr>
          </a:p>
          <a:p>
            <a:pPr lvl="5" defTabSz="457200">
              <a:lnSpc>
                <a:spcPct val="100000"/>
              </a:lnSpc>
              <a:defRPr sz="5300">
                <a:latin typeface="Courier"/>
                <a:ea typeface="Courier"/>
                <a:cs typeface="Courier"/>
                <a:sym typeface="Courier"/>
              </a:defRPr>
            </a:pPr>
            <a:r>
              <a:t>}</a:t>
            </a:r>
            <a:endParaRPr>
              <a:solidFill>
                <a:srgbClr val="14161E"/>
              </a:solidFill>
            </a:endParaRPr>
          </a:p>
          <a:p>
            <a:pPr marL="0" indent="0" algn="ctr" defTabSz="457200">
              <a:spcBef>
                <a:spcPts val="0"/>
              </a:spcBef>
              <a:buSzTx/>
              <a:buNone/>
              <a:defRPr spc="0" sz="1400">
                <a:solidFill>
                  <a:srgbClr val="000000">
                    <a:alpha val="84705"/>
                  </a:srgbClr>
                </a:solidFill>
                <a:latin typeface="Times Roman"/>
                <a:ea typeface="Times Roman"/>
                <a:cs typeface="Times Roman"/>
                <a:sym typeface="Times Roman"/>
              </a:defRPr>
            </a:pPr>
          </a:p>
          <a:p>
            <a:pPr marL="170961" indent="-170961" algn="ctr" defTabSz="457200">
              <a:spcBef>
                <a:spcPts val="0"/>
              </a:spcBef>
              <a:buSzPct val="50000"/>
              <a:buBlip>
                <a:blip r:embed="rId2"/>
              </a:buBlip>
              <a:defRPr spc="0" sz="1400">
                <a:solidFill>
                  <a:srgbClr val="000000">
                    <a:alpha val="84705"/>
                  </a:srgbClr>
                </a:solidFill>
                <a:latin typeface="Times Roman"/>
                <a:ea typeface="Times Roman"/>
                <a:cs typeface="Times Roman"/>
                <a:sym typeface="Times Roman"/>
              </a:defRPr>
            </a:pPr>
          </a:p>
          <a:p>
            <a:pPr marL="0" indent="0" defTabSz="457200">
              <a:spcBef>
                <a:spcPts val="0"/>
              </a:spcBef>
              <a:buSzTx/>
              <a:buNone/>
              <a:defRPr spc="0" sz="1600">
                <a:latin typeface="Helvetica"/>
                <a:ea typeface="Helvetica"/>
                <a:cs typeface="Helvetica"/>
                <a:sym typeface="Helvetica"/>
              </a:defRPr>
            </a:pP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4" name="Text"/>
          <p:cNvSpPr/>
          <p:nvPr>
            <p:ph type="body" idx="22"/>
          </p:nvPr>
        </p:nvSpPr>
        <p:spPr>
          <a:xfrm>
            <a:off x="1143000" y="1255216"/>
            <a:ext cx="22098001" cy="914401"/>
          </a:xfrm>
          <a:prstGeom prst="rect">
            <a:avLst/>
          </a:prstGeom>
        </p:spPr>
        <p:txBody>
          <a:bodyPr/>
          <a:lstStyle/>
          <a:p>
            <a:pPr defTabSz="825500">
              <a:lnSpc>
                <a:spcPct val="90000"/>
              </a:lnSpc>
              <a:defRPr spc="-136" sz="6800">
                <a:latin typeface="+mn-lt"/>
                <a:ea typeface="+mn-ea"/>
                <a:cs typeface="+mn-cs"/>
                <a:sym typeface="Helvetica Neue"/>
              </a:defRPr>
            </a:pPr>
          </a:p>
        </p:txBody>
      </p:sp>
      <p:sp>
        <p:nvSpPr>
          <p:cNvPr id="315" name="Using Multiple Guard Statements"/>
          <p:cNvSpPr/>
          <p:nvPr>
            <p:ph type="title"/>
          </p:nvPr>
        </p:nvSpPr>
        <p:spPr>
          <a:prstGeom prst="rect">
            <a:avLst/>
          </a:prstGeom>
        </p:spPr>
        <p:txBody>
          <a:bodyPr/>
          <a:lstStyle>
            <a:lvl1pPr defTabSz="457200">
              <a:lnSpc>
                <a:spcPct val="100000"/>
              </a:lnSpc>
              <a:defRPr b="0" spc="0" sz="7950">
                <a:latin typeface="Helvetica"/>
                <a:ea typeface="Helvetica"/>
                <a:cs typeface="Helvetica"/>
                <a:sym typeface="Helvetica"/>
              </a:defRPr>
            </a:lvl1pPr>
          </a:lstStyle>
          <a:p>
            <a:pPr/>
            <a:r>
              <a:t>Using Multiple Guard Statements</a:t>
            </a:r>
          </a:p>
        </p:txBody>
      </p:sp>
      <p:sp>
        <p:nvSpPr>
          <p:cNvPr id="316" name="You can also use multiple guard statements for multiple optionals in the same scope. This can make your code more readable.…"/>
          <p:cNvSpPr/>
          <p:nvPr>
            <p:ph type="body" idx="1"/>
          </p:nvPr>
        </p:nvSpPr>
        <p:spPr>
          <a:xfrm>
            <a:off x="975916" y="2478483"/>
            <a:ext cx="22098001" cy="10047972"/>
          </a:xfrm>
          <a:prstGeom prst="rect">
            <a:avLst/>
          </a:prstGeom>
        </p:spPr>
        <p:txBody>
          <a:bodyPr/>
          <a:lstStyle/>
          <a:p>
            <a:pPr marL="0" indent="0" defTabSz="457200">
              <a:spcBef>
                <a:spcPts val="0"/>
              </a:spcBef>
              <a:buSzTx/>
              <a:buNone/>
              <a:defRPr spc="0" sz="4400">
                <a:latin typeface="Helvetica"/>
                <a:ea typeface="Helvetica"/>
                <a:cs typeface="Helvetica"/>
                <a:sym typeface="Helvetica"/>
              </a:defRPr>
            </a:pPr>
            <a:r>
              <a:t>You can also use multiple </a:t>
            </a:r>
            <a:r>
              <a:rPr>
                <a:latin typeface="Times Roman"/>
                <a:ea typeface="Times Roman"/>
                <a:cs typeface="Times Roman"/>
                <a:sym typeface="Times Roman"/>
              </a:rPr>
              <a:t>guard</a:t>
            </a:r>
            <a:r>
              <a:t> statements for multiple optionals in the same scope. This can make your code more readable.</a:t>
            </a:r>
          </a:p>
          <a:p>
            <a:pPr marL="0" indent="0" defTabSz="457200">
              <a:spcBef>
                <a:spcPts val="0"/>
              </a:spcBef>
              <a:buSzTx/>
              <a:buNone/>
              <a:defRPr spc="0" sz="4300">
                <a:solidFill>
                  <a:srgbClr val="999999"/>
                </a:solidFill>
                <a:latin typeface="Courier"/>
                <a:ea typeface="Courier"/>
                <a:cs typeface="Courier"/>
                <a:sym typeface="Courier"/>
              </a:defRPr>
            </a:pPr>
          </a:p>
          <a:p>
            <a:pPr marL="0" indent="0" defTabSz="457200">
              <a:spcBef>
                <a:spcPts val="0"/>
              </a:spcBef>
              <a:buSzTx/>
              <a:buNone/>
              <a:defRPr spc="0" sz="4300">
                <a:solidFill>
                  <a:srgbClr val="999999"/>
                </a:solidFill>
                <a:latin typeface="Courier"/>
                <a:ea typeface="Courier"/>
                <a:cs typeface="Courier"/>
                <a:sym typeface="Courier"/>
              </a:defRPr>
            </a:pPr>
            <a:r>
              <a:rPr>
                <a:solidFill>
                  <a:srgbClr val="CC99CD"/>
                </a:solidFill>
              </a:rPr>
              <a:t>func</a:t>
            </a:r>
            <a:r>
              <a:rPr>
                <a:solidFill>
                  <a:srgbClr val="D7D7D7"/>
                </a:solidFill>
              </a:rPr>
              <a:t> </a:t>
            </a:r>
            <a:r>
              <a:rPr>
                <a:solidFill>
                  <a:srgbClr val="70A2FF"/>
                </a:solidFill>
              </a:rPr>
              <a:t>processData</a:t>
            </a:r>
            <a:r>
              <a:rPr>
                <a:solidFill>
                  <a:srgbClr val="D7D7D7"/>
                </a:solidFill>
              </a:rPr>
              <a:t>(</a:t>
            </a:r>
            <a:r>
              <a:rPr>
                <a:solidFill>
                  <a:srgbClr val="F08D49"/>
                </a:solidFill>
              </a:rPr>
              <a:t>data</a:t>
            </a:r>
            <a:r>
              <a:rPr>
                <a:solidFill>
                  <a:srgbClr val="D7D7D7"/>
                </a:solidFill>
              </a:rPr>
              <a:t>: </a:t>
            </a:r>
            <a:r>
              <a:rPr>
                <a:solidFill>
                  <a:srgbClr val="F08D49"/>
                </a:solidFill>
              </a:rPr>
              <a:t>Data</a:t>
            </a:r>
            <a:r>
              <a:rPr>
                <a:solidFill>
                  <a:srgbClr val="D7D7D7"/>
                </a:solidFill>
              </a:rPr>
              <a:t>?, </a:t>
            </a:r>
            <a:r>
              <a:rPr>
                <a:solidFill>
                  <a:srgbClr val="F08D49"/>
                </a:solidFill>
              </a:rPr>
              <a:t>metadata</a:t>
            </a:r>
            <a:r>
              <a:rPr>
                <a:solidFill>
                  <a:srgbClr val="D7D7D7"/>
                </a:solidFill>
              </a:rPr>
              <a:t>: </a:t>
            </a:r>
            <a:r>
              <a:rPr>
                <a:solidFill>
                  <a:srgbClr val="F08D49"/>
                </a:solidFill>
              </a:rPr>
              <a:t>Metadata</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D7D7D7"/>
                </a:solidFill>
              </a:rPr>
              <a:t>{ </a:t>
            </a:r>
            <a:r>
              <a:rPr>
                <a:solidFill>
                  <a:srgbClr val="CC99CD"/>
                </a:solidFill>
              </a:rPr>
              <a:t>guard</a:t>
            </a:r>
            <a:r>
              <a:rPr>
                <a:solidFill>
                  <a:srgbClr val="D7D7D7"/>
                </a:solidFill>
              </a:rPr>
              <a:t> </a:t>
            </a:r>
            <a:r>
              <a:rPr>
                <a:solidFill>
                  <a:srgbClr val="CC99CD"/>
                </a:solidFill>
              </a:rPr>
              <a:t>let</a:t>
            </a:r>
            <a:r>
              <a:rPr>
                <a:solidFill>
                  <a:srgbClr val="D7D7D7"/>
                </a:solidFill>
              </a:rPr>
              <a:t> data </a:t>
            </a:r>
            <a:r>
              <a:rPr>
                <a:solidFill>
                  <a:srgbClr val="CC99CD"/>
                </a:solidFill>
              </a:rPr>
              <a:t>else</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F08D49"/>
                </a:solidFill>
              </a:rPr>
              <a:t>print</a:t>
            </a:r>
            <a:r>
              <a:rPr>
                <a:solidFill>
                  <a:srgbClr val="D7D7D7"/>
                </a:solidFill>
              </a:rPr>
              <a:t>(</a:t>
            </a:r>
            <a:r>
              <a:rPr>
                <a:solidFill>
                  <a:srgbClr val="7EC699"/>
                </a:solidFill>
              </a:rPr>
              <a:t>"No data found"</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CC99CD"/>
                </a:solidFill>
              </a:rPr>
              <a:t>return</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CC99CD"/>
                </a:solidFill>
              </a:rPr>
              <a:t>guard</a:t>
            </a:r>
            <a:r>
              <a:rPr>
                <a:solidFill>
                  <a:srgbClr val="D7D7D7"/>
                </a:solidFill>
              </a:rPr>
              <a:t> </a:t>
            </a:r>
            <a:r>
              <a:rPr>
                <a:solidFill>
                  <a:srgbClr val="CC99CD"/>
                </a:solidFill>
              </a:rPr>
              <a:t>let</a:t>
            </a:r>
            <a:r>
              <a:rPr>
                <a:solidFill>
                  <a:srgbClr val="D7D7D7"/>
                </a:solidFill>
              </a:rPr>
              <a:t> metadata </a:t>
            </a:r>
            <a:r>
              <a:rPr>
                <a:solidFill>
                  <a:srgbClr val="CC99CD"/>
                </a:solidFill>
              </a:rPr>
              <a:t>else</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F08D49"/>
                </a:solidFill>
              </a:rPr>
              <a:t>print</a:t>
            </a:r>
            <a:r>
              <a:rPr>
                <a:solidFill>
                  <a:srgbClr val="D7D7D7"/>
                </a:solidFill>
              </a:rPr>
              <a:t>(</a:t>
            </a:r>
            <a:r>
              <a:rPr>
                <a:solidFill>
                  <a:srgbClr val="7EC699"/>
                </a:solidFill>
              </a:rPr>
              <a:t>"No metadata found"</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CC99CD"/>
                </a:solidFill>
              </a:rPr>
              <a:t>return</a:t>
            </a:r>
            <a:r>
              <a:rPr>
                <a:solidFill>
                  <a:srgbClr val="D7D7D7"/>
                </a:solidFill>
              </a:rPr>
              <a:t> }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t>// process the data and metadata</a:t>
            </a:r>
            <a:r>
              <a:rPr>
                <a:solidFill>
                  <a:srgbClr val="D7D7D7"/>
                </a:solidFill>
              </a:rPr>
              <a:t> </a:t>
            </a:r>
            <a:endParaRPr>
              <a:solidFill>
                <a:srgbClr val="D7D7D7"/>
              </a:solidFill>
            </a:endParaRPr>
          </a:p>
          <a:p>
            <a:pPr marL="0" indent="0" defTabSz="457200">
              <a:spcBef>
                <a:spcPts val="0"/>
              </a:spcBef>
              <a:buSzTx/>
              <a:buNone/>
              <a:defRPr spc="0" sz="4300">
                <a:solidFill>
                  <a:srgbClr val="999999"/>
                </a:solidFill>
                <a:latin typeface="Courier"/>
                <a:ea typeface="Courier"/>
                <a:cs typeface="Courier"/>
                <a:sym typeface="Courier"/>
              </a:defRPr>
            </a:pPr>
            <a:r>
              <a:rPr>
                <a:solidFill>
                  <a:srgbClr val="D7D7D7"/>
                </a:solidFill>
              </a:rPr>
              <a:t>}</a:t>
            </a:r>
          </a:p>
          <a:p>
            <a:pPr marL="170961" indent="-170961" algn="ctr" defTabSz="457200">
              <a:spcBef>
                <a:spcPts val="0"/>
              </a:spcBef>
              <a:buSzPct val="50000"/>
              <a:buBlip>
                <a:blip r:embed="rId3"/>
              </a:buBlip>
              <a:defRPr spc="0" sz="1400">
                <a:solidFill>
                  <a:srgbClr val="000000">
                    <a:alpha val="84705"/>
                  </a:srgbClr>
                </a:solidFill>
                <a:latin typeface="Times Roman"/>
                <a:ea typeface="Times Roman"/>
                <a:cs typeface="Times Roman"/>
                <a:sym typeface="Times Roman"/>
              </a:defRPr>
            </a:pPr>
          </a:p>
          <a:p>
            <a:pPr marL="0" indent="0" defTabSz="457200">
              <a:spcBef>
                <a:spcPts val="0"/>
              </a:spcBef>
              <a:buSzTx/>
              <a:buNone/>
              <a:defRPr spc="0" sz="1600">
                <a:latin typeface="Helvetica"/>
                <a:ea typeface="Helvetica"/>
                <a:cs typeface="Helvetica"/>
                <a:sym typeface="Helvetica"/>
              </a:defRPr>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21"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22" name="Using Guard Statement with Optionals"/>
          <p:cNvSpPr/>
          <p:nvPr>
            <p:ph type="title"/>
          </p:nvPr>
        </p:nvSpPr>
        <p:spPr>
          <a:prstGeom prst="rect">
            <a:avLst/>
          </a:prstGeom>
        </p:spPr>
        <p:txBody>
          <a:bodyPr/>
          <a:lstStyle>
            <a:lvl1pPr defTabSz="457200">
              <a:lnSpc>
                <a:spcPct val="100000"/>
              </a:lnSpc>
              <a:defRPr b="0" spc="0" sz="8400">
                <a:latin typeface="Helvetica"/>
                <a:ea typeface="Helvetica"/>
                <a:cs typeface="Helvetica"/>
                <a:sym typeface="Helvetica"/>
              </a:defRPr>
            </a:lvl1pPr>
          </a:lstStyle>
          <a:p>
            <a:pPr/>
            <a:r>
              <a:t>Using Guard Statement with Optionals</a:t>
            </a:r>
          </a:p>
        </p:txBody>
      </p:sp>
      <p:sp>
        <p:nvSpPr>
          <p:cNvPr id="323" name="In this example,…"/>
          <p:cNvSpPr/>
          <p:nvPr>
            <p:ph type="body" idx="1"/>
          </p:nvPr>
        </p:nvSpPr>
        <p:spPr>
          <a:prstGeom prst="rect">
            <a:avLst/>
          </a:prstGeom>
        </p:spPr>
        <p:txBody>
          <a:bodyPr/>
          <a:lstStyle/>
          <a:p>
            <a:pPr marL="0" indent="0" defTabSz="457200">
              <a:spcBef>
                <a:spcPts val="0"/>
              </a:spcBef>
              <a:buSzTx/>
              <a:buNone/>
              <a:defRPr spc="0" sz="6500">
                <a:latin typeface="Helvetica"/>
                <a:ea typeface="Helvetica"/>
                <a:cs typeface="Helvetica"/>
                <a:sym typeface="Helvetica"/>
              </a:defRPr>
            </a:pPr>
            <a:r>
              <a:t>In this example, </a:t>
            </a:r>
          </a:p>
          <a:p>
            <a:pPr marL="429947" indent="-429947" defTabSz="457200">
              <a:spcBef>
                <a:spcPts val="0"/>
              </a:spcBef>
              <a:defRPr spc="0" sz="6500">
                <a:latin typeface="Helvetica"/>
                <a:ea typeface="Helvetica"/>
                <a:cs typeface="Helvetica"/>
                <a:sym typeface="Helvetica"/>
              </a:defRPr>
            </a:pPr>
            <a:r>
              <a:t>the </a:t>
            </a:r>
            <a:r>
              <a:rPr>
                <a:solidFill>
                  <a:srgbClr val="00FDFF"/>
                </a:solidFill>
                <a:latin typeface="Times Roman"/>
                <a:ea typeface="Times Roman"/>
                <a:cs typeface="Times Roman"/>
                <a:sym typeface="Times Roman"/>
              </a:rPr>
              <a:t>guard</a:t>
            </a:r>
            <a:r>
              <a:t> statement checks if the </a:t>
            </a:r>
            <a:r>
              <a:rPr>
                <a:latin typeface="Times Roman"/>
                <a:ea typeface="Times Roman"/>
                <a:cs typeface="Times Roman"/>
                <a:sym typeface="Times Roman"/>
              </a:rPr>
              <a:t>data</a:t>
            </a:r>
            <a:r>
              <a:t> variable is not </a:t>
            </a:r>
            <a:r>
              <a:rPr>
                <a:latin typeface="Times Roman"/>
                <a:ea typeface="Times Roman"/>
                <a:cs typeface="Times Roman"/>
                <a:sym typeface="Times Roman"/>
              </a:rPr>
              <a:t>nil</a:t>
            </a:r>
            <a:r>
              <a:t>.</a:t>
            </a:r>
          </a:p>
          <a:p>
            <a:pPr marL="429947" indent="-429947" defTabSz="457200">
              <a:spcBef>
                <a:spcPts val="0"/>
              </a:spcBef>
              <a:defRPr spc="0" sz="6500">
                <a:latin typeface="Helvetica"/>
                <a:ea typeface="Helvetica"/>
                <a:cs typeface="Helvetica"/>
                <a:sym typeface="Helvetica"/>
              </a:defRPr>
            </a:pPr>
            <a:r>
              <a:t>If </a:t>
            </a:r>
            <a:r>
              <a:rPr>
                <a:latin typeface="Times Roman"/>
                <a:ea typeface="Times Roman"/>
                <a:cs typeface="Times Roman"/>
                <a:sym typeface="Times Roman"/>
              </a:rPr>
              <a:t>data</a:t>
            </a:r>
            <a:r>
              <a:t> is </a:t>
            </a:r>
            <a:r>
              <a:rPr>
                <a:latin typeface="Times Roman"/>
                <a:ea typeface="Times Roman"/>
                <a:cs typeface="Times Roman"/>
                <a:sym typeface="Times Roman"/>
              </a:rPr>
              <a:t>nil</a:t>
            </a:r>
            <a:r>
              <a:t>, the </a:t>
            </a:r>
            <a:r>
              <a:rPr>
                <a:latin typeface="Times Roman"/>
                <a:ea typeface="Times Roman"/>
                <a:cs typeface="Times Roman"/>
                <a:sym typeface="Times Roman"/>
              </a:rPr>
              <a:t>guard</a:t>
            </a:r>
            <a:r>
              <a:t> statement triggers the </a:t>
            </a:r>
            <a:r>
              <a:rPr>
                <a:latin typeface="Times Roman"/>
                <a:ea typeface="Times Roman"/>
                <a:cs typeface="Times Roman"/>
                <a:sym typeface="Times Roman"/>
              </a:rPr>
              <a:t>else</a:t>
            </a:r>
            <a:r>
              <a:t> block and the function exits, preventing the code inside the function from executing. </a:t>
            </a:r>
          </a:p>
          <a:p>
            <a:pPr marL="429947" indent="-429947" defTabSz="457200">
              <a:spcBef>
                <a:spcPts val="0"/>
              </a:spcBef>
              <a:defRPr spc="0" sz="6500">
                <a:latin typeface="Helvetica"/>
                <a:ea typeface="Helvetica"/>
                <a:cs typeface="Helvetica"/>
                <a:sym typeface="Helvetica"/>
              </a:defRPr>
            </a:pPr>
            <a:r>
              <a:t>If </a:t>
            </a:r>
            <a:r>
              <a:rPr>
                <a:latin typeface="Times Roman"/>
                <a:ea typeface="Times Roman"/>
                <a:cs typeface="Times Roman"/>
                <a:sym typeface="Times Roman"/>
              </a:rPr>
              <a:t>data</a:t>
            </a:r>
            <a:r>
              <a:t> is not </a:t>
            </a:r>
            <a:r>
              <a:rPr>
                <a:latin typeface="Times Roman"/>
                <a:ea typeface="Times Roman"/>
                <a:cs typeface="Times Roman"/>
                <a:sym typeface="Times Roman"/>
              </a:rPr>
              <a:t>nil</a:t>
            </a:r>
            <a:r>
              <a:t>, the optional is unwrapped and the code inside the function continues to execute.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26" name="Lab: Optionals.playground"/>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Lab: Optionals.playground</a:t>
            </a:r>
          </a:p>
        </p:txBody>
      </p:sp>
      <p:sp>
        <p:nvSpPr>
          <p:cNvPr id="327" name="Unit 3, Lesson 1"/>
          <p:cNvSpPr/>
          <p:nvPr>
            <p:ph type="title"/>
          </p:nvPr>
        </p:nvSpPr>
        <p:spPr>
          <a:prstGeom prst="rect">
            <a:avLst/>
          </a:prstGeom>
        </p:spPr>
        <p:txBody>
          <a:bodyPr/>
          <a:lstStyle/>
          <a:p>
            <a:pPr/>
            <a:r>
              <a:t>Unit 3, Lesson 1</a:t>
            </a:r>
          </a:p>
        </p:txBody>
      </p:sp>
      <p:sp>
        <p:nvSpPr>
          <p:cNvPr id="328" name="Open and complete the exercises in Lab - Optionals.playground"/>
          <p:cNvSpPr/>
          <p:nvPr>
            <p:ph type="body" idx="1"/>
          </p:nvPr>
        </p:nvSpPr>
        <p:spPr>
          <a:prstGeom prst="rect">
            <a:avLst/>
          </a:prstGeom>
        </p:spPr>
        <p:txBody>
          <a:bodyPr/>
          <a:lstStyle/>
          <a:p>
            <a:pPr marL="0" indent="0">
              <a:buSzTx/>
              <a:buNone/>
            </a:pPr>
            <a:r>
              <a:t>Open and complete the exercises in </a:t>
            </a:r>
            <a:r>
              <a:rPr>
                <a:latin typeface="Menlo Regular"/>
                <a:ea typeface="Menlo Regular"/>
                <a:cs typeface="Menlo Regular"/>
                <a:sym typeface="Menlo Regular"/>
              </a:rPr>
              <a:t>Lab - Optionals.playground</a:t>
            </a:r>
          </a:p>
        </p:txBody>
      </p:sp>
      <p:grpSp>
        <p:nvGrpSpPr>
          <p:cNvPr id="331" name="Group"/>
          <p:cNvGrpSpPr/>
          <p:nvPr/>
        </p:nvGrpSpPr>
        <p:grpSpPr>
          <a:xfrm>
            <a:off x="21551900" y="1297017"/>
            <a:ext cx="1524001" cy="1524001"/>
            <a:chOff x="0" y="0"/>
            <a:chExt cx="1524000" cy="1524000"/>
          </a:xfrm>
        </p:grpSpPr>
        <p:sp>
          <p:nvSpPr>
            <p:cNvPr id="329" name="Circle"/>
            <p:cNvSpPr/>
            <p:nvPr/>
          </p:nvSpPr>
          <p:spPr>
            <a:xfrm>
              <a:off x="0" y="0"/>
              <a:ext cx="1524001" cy="1524001"/>
            </a:xfrm>
            <a:prstGeom prst="ellipse">
              <a:avLst/>
            </a:prstGeom>
            <a:gradFill flip="none" rotWithShape="1">
              <a:gsLst>
                <a:gs pos="0">
                  <a:srgbClr val="FE5F55"/>
                </a:gs>
                <a:gs pos="100000">
                  <a:srgbClr val="E4234A"/>
                </a:gs>
              </a:gsLst>
              <a:lin ang="5400000" scaled="0"/>
            </a:gradFill>
            <a:ln w="38100" cap="flat">
              <a:solidFill>
                <a:srgbClr val="DCDEE0"/>
              </a:solidFill>
              <a:prstDash val="solid"/>
              <a:miter lim="400000"/>
            </a:ln>
            <a:effectLst/>
          </p:spPr>
          <p:txBody>
            <a:bodyPr wrap="square" lIns="50800" tIns="50800" rIns="50800" bIns="50800" numCol="1" anchor="ctr">
              <a:noAutofit/>
            </a:bodyPr>
            <a:lstStyle/>
            <a:p>
              <a:pPr algn="l" defTabSz="800100">
                <a:spcBef>
                  <a:spcPts val="3000"/>
                </a:spcBef>
                <a:defRPr sz="4500">
                  <a:latin typeface="Helvetica Neue Light"/>
                  <a:ea typeface="Helvetica Neue Light"/>
                  <a:cs typeface="Helvetica Neue Light"/>
                  <a:sym typeface="Helvetica Neue Light"/>
                </a:defRPr>
              </a:pPr>
            </a:p>
          </p:txBody>
        </p:sp>
        <p:pic>
          <p:nvPicPr>
            <p:cNvPr id="330" name="Image" descr="Image"/>
            <p:cNvPicPr>
              <a:picLocks noChangeAspect="1"/>
            </p:cNvPicPr>
            <p:nvPr/>
          </p:nvPicPr>
          <p:blipFill>
            <a:blip r:embed="rId2">
              <a:extLst/>
            </a:blip>
            <a:stretch>
              <a:fillRect/>
            </a:stretch>
          </p:blipFill>
          <p:spPr>
            <a:xfrm>
              <a:off x="430261" y="411519"/>
              <a:ext cx="663478" cy="700962"/>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62ACDB"/>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